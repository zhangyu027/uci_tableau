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700" r:id="rId2"/>
    <p:sldId id="774" r:id="rId3"/>
    <p:sldId id="729" r:id="rId4"/>
    <p:sldId id="780" r:id="rId5"/>
    <p:sldId id="781" r:id="rId6"/>
    <p:sldId id="776" r:id="rId7"/>
    <p:sldId id="794" r:id="rId8"/>
    <p:sldId id="791" r:id="rId9"/>
    <p:sldId id="798" r:id="rId10"/>
    <p:sldId id="775" r:id="rId11"/>
    <p:sldId id="760" r:id="rId12"/>
    <p:sldId id="779" r:id="rId13"/>
    <p:sldId id="777" r:id="rId14"/>
    <p:sldId id="782" r:id="rId15"/>
    <p:sldId id="783" r:id="rId16"/>
    <p:sldId id="797" r:id="rId17"/>
    <p:sldId id="792" r:id="rId18"/>
    <p:sldId id="793" r:id="rId19"/>
    <p:sldId id="788" r:id="rId20"/>
    <p:sldId id="789" r:id="rId21"/>
    <p:sldId id="799" r:id="rId22"/>
    <p:sldId id="800" r:id="rId23"/>
    <p:sldId id="80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Yang" initials="JY" lastIdx="1" clrIdx="0">
    <p:extLst>
      <p:ext uri="{19B8F6BF-5375-455C-9EA6-DF929625EA0E}">
        <p15:presenceInfo xmlns:p15="http://schemas.microsoft.com/office/powerpoint/2012/main" userId="ad9827a8d1333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18" autoAdjust="0"/>
    <p:restoredTop sz="94660"/>
  </p:normalViewPr>
  <p:slideViewPr>
    <p:cSldViewPr snapToGrid="0">
      <p:cViewPr varScale="1">
        <p:scale>
          <a:sx n="80" d="100"/>
          <a:sy n="80" d="100"/>
        </p:scale>
        <p:origin x="208"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71BE76-E5E3-495E-8918-94447CA0A245}" type="doc">
      <dgm:prSet loTypeId="urn:microsoft.com/office/officeart/2016/7/layout/RepeatingBendingProcessNew" loCatId="process" qsTypeId="urn:microsoft.com/office/officeart/2005/8/quickstyle/simple4" qsCatId="simple" csTypeId="urn:microsoft.com/office/officeart/2005/8/colors/colorful2" csCatId="colorful" phldr="1"/>
      <dgm:spPr/>
      <dgm:t>
        <a:bodyPr/>
        <a:lstStyle/>
        <a:p>
          <a:endParaRPr lang="en-US"/>
        </a:p>
      </dgm:t>
    </dgm:pt>
    <dgm:pt modelId="{070EB7D2-B0FF-4638-B9AF-AF302BB7C168}">
      <dgm:prSet>
        <dgm:style>
          <a:lnRef idx="0">
            <a:schemeClr val="accent2"/>
          </a:lnRef>
          <a:fillRef idx="3">
            <a:schemeClr val="accent2"/>
          </a:fillRef>
          <a:effectRef idx="3">
            <a:schemeClr val="accent2"/>
          </a:effectRef>
          <a:fontRef idx="minor">
            <a:schemeClr val="lt1"/>
          </a:fontRef>
        </dgm:style>
      </dgm:prSet>
      <dgm:spPr/>
      <dgm:t>
        <a:bodyPr/>
        <a:lstStyle/>
        <a:p>
          <a:r>
            <a:rPr lang="en-US" dirty="0"/>
            <a:t>Introduction and Environment Setup</a:t>
          </a:r>
        </a:p>
      </dgm:t>
    </dgm:pt>
    <dgm:pt modelId="{DDC6CEBD-E028-41B2-8A70-F2D4143FC811}" type="parTrans" cxnId="{FEDF9D62-B44F-4AA5-88C3-F4C1C7FBE2FF}">
      <dgm:prSet/>
      <dgm:spPr/>
      <dgm:t>
        <a:bodyPr/>
        <a:lstStyle/>
        <a:p>
          <a:endParaRPr lang="en-US"/>
        </a:p>
      </dgm:t>
    </dgm:pt>
    <dgm:pt modelId="{302B8A97-C736-418B-A1FD-CE3351A89AE7}" type="sibTrans" cxnId="{FEDF9D62-B44F-4AA5-88C3-F4C1C7FBE2FF}">
      <dgm:prSet/>
      <dgm:spPr/>
      <dgm:t>
        <a:bodyPr/>
        <a:lstStyle/>
        <a:p>
          <a:endParaRPr lang="en-US"/>
        </a:p>
      </dgm:t>
    </dgm:pt>
    <dgm:pt modelId="{B94BBFE3-607A-40B7-9C65-47A0870AA02B}">
      <dgm:prSet>
        <dgm:style>
          <a:lnRef idx="0">
            <a:schemeClr val="accent2"/>
          </a:lnRef>
          <a:fillRef idx="3">
            <a:schemeClr val="accent2"/>
          </a:fillRef>
          <a:effectRef idx="3">
            <a:schemeClr val="accent2"/>
          </a:effectRef>
          <a:fontRef idx="minor">
            <a:schemeClr val="lt1"/>
          </a:fontRef>
        </dgm:style>
      </dgm:prSet>
      <dgm:spPr/>
      <dgm:t>
        <a:bodyPr/>
        <a:lstStyle/>
        <a:p>
          <a:r>
            <a:rPr lang="en-US" dirty="0"/>
            <a:t>Univariate Analysis/Descriptive Analytics</a:t>
          </a:r>
        </a:p>
      </dgm:t>
    </dgm:pt>
    <dgm:pt modelId="{0A4EF674-AFD7-4532-A6C7-F686D272CAB2}" type="parTrans" cxnId="{CFF9AF98-6BAD-4141-A9DA-06796329DBE0}">
      <dgm:prSet/>
      <dgm:spPr/>
      <dgm:t>
        <a:bodyPr/>
        <a:lstStyle/>
        <a:p>
          <a:endParaRPr lang="en-US"/>
        </a:p>
      </dgm:t>
    </dgm:pt>
    <dgm:pt modelId="{917F6BCF-53F3-4ABB-893A-711DDDA02674}" type="sibTrans" cxnId="{CFF9AF98-6BAD-4141-A9DA-06796329DBE0}">
      <dgm:prSet/>
      <dgm:spPr/>
      <dgm:t>
        <a:bodyPr/>
        <a:lstStyle/>
        <a:p>
          <a:endParaRPr lang="en-US"/>
        </a:p>
      </dgm:t>
    </dgm:pt>
    <dgm:pt modelId="{B0C9C85E-72FF-49A1-B302-C63A0C8FC25F}">
      <dgm:prSet/>
      <dgm:spPr>
        <a:effectLst>
          <a:outerShdw blurRad="50800" dist="38100" dir="2700000" algn="tl" rotWithShape="0">
            <a:prstClr val="black">
              <a:alpha val="40000"/>
            </a:prstClr>
          </a:outerShdw>
        </a:effectLst>
      </dgm:spPr>
      <dgm:t>
        <a:bodyPr/>
        <a:lstStyle/>
        <a:p>
          <a:r>
            <a:rPr lang="en-US" b="0" dirty="0"/>
            <a:t>Multivariate Analysis/Diagnostic Analytics</a:t>
          </a:r>
        </a:p>
      </dgm:t>
    </dgm:pt>
    <dgm:pt modelId="{8671ADC0-15D2-49C5-886C-3FACB03E68B5}" type="parTrans" cxnId="{19A73352-8138-43EE-84F8-99993BF6E7D3}">
      <dgm:prSet/>
      <dgm:spPr/>
      <dgm:t>
        <a:bodyPr/>
        <a:lstStyle/>
        <a:p>
          <a:endParaRPr lang="en-US"/>
        </a:p>
      </dgm:t>
    </dgm:pt>
    <dgm:pt modelId="{185AC366-AB4F-4E2B-A787-442B586F4F2F}" type="sibTrans" cxnId="{19A73352-8138-43EE-84F8-99993BF6E7D3}">
      <dgm:prSet/>
      <dgm:spPr/>
      <dgm:t>
        <a:bodyPr/>
        <a:lstStyle/>
        <a:p>
          <a:endParaRPr lang="en-US"/>
        </a:p>
      </dgm:t>
    </dgm:pt>
    <dgm:pt modelId="{A48BA986-6468-447E-842D-041D32B3F66F}">
      <dgm:prSet/>
      <dgm:spPr>
        <a:effectLst>
          <a:outerShdw blurRad="50800" dist="38100" dir="2700000" algn="tl" rotWithShape="0">
            <a:prstClr val="black">
              <a:alpha val="40000"/>
            </a:prstClr>
          </a:outerShdw>
        </a:effectLst>
      </dgm:spPr>
      <dgm:t>
        <a:bodyPr/>
        <a:lstStyle/>
        <a:p>
          <a:r>
            <a:rPr lang="en-US" b="0" dirty="0"/>
            <a:t>Networks and Spatial Analytics/Descriptive + Diagnostic Analytics</a:t>
          </a:r>
        </a:p>
      </dgm:t>
    </dgm:pt>
    <dgm:pt modelId="{CDF4D36E-BF42-4566-824D-9A595F606486}" type="parTrans" cxnId="{F2A725A3-011E-4263-9501-EC032F634730}">
      <dgm:prSet/>
      <dgm:spPr/>
      <dgm:t>
        <a:bodyPr/>
        <a:lstStyle/>
        <a:p>
          <a:endParaRPr lang="en-US"/>
        </a:p>
      </dgm:t>
    </dgm:pt>
    <dgm:pt modelId="{B8EDD083-F44C-41E6-BA44-258854AA85C7}" type="sibTrans" cxnId="{F2A725A3-011E-4263-9501-EC032F634730}">
      <dgm:prSet/>
      <dgm:spPr/>
      <dgm:t>
        <a:bodyPr/>
        <a:lstStyle/>
        <a:p>
          <a:endParaRPr lang="en-US"/>
        </a:p>
      </dgm:t>
    </dgm:pt>
    <dgm:pt modelId="{8F6776E0-BFFC-48BB-910A-93F2A487F96A}">
      <dgm:prSet/>
      <dgm:spPr>
        <a:effectLst>
          <a:outerShdw blurRad="50800" dist="38100" dir="2700000" algn="tl" rotWithShape="0">
            <a:prstClr val="black">
              <a:alpha val="40000"/>
            </a:prstClr>
          </a:outerShdw>
        </a:effectLst>
      </dgm:spPr>
      <dgm:t>
        <a:bodyPr/>
        <a:lstStyle/>
        <a:p>
          <a:r>
            <a:rPr lang="en-US" b="0" dirty="0"/>
            <a:t>Time Series Analysis</a:t>
          </a:r>
        </a:p>
      </dgm:t>
    </dgm:pt>
    <dgm:pt modelId="{4B473B22-E3BB-44D5-A382-D2D38803737F}" type="parTrans" cxnId="{47A2B71D-13CE-4836-8079-3FCDC8F27B83}">
      <dgm:prSet/>
      <dgm:spPr/>
      <dgm:t>
        <a:bodyPr/>
        <a:lstStyle/>
        <a:p>
          <a:endParaRPr lang="en-US"/>
        </a:p>
      </dgm:t>
    </dgm:pt>
    <dgm:pt modelId="{D1034894-A5C6-4196-B8B1-47ED14B4E7DA}" type="sibTrans" cxnId="{47A2B71D-13CE-4836-8079-3FCDC8F27B83}">
      <dgm:prSet/>
      <dgm:spPr/>
      <dgm:t>
        <a:bodyPr/>
        <a:lstStyle/>
        <a:p>
          <a:endParaRPr lang="en-US"/>
        </a:p>
      </dgm:t>
    </dgm:pt>
    <dgm:pt modelId="{10881B5B-0AF0-45B9-8107-74C8839E931E}">
      <dgm:prSet/>
      <dgm:spPr>
        <a:effectLst>
          <a:innerShdw blurRad="114300">
            <a:prstClr val="black"/>
          </a:innerShdw>
        </a:effectLst>
      </dgm:spPr>
      <dgm:t>
        <a:bodyPr/>
        <a:lstStyle/>
        <a:p>
          <a:r>
            <a:rPr lang="en-US" dirty="0"/>
            <a:t>Interactive Visual Analytics</a:t>
          </a:r>
        </a:p>
      </dgm:t>
    </dgm:pt>
    <dgm:pt modelId="{0CEB5599-5B54-4A46-AF79-03B68905038A}" type="parTrans" cxnId="{A41AA8AA-9460-4D9A-9AE0-5620A11E5E9A}">
      <dgm:prSet/>
      <dgm:spPr/>
      <dgm:t>
        <a:bodyPr/>
        <a:lstStyle/>
        <a:p>
          <a:endParaRPr lang="en-US"/>
        </a:p>
      </dgm:t>
    </dgm:pt>
    <dgm:pt modelId="{6F0D2EED-7A28-4A19-AD1D-0FE889F44A0B}" type="sibTrans" cxnId="{A41AA8AA-9460-4D9A-9AE0-5620A11E5E9A}">
      <dgm:prSet/>
      <dgm:spPr/>
      <dgm:t>
        <a:bodyPr/>
        <a:lstStyle/>
        <a:p>
          <a:endParaRPr lang="en-US"/>
        </a:p>
      </dgm:t>
    </dgm:pt>
    <dgm:pt modelId="{B681D000-3439-47ED-97A6-9DEF69577639}">
      <dgm:prSet/>
      <dgm:spPr>
        <a:effectLst>
          <a:outerShdw blurRad="50800" dist="38100" dir="2700000" algn="tl" rotWithShape="0">
            <a:prstClr val="black">
              <a:alpha val="40000"/>
            </a:prstClr>
          </a:outerShdw>
        </a:effectLst>
      </dgm:spPr>
      <dgm:t>
        <a:bodyPr/>
        <a:lstStyle/>
        <a:p>
          <a:r>
            <a:rPr lang="en-US" b="0" dirty="0"/>
            <a:t>Storytelling + Prescriptive Analytics</a:t>
          </a:r>
        </a:p>
      </dgm:t>
    </dgm:pt>
    <dgm:pt modelId="{74275B59-144C-43ED-BC39-B8BECCB50CF8}" type="parTrans" cxnId="{F24CE34D-FAAE-43BB-ABC9-0A1469610A4B}">
      <dgm:prSet/>
      <dgm:spPr/>
      <dgm:t>
        <a:bodyPr/>
        <a:lstStyle/>
        <a:p>
          <a:endParaRPr lang="en-US"/>
        </a:p>
      </dgm:t>
    </dgm:pt>
    <dgm:pt modelId="{59ADFF8A-D3E6-480E-8CE0-87DCDABF99E8}" type="sibTrans" cxnId="{F24CE34D-FAAE-43BB-ABC9-0A1469610A4B}">
      <dgm:prSet/>
      <dgm:spPr/>
      <dgm:t>
        <a:bodyPr/>
        <a:lstStyle/>
        <a:p>
          <a:endParaRPr lang="en-US"/>
        </a:p>
      </dgm:t>
    </dgm:pt>
    <dgm:pt modelId="{3C2B21B7-FC51-4B7D-91EF-152089FADBAB}">
      <dgm:prSet/>
      <dgm:spPr>
        <a:effectLst>
          <a:outerShdw blurRad="50800" dist="38100" dir="2700000" algn="tl" rotWithShape="0">
            <a:prstClr val="black">
              <a:alpha val="40000"/>
            </a:prstClr>
          </a:outerShdw>
        </a:effectLst>
      </dgm:spPr>
      <dgm:t>
        <a:bodyPr/>
        <a:lstStyle/>
        <a:p>
          <a:r>
            <a:rPr lang="en-US" dirty="0"/>
            <a:t>Advanced Topics</a:t>
          </a:r>
        </a:p>
      </dgm:t>
    </dgm:pt>
    <dgm:pt modelId="{2A5C75DE-D5CF-4770-AD6D-E14F58BEE34F}" type="parTrans" cxnId="{6087FA29-2ADD-4F98-9D92-6A508ED198BC}">
      <dgm:prSet/>
      <dgm:spPr/>
      <dgm:t>
        <a:bodyPr/>
        <a:lstStyle/>
        <a:p>
          <a:endParaRPr lang="en-US"/>
        </a:p>
      </dgm:t>
    </dgm:pt>
    <dgm:pt modelId="{B05941A4-8352-4C39-A886-5EFFC577A4A1}" type="sibTrans" cxnId="{6087FA29-2ADD-4F98-9D92-6A508ED198BC}">
      <dgm:prSet/>
      <dgm:spPr/>
      <dgm:t>
        <a:bodyPr/>
        <a:lstStyle/>
        <a:p>
          <a:endParaRPr lang="en-US"/>
        </a:p>
      </dgm:t>
    </dgm:pt>
    <dgm:pt modelId="{41805969-4587-47BD-B3C2-A05E04014D64}" type="pres">
      <dgm:prSet presAssocID="{7371BE76-E5E3-495E-8918-94447CA0A245}" presName="Name0" presStyleCnt="0">
        <dgm:presLayoutVars>
          <dgm:dir/>
          <dgm:resizeHandles val="exact"/>
        </dgm:presLayoutVars>
      </dgm:prSet>
      <dgm:spPr/>
    </dgm:pt>
    <dgm:pt modelId="{24486862-8B72-481D-BD6F-019944B01B09}" type="pres">
      <dgm:prSet presAssocID="{070EB7D2-B0FF-4638-B9AF-AF302BB7C168}" presName="node" presStyleLbl="node1" presStyleIdx="0" presStyleCnt="8" custLinFactNeighborX="607">
        <dgm:presLayoutVars>
          <dgm:bulletEnabled val="1"/>
        </dgm:presLayoutVars>
      </dgm:prSet>
      <dgm:spPr/>
    </dgm:pt>
    <dgm:pt modelId="{F118C0A4-CDB6-409E-8DF6-F002CF8143EC}" type="pres">
      <dgm:prSet presAssocID="{302B8A97-C736-418B-A1FD-CE3351A89AE7}" presName="sibTrans" presStyleLbl="sibTrans1D1" presStyleIdx="0" presStyleCnt="7"/>
      <dgm:spPr/>
    </dgm:pt>
    <dgm:pt modelId="{B4710AE6-6B33-4F8B-B553-688DCB74F57C}" type="pres">
      <dgm:prSet presAssocID="{302B8A97-C736-418B-A1FD-CE3351A89AE7}" presName="connectorText" presStyleLbl="sibTrans1D1" presStyleIdx="0" presStyleCnt="7"/>
      <dgm:spPr/>
    </dgm:pt>
    <dgm:pt modelId="{D8C2E31A-7146-494A-A9FB-A2DE0634FD2A}" type="pres">
      <dgm:prSet presAssocID="{B94BBFE3-607A-40B7-9C65-47A0870AA02B}" presName="node" presStyleLbl="node1" presStyleIdx="1" presStyleCnt="8" custLinFactNeighborX="607">
        <dgm:presLayoutVars>
          <dgm:bulletEnabled val="1"/>
        </dgm:presLayoutVars>
      </dgm:prSet>
      <dgm:spPr/>
    </dgm:pt>
    <dgm:pt modelId="{FFDE22AD-4DAC-4E98-8543-A1830F42F9D0}" type="pres">
      <dgm:prSet presAssocID="{917F6BCF-53F3-4ABB-893A-711DDDA02674}" presName="sibTrans" presStyleLbl="sibTrans1D1" presStyleIdx="1" presStyleCnt="7"/>
      <dgm:spPr/>
    </dgm:pt>
    <dgm:pt modelId="{F51D916A-0739-4256-9E33-89C4DEFDCF2C}" type="pres">
      <dgm:prSet presAssocID="{917F6BCF-53F3-4ABB-893A-711DDDA02674}" presName="connectorText" presStyleLbl="sibTrans1D1" presStyleIdx="1" presStyleCnt="7"/>
      <dgm:spPr/>
    </dgm:pt>
    <dgm:pt modelId="{50CCF83E-03C3-4E3B-AC6A-ABF26BAB2CC8}" type="pres">
      <dgm:prSet presAssocID="{B0C9C85E-72FF-49A1-B302-C63A0C8FC25F}" presName="node" presStyleLbl="node1" presStyleIdx="2" presStyleCnt="8" custLinFactNeighborX="607">
        <dgm:presLayoutVars>
          <dgm:bulletEnabled val="1"/>
        </dgm:presLayoutVars>
      </dgm:prSet>
      <dgm:spPr/>
    </dgm:pt>
    <dgm:pt modelId="{1676D500-3407-4775-B8D4-0B589B6A633B}" type="pres">
      <dgm:prSet presAssocID="{185AC366-AB4F-4E2B-A787-442B586F4F2F}" presName="sibTrans" presStyleLbl="sibTrans1D1" presStyleIdx="2" presStyleCnt="7"/>
      <dgm:spPr/>
    </dgm:pt>
    <dgm:pt modelId="{6C037529-2816-43D5-9E0F-00356BA0B2FD}" type="pres">
      <dgm:prSet presAssocID="{185AC366-AB4F-4E2B-A787-442B586F4F2F}" presName="connectorText" presStyleLbl="sibTrans1D1" presStyleIdx="2" presStyleCnt="7"/>
      <dgm:spPr/>
    </dgm:pt>
    <dgm:pt modelId="{4DFE5A2D-CFC4-40E9-A091-01DD3B7BE30E}" type="pres">
      <dgm:prSet presAssocID="{A48BA986-6468-447E-842D-041D32B3F66F}" presName="node" presStyleLbl="node1" presStyleIdx="3" presStyleCnt="8" custLinFactNeighborX="607">
        <dgm:presLayoutVars>
          <dgm:bulletEnabled val="1"/>
        </dgm:presLayoutVars>
      </dgm:prSet>
      <dgm:spPr/>
    </dgm:pt>
    <dgm:pt modelId="{3DDA95C1-0014-41BE-859B-AC738EBCFF49}" type="pres">
      <dgm:prSet presAssocID="{B8EDD083-F44C-41E6-BA44-258854AA85C7}" presName="sibTrans" presStyleLbl="sibTrans1D1" presStyleIdx="3" presStyleCnt="7"/>
      <dgm:spPr/>
    </dgm:pt>
    <dgm:pt modelId="{8F451400-2DDB-44DD-A2AA-387D7BCC0D30}" type="pres">
      <dgm:prSet presAssocID="{B8EDD083-F44C-41E6-BA44-258854AA85C7}" presName="connectorText" presStyleLbl="sibTrans1D1" presStyleIdx="3" presStyleCnt="7"/>
      <dgm:spPr/>
    </dgm:pt>
    <dgm:pt modelId="{DED66163-0896-4DAF-8302-9E80B3EE7CC3}" type="pres">
      <dgm:prSet presAssocID="{8F6776E0-BFFC-48BB-910A-93F2A487F96A}" presName="node" presStyleLbl="node1" presStyleIdx="4" presStyleCnt="8" custLinFactNeighborX="607">
        <dgm:presLayoutVars>
          <dgm:bulletEnabled val="1"/>
        </dgm:presLayoutVars>
      </dgm:prSet>
      <dgm:spPr/>
    </dgm:pt>
    <dgm:pt modelId="{2BA9B027-1487-4986-9542-011C268A9362}" type="pres">
      <dgm:prSet presAssocID="{D1034894-A5C6-4196-B8B1-47ED14B4E7DA}" presName="sibTrans" presStyleLbl="sibTrans1D1" presStyleIdx="4" presStyleCnt="7"/>
      <dgm:spPr/>
    </dgm:pt>
    <dgm:pt modelId="{68409E67-47A8-4671-A40E-A2E1F024E8E7}" type="pres">
      <dgm:prSet presAssocID="{D1034894-A5C6-4196-B8B1-47ED14B4E7DA}" presName="connectorText" presStyleLbl="sibTrans1D1" presStyleIdx="4" presStyleCnt="7"/>
      <dgm:spPr/>
    </dgm:pt>
    <dgm:pt modelId="{CCCDA745-F379-4EA4-B443-903D2D7361AC}" type="pres">
      <dgm:prSet presAssocID="{10881B5B-0AF0-45B9-8107-74C8839E931E}" presName="node" presStyleLbl="node1" presStyleIdx="5" presStyleCnt="8">
        <dgm:presLayoutVars>
          <dgm:bulletEnabled val="1"/>
        </dgm:presLayoutVars>
      </dgm:prSet>
      <dgm:spPr/>
    </dgm:pt>
    <dgm:pt modelId="{9B7F617D-DB8F-4CCD-B446-C935691119D1}" type="pres">
      <dgm:prSet presAssocID="{6F0D2EED-7A28-4A19-AD1D-0FE889F44A0B}" presName="sibTrans" presStyleLbl="sibTrans1D1" presStyleIdx="5" presStyleCnt="7"/>
      <dgm:spPr/>
    </dgm:pt>
    <dgm:pt modelId="{014365C2-9E8F-439D-97CF-CA8C6F4B0133}" type="pres">
      <dgm:prSet presAssocID="{6F0D2EED-7A28-4A19-AD1D-0FE889F44A0B}" presName="connectorText" presStyleLbl="sibTrans1D1" presStyleIdx="5" presStyleCnt="7"/>
      <dgm:spPr/>
    </dgm:pt>
    <dgm:pt modelId="{0E9122EA-85B7-4733-858C-E80481AB5B42}" type="pres">
      <dgm:prSet presAssocID="{B681D000-3439-47ED-97A6-9DEF69577639}" presName="node" presStyleLbl="node1" presStyleIdx="6" presStyleCnt="8">
        <dgm:presLayoutVars>
          <dgm:bulletEnabled val="1"/>
        </dgm:presLayoutVars>
      </dgm:prSet>
      <dgm:spPr/>
    </dgm:pt>
    <dgm:pt modelId="{7E73BBEF-9A18-4C1F-AB86-3CE02DB9B4A4}" type="pres">
      <dgm:prSet presAssocID="{59ADFF8A-D3E6-480E-8CE0-87DCDABF99E8}" presName="sibTrans" presStyleLbl="sibTrans1D1" presStyleIdx="6" presStyleCnt="7"/>
      <dgm:spPr/>
    </dgm:pt>
    <dgm:pt modelId="{A4E97108-D16B-481D-A492-88603F2AE0DE}" type="pres">
      <dgm:prSet presAssocID="{59ADFF8A-D3E6-480E-8CE0-87DCDABF99E8}" presName="connectorText" presStyleLbl="sibTrans1D1" presStyleIdx="6" presStyleCnt="7"/>
      <dgm:spPr/>
    </dgm:pt>
    <dgm:pt modelId="{7670E739-0C93-4B89-9BC4-6CBB11C83F39}" type="pres">
      <dgm:prSet presAssocID="{3C2B21B7-FC51-4B7D-91EF-152089FADBAB}" presName="node" presStyleLbl="node1" presStyleIdx="7" presStyleCnt="8">
        <dgm:presLayoutVars>
          <dgm:bulletEnabled val="1"/>
        </dgm:presLayoutVars>
      </dgm:prSet>
      <dgm:spPr/>
    </dgm:pt>
  </dgm:ptLst>
  <dgm:cxnLst>
    <dgm:cxn modelId="{8092B400-34D3-401D-9A43-7CB593148E32}" type="presOf" srcId="{59ADFF8A-D3E6-480E-8CE0-87DCDABF99E8}" destId="{A4E97108-D16B-481D-A492-88603F2AE0DE}" srcOrd="1" destOrd="0" presId="urn:microsoft.com/office/officeart/2016/7/layout/RepeatingBendingProcessNew"/>
    <dgm:cxn modelId="{9DE48310-FED4-4106-BFEA-B13A715282C4}" type="presOf" srcId="{B8EDD083-F44C-41E6-BA44-258854AA85C7}" destId="{8F451400-2DDB-44DD-A2AA-387D7BCC0D30}" srcOrd="1" destOrd="0" presId="urn:microsoft.com/office/officeart/2016/7/layout/RepeatingBendingProcessNew"/>
    <dgm:cxn modelId="{2BE3CE10-7D07-4F33-BF51-5C15ED21298E}" type="presOf" srcId="{917F6BCF-53F3-4ABB-893A-711DDDA02674}" destId="{F51D916A-0739-4256-9E33-89C4DEFDCF2C}" srcOrd="1" destOrd="0" presId="urn:microsoft.com/office/officeart/2016/7/layout/RepeatingBendingProcessNew"/>
    <dgm:cxn modelId="{47A2B71D-13CE-4836-8079-3FCDC8F27B83}" srcId="{7371BE76-E5E3-495E-8918-94447CA0A245}" destId="{8F6776E0-BFFC-48BB-910A-93F2A487F96A}" srcOrd="4" destOrd="0" parTransId="{4B473B22-E3BB-44D5-A382-D2D38803737F}" sibTransId="{D1034894-A5C6-4196-B8B1-47ED14B4E7DA}"/>
    <dgm:cxn modelId="{6087FA29-2ADD-4F98-9D92-6A508ED198BC}" srcId="{7371BE76-E5E3-495E-8918-94447CA0A245}" destId="{3C2B21B7-FC51-4B7D-91EF-152089FADBAB}" srcOrd="7" destOrd="0" parTransId="{2A5C75DE-D5CF-4770-AD6D-E14F58BEE34F}" sibTransId="{B05941A4-8352-4C39-A886-5EFFC577A4A1}"/>
    <dgm:cxn modelId="{E3BC9D2F-34DC-4844-A266-E2A5238C6418}" type="presOf" srcId="{8F6776E0-BFFC-48BB-910A-93F2A487F96A}" destId="{DED66163-0896-4DAF-8302-9E80B3EE7CC3}" srcOrd="0" destOrd="0" presId="urn:microsoft.com/office/officeart/2016/7/layout/RepeatingBendingProcessNew"/>
    <dgm:cxn modelId="{0C90BB30-4F7B-4B9C-863C-0992B85E35F4}" type="presOf" srcId="{302B8A97-C736-418B-A1FD-CE3351A89AE7}" destId="{F118C0A4-CDB6-409E-8DF6-F002CF8143EC}" srcOrd="0" destOrd="0" presId="urn:microsoft.com/office/officeart/2016/7/layout/RepeatingBendingProcessNew"/>
    <dgm:cxn modelId="{6762E638-F77F-4D95-802F-CFB29754F050}" type="presOf" srcId="{070EB7D2-B0FF-4638-B9AF-AF302BB7C168}" destId="{24486862-8B72-481D-BD6F-019944B01B09}" srcOrd="0" destOrd="0" presId="urn:microsoft.com/office/officeart/2016/7/layout/RepeatingBendingProcessNew"/>
    <dgm:cxn modelId="{F24CE34D-FAAE-43BB-ABC9-0A1469610A4B}" srcId="{7371BE76-E5E3-495E-8918-94447CA0A245}" destId="{B681D000-3439-47ED-97A6-9DEF69577639}" srcOrd="6" destOrd="0" parTransId="{74275B59-144C-43ED-BC39-B8BECCB50CF8}" sibTransId="{59ADFF8A-D3E6-480E-8CE0-87DCDABF99E8}"/>
    <dgm:cxn modelId="{19A73352-8138-43EE-84F8-99993BF6E7D3}" srcId="{7371BE76-E5E3-495E-8918-94447CA0A245}" destId="{B0C9C85E-72FF-49A1-B302-C63A0C8FC25F}" srcOrd="2" destOrd="0" parTransId="{8671ADC0-15D2-49C5-886C-3FACB03E68B5}" sibTransId="{185AC366-AB4F-4E2B-A787-442B586F4F2F}"/>
    <dgm:cxn modelId="{AA1FF755-D5BC-4295-A237-33BD57FE5158}" type="presOf" srcId="{185AC366-AB4F-4E2B-A787-442B586F4F2F}" destId="{1676D500-3407-4775-B8D4-0B589B6A633B}" srcOrd="0" destOrd="0" presId="urn:microsoft.com/office/officeart/2016/7/layout/RepeatingBendingProcessNew"/>
    <dgm:cxn modelId="{FEDF9D62-B44F-4AA5-88C3-F4C1C7FBE2FF}" srcId="{7371BE76-E5E3-495E-8918-94447CA0A245}" destId="{070EB7D2-B0FF-4638-B9AF-AF302BB7C168}" srcOrd="0" destOrd="0" parTransId="{DDC6CEBD-E028-41B2-8A70-F2D4143FC811}" sibTransId="{302B8A97-C736-418B-A1FD-CE3351A89AE7}"/>
    <dgm:cxn modelId="{194CF462-2BA3-4594-8C1D-4B985B7C8E09}" type="presOf" srcId="{6F0D2EED-7A28-4A19-AD1D-0FE889F44A0B}" destId="{9B7F617D-DB8F-4CCD-B446-C935691119D1}" srcOrd="0" destOrd="0" presId="urn:microsoft.com/office/officeart/2016/7/layout/RepeatingBendingProcessNew"/>
    <dgm:cxn modelId="{FEDB7065-D08F-4932-B36C-101B3CA6C6E9}" type="presOf" srcId="{10881B5B-0AF0-45B9-8107-74C8839E931E}" destId="{CCCDA745-F379-4EA4-B443-903D2D7361AC}" srcOrd="0" destOrd="0" presId="urn:microsoft.com/office/officeart/2016/7/layout/RepeatingBendingProcessNew"/>
    <dgm:cxn modelId="{D2FDFE76-4E5D-4BD2-84F5-651AF1291B6B}" type="presOf" srcId="{D1034894-A5C6-4196-B8B1-47ED14B4E7DA}" destId="{2BA9B027-1487-4986-9542-011C268A9362}" srcOrd="0" destOrd="0" presId="urn:microsoft.com/office/officeart/2016/7/layout/RepeatingBendingProcessNew"/>
    <dgm:cxn modelId="{232E5177-8D04-424D-BB25-AB47D4036FF5}" type="presOf" srcId="{185AC366-AB4F-4E2B-A787-442B586F4F2F}" destId="{6C037529-2816-43D5-9E0F-00356BA0B2FD}" srcOrd="1" destOrd="0" presId="urn:microsoft.com/office/officeart/2016/7/layout/RepeatingBendingProcessNew"/>
    <dgm:cxn modelId="{7A98B97B-C13F-483B-8028-99FD30ED4DFA}" type="presOf" srcId="{302B8A97-C736-418B-A1FD-CE3351A89AE7}" destId="{B4710AE6-6B33-4F8B-B553-688DCB74F57C}" srcOrd="1" destOrd="0" presId="urn:microsoft.com/office/officeart/2016/7/layout/RepeatingBendingProcessNew"/>
    <dgm:cxn modelId="{604D757E-1713-4BD3-B789-C19FFA65749D}" type="presOf" srcId="{B681D000-3439-47ED-97A6-9DEF69577639}" destId="{0E9122EA-85B7-4733-858C-E80481AB5B42}" srcOrd="0" destOrd="0" presId="urn:microsoft.com/office/officeart/2016/7/layout/RepeatingBendingProcessNew"/>
    <dgm:cxn modelId="{582EB887-D261-4048-8FE8-C3901FD1DC36}" type="presOf" srcId="{D1034894-A5C6-4196-B8B1-47ED14B4E7DA}" destId="{68409E67-47A8-4671-A40E-A2E1F024E8E7}" srcOrd="1" destOrd="0" presId="urn:microsoft.com/office/officeart/2016/7/layout/RepeatingBendingProcessNew"/>
    <dgm:cxn modelId="{1081C988-4BEF-4F56-A5E2-E333538A662A}" type="presOf" srcId="{917F6BCF-53F3-4ABB-893A-711DDDA02674}" destId="{FFDE22AD-4DAC-4E98-8543-A1830F42F9D0}" srcOrd="0" destOrd="0" presId="urn:microsoft.com/office/officeart/2016/7/layout/RepeatingBendingProcessNew"/>
    <dgm:cxn modelId="{CFF9AF98-6BAD-4141-A9DA-06796329DBE0}" srcId="{7371BE76-E5E3-495E-8918-94447CA0A245}" destId="{B94BBFE3-607A-40B7-9C65-47A0870AA02B}" srcOrd="1" destOrd="0" parTransId="{0A4EF674-AFD7-4532-A6C7-F686D272CAB2}" sibTransId="{917F6BCF-53F3-4ABB-893A-711DDDA02674}"/>
    <dgm:cxn modelId="{D2344FA0-4928-49AF-9D61-CF02455169D7}" type="presOf" srcId="{59ADFF8A-D3E6-480E-8CE0-87DCDABF99E8}" destId="{7E73BBEF-9A18-4C1F-AB86-3CE02DB9B4A4}" srcOrd="0" destOrd="0" presId="urn:microsoft.com/office/officeart/2016/7/layout/RepeatingBendingProcessNew"/>
    <dgm:cxn modelId="{F2A725A3-011E-4263-9501-EC032F634730}" srcId="{7371BE76-E5E3-495E-8918-94447CA0A245}" destId="{A48BA986-6468-447E-842D-041D32B3F66F}" srcOrd="3" destOrd="0" parTransId="{CDF4D36E-BF42-4566-824D-9A595F606486}" sibTransId="{B8EDD083-F44C-41E6-BA44-258854AA85C7}"/>
    <dgm:cxn modelId="{A41AA8AA-9460-4D9A-9AE0-5620A11E5E9A}" srcId="{7371BE76-E5E3-495E-8918-94447CA0A245}" destId="{10881B5B-0AF0-45B9-8107-74C8839E931E}" srcOrd="5" destOrd="0" parTransId="{0CEB5599-5B54-4A46-AF79-03B68905038A}" sibTransId="{6F0D2EED-7A28-4A19-AD1D-0FE889F44A0B}"/>
    <dgm:cxn modelId="{644163BF-250D-4853-A561-BB352BC886A6}" type="presOf" srcId="{7371BE76-E5E3-495E-8918-94447CA0A245}" destId="{41805969-4587-47BD-B3C2-A05E04014D64}" srcOrd="0" destOrd="0" presId="urn:microsoft.com/office/officeart/2016/7/layout/RepeatingBendingProcessNew"/>
    <dgm:cxn modelId="{49E989D4-B76F-4D3F-A3B2-E1AF11AF473B}" type="presOf" srcId="{3C2B21B7-FC51-4B7D-91EF-152089FADBAB}" destId="{7670E739-0C93-4B89-9BC4-6CBB11C83F39}" srcOrd="0" destOrd="0" presId="urn:microsoft.com/office/officeart/2016/7/layout/RepeatingBendingProcessNew"/>
    <dgm:cxn modelId="{C941C2D5-FCC8-4AE5-9C90-113912F82F93}" type="presOf" srcId="{B8EDD083-F44C-41E6-BA44-258854AA85C7}" destId="{3DDA95C1-0014-41BE-859B-AC738EBCFF49}" srcOrd="0" destOrd="0" presId="urn:microsoft.com/office/officeart/2016/7/layout/RepeatingBendingProcessNew"/>
    <dgm:cxn modelId="{D30F06E0-16F7-48EB-AE3E-2405D9DEE14B}" type="presOf" srcId="{B94BBFE3-607A-40B7-9C65-47A0870AA02B}" destId="{D8C2E31A-7146-494A-A9FB-A2DE0634FD2A}" srcOrd="0" destOrd="0" presId="urn:microsoft.com/office/officeart/2016/7/layout/RepeatingBendingProcessNew"/>
    <dgm:cxn modelId="{40B6ECE3-B284-40E6-BC0D-C5A889400B1A}" type="presOf" srcId="{6F0D2EED-7A28-4A19-AD1D-0FE889F44A0B}" destId="{014365C2-9E8F-439D-97CF-CA8C6F4B0133}" srcOrd="1" destOrd="0" presId="urn:microsoft.com/office/officeart/2016/7/layout/RepeatingBendingProcessNew"/>
    <dgm:cxn modelId="{F1ED99F0-0F5E-41FF-A222-2851A7011A31}" type="presOf" srcId="{B0C9C85E-72FF-49A1-B302-C63A0C8FC25F}" destId="{50CCF83E-03C3-4E3B-AC6A-ABF26BAB2CC8}" srcOrd="0" destOrd="0" presId="urn:microsoft.com/office/officeart/2016/7/layout/RepeatingBendingProcessNew"/>
    <dgm:cxn modelId="{4EA9CFF4-495A-4DC1-BC15-32488C79EF7F}" type="presOf" srcId="{A48BA986-6468-447E-842D-041D32B3F66F}" destId="{4DFE5A2D-CFC4-40E9-A091-01DD3B7BE30E}" srcOrd="0" destOrd="0" presId="urn:microsoft.com/office/officeart/2016/7/layout/RepeatingBendingProcessNew"/>
    <dgm:cxn modelId="{14A5241B-17F6-4B84-A203-CD9B96DE7DDC}" type="presParOf" srcId="{41805969-4587-47BD-B3C2-A05E04014D64}" destId="{24486862-8B72-481D-BD6F-019944B01B09}" srcOrd="0" destOrd="0" presId="urn:microsoft.com/office/officeart/2016/7/layout/RepeatingBendingProcessNew"/>
    <dgm:cxn modelId="{9208E1CD-3C09-409D-ABB0-09145A59F937}" type="presParOf" srcId="{41805969-4587-47BD-B3C2-A05E04014D64}" destId="{F118C0A4-CDB6-409E-8DF6-F002CF8143EC}" srcOrd="1" destOrd="0" presId="urn:microsoft.com/office/officeart/2016/7/layout/RepeatingBendingProcessNew"/>
    <dgm:cxn modelId="{C7464603-20CB-4C4F-9134-033BDBE7D4F1}" type="presParOf" srcId="{F118C0A4-CDB6-409E-8DF6-F002CF8143EC}" destId="{B4710AE6-6B33-4F8B-B553-688DCB74F57C}" srcOrd="0" destOrd="0" presId="urn:microsoft.com/office/officeart/2016/7/layout/RepeatingBendingProcessNew"/>
    <dgm:cxn modelId="{EDB0B287-826A-4C12-BE10-4D314D3ECBBF}" type="presParOf" srcId="{41805969-4587-47BD-B3C2-A05E04014D64}" destId="{D8C2E31A-7146-494A-A9FB-A2DE0634FD2A}" srcOrd="2" destOrd="0" presId="urn:microsoft.com/office/officeart/2016/7/layout/RepeatingBendingProcessNew"/>
    <dgm:cxn modelId="{A750E520-820B-4B4A-82A5-BB75DA9C81DF}" type="presParOf" srcId="{41805969-4587-47BD-B3C2-A05E04014D64}" destId="{FFDE22AD-4DAC-4E98-8543-A1830F42F9D0}" srcOrd="3" destOrd="0" presId="urn:microsoft.com/office/officeart/2016/7/layout/RepeatingBendingProcessNew"/>
    <dgm:cxn modelId="{AC460703-DB51-43B0-964B-94BFE479612E}" type="presParOf" srcId="{FFDE22AD-4DAC-4E98-8543-A1830F42F9D0}" destId="{F51D916A-0739-4256-9E33-89C4DEFDCF2C}" srcOrd="0" destOrd="0" presId="urn:microsoft.com/office/officeart/2016/7/layout/RepeatingBendingProcessNew"/>
    <dgm:cxn modelId="{F0315099-C7F4-4612-BBEF-449D1DC8CBE2}" type="presParOf" srcId="{41805969-4587-47BD-B3C2-A05E04014D64}" destId="{50CCF83E-03C3-4E3B-AC6A-ABF26BAB2CC8}" srcOrd="4" destOrd="0" presId="urn:microsoft.com/office/officeart/2016/7/layout/RepeatingBendingProcessNew"/>
    <dgm:cxn modelId="{AB5EA13E-1D71-477C-810E-D019660D1DC0}" type="presParOf" srcId="{41805969-4587-47BD-B3C2-A05E04014D64}" destId="{1676D500-3407-4775-B8D4-0B589B6A633B}" srcOrd="5" destOrd="0" presId="urn:microsoft.com/office/officeart/2016/7/layout/RepeatingBendingProcessNew"/>
    <dgm:cxn modelId="{6632DFAF-1A27-4C89-9BE0-3F828E990126}" type="presParOf" srcId="{1676D500-3407-4775-B8D4-0B589B6A633B}" destId="{6C037529-2816-43D5-9E0F-00356BA0B2FD}" srcOrd="0" destOrd="0" presId="urn:microsoft.com/office/officeart/2016/7/layout/RepeatingBendingProcessNew"/>
    <dgm:cxn modelId="{D3FB0455-EEAF-4567-9ECA-D82C139233E8}" type="presParOf" srcId="{41805969-4587-47BD-B3C2-A05E04014D64}" destId="{4DFE5A2D-CFC4-40E9-A091-01DD3B7BE30E}" srcOrd="6" destOrd="0" presId="urn:microsoft.com/office/officeart/2016/7/layout/RepeatingBendingProcessNew"/>
    <dgm:cxn modelId="{C4356625-7E02-4675-BBD4-6273DC2A53CD}" type="presParOf" srcId="{41805969-4587-47BD-B3C2-A05E04014D64}" destId="{3DDA95C1-0014-41BE-859B-AC738EBCFF49}" srcOrd="7" destOrd="0" presId="urn:microsoft.com/office/officeart/2016/7/layout/RepeatingBendingProcessNew"/>
    <dgm:cxn modelId="{E23EC312-7364-4B55-9683-4CFFF87BB334}" type="presParOf" srcId="{3DDA95C1-0014-41BE-859B-AC738EBCFF49}" destId="{8F451400-2DDB-44DD-A2AA-387D7BCC0D30}" srcOrd="0" destOrd="0" presId="urn:microsoft.com/office/officeart/2016/7/layout/RepeatingBendingProcessNew"/>
    <dgm:cxn modelId="{03137ACC-8197-4418-A41B-282CC9488D5D}" type="presParOf" srcId="{41805969-4587-47BD-B3C2-A05E04014D64}" destId="{DED66163-0896-4DAF-8302-9E80B3EE7CC3}" srcOrd="8" destOrd="0" presId="urn:microsoft.com/office/officeart/2016/7/layout/RepeatingBendingProcessNew"/>
    <dgm:cxn modelId="{2A4EC9FA-7D65-4CD3-93DC-C0ECDC448BF6}" type="presParOf" srcId="{41805969-4587-47BD-B3C2-A05E04014D64}" destId="{2BA9B027-1487-4986-9542-011C268A9362}" srcOrd="9" destOrd="0" presId="urn:microsoft.com/office/officeart/2016/7/layout/RepeatingBendingProcessNew"/>
    <dgm:cxn modelId="{FAA1C861-A97C-4E84-8380-F6163EEB4CF7}" type="presParOf" srcId="{2BA9B027-1487-4986-9542-011C268A9362}" destId="{68409E67-47A8-4671-A40E-A2E1F024E8E7}" srcOrd="0" destOrd="0" presId="urn:microsoft.com/office/officeart/2016/7/layout/RepeatingBendingProcessNew"/>
    <dgm:cxn modelId="{9F80C3B1-8A60-4A63-99D8-28CC129E7231}" type="presParOf" srcId="{41805969-4587-47BD-B3C2-A05E04014D64}" destId="{CCCDA745-F379-4EA4-B443-903D2D7361AC}" srcOrd="10" destOrd="0" presId="urn:microsoft.com/office/officeart/2016/7/layout/RepeatingBendingProcessNew"/>
    <dgm:cxn modelId="{DE1740F5-4A2D-4907-AD45-BE0B202805DC}" type="presParOf" srcId="{41805969-4587-47BD-B3C2-A05E04014D64}" destId="{9B7F617D-DB8F-4CCD-B446-C935691119D1}" srcOrd="11" destOrd="0" presId="urn:microsoft.com/office/officeart/2016/7/layout/RepeatingBendingProcessNew"/>
    <dgm:cxn modelId="{A037C3D1-EB9F-4BCF-8613-55AB9C1023F1}" type="presParOf" srcId="{9B7F617D-DB8F-4CCD-B446-C935691119D1}" destId="{014365C2-9E8F-439D-97CF-CA8C6F4B0133}" srcOrd="0" destOrd="0" presId="urn:microsoft.com/office/officeart/2016/7/layout/RepeatingBendingProcessNew"/>
    <dgm:cxn modelId="{739578A9-1C64-4576-9E68-EBB88F9F5163}" type="presParOf" srcId="{41805969-4587-47BD-B3C2-A05E04014D64}" destId="{0E9122EA-85B7-4733-858C-E80481AB5B42}" srcOrd="12" destOrd="0" presId="urn:microsoft.com/office/officeart/2016/7/layout/RepeatingBendingProcessNew"/>
    <dgm:cxn modelId="{7360FA89-6FD6-4155-97D9-03A3CDCAAE49}" type="presParOf" srcId="{41805969-4587-47BD-B3C2-A05E04014D64}" destId="{7E73BBEF-9A18-4C1F-AB86-3CE02DB9B4A4}" srcOrd="13" destOrd="0" presId="urn:microsoft.com/office/officeart/2016/7/layout/RepeatingBendingProcessNew"/>
    <dgm:cxn modelId="{10EFA90A-822E-4939-995B-5248D07CDA2D}" type="presParOf" srcId="{7E73BBEF-9A18-4C1F-AB86-3CE02DB9B4A4}" destId="{A4E97108-D16B-481D-A492-88603F2AE0DE}" srcOrd="0" destOrd="0" presId="urn:microsoft.com/office/officeart/2016/7/layout/RepeatingBendingProcessNew"/>
    <dgm:cxn modelId="{E82D012A-6BE8-44E3-A1B3-6BF3DFA82889}" type="presParOf" srcId="{41805969-4587-47BD-B3C2-A05E04014D64}" destId="{7670E739-0C93-4B89-9BC4-6CBB11C83F39}"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8C0A4-CDB6-409E-8DF6-F002CF8143EC}">
      <dsp:nvSpPr>
        <dsp:cNvPr id="0" name=""/>
        <dsp:cNvSpPr/>
      </dsp:nvSpPr>
      <dsp:spPr>
        <a:xfrm>
          <a:off x="1800737" y="834254"/>
          <a:ext cx="380397" cy="91440"/>
        </a:xfrm>
        <a:custGeom>
          <a:avLst/>
          <a:gdLst/>
          <a:ahLst/>
          <a:cxnLst/>
          <a:rect l="0" t="0" r="0" b="0"/>
          <a:pathLst>
            <a:path>
              <a:moveTo>
                <a:pt x="0" y="45720"/>
              </a:moveTo>
              <a:lnTo>
                <a:pt x="380397"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0660" y="877919"/>
        <a:ext cx="20549" cy="4109"/>
      </dsp:txXfrm>
    </dsp:sp>
    <dsp:sp modelId="{24486862-8B72-481D-BD6F-019944B01B09}">
      <dsp:nvSpPr>
        <dsp:cNvPr id="0" name=""/>
        <dsp:cNvSpPr/>
      </dsp:nvSpPr>
      <dsp:spPr>
        <a:xfrm>
          <a:off x="15593" y="343891"/>
          <a:ext cx="1786943" cy="1072166"/>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Introduction and Environment Setup</a:t>
          </a:r>
        </a:p>
      </dsp:txBody>
      <dsp:txXfrm>
        <a:off x="15593" y="343891"/>
        <a:ext cx="1786943" cy="1072166"/>
      </dsp:txXfrm>
    </dsp:sp>
    <dsp:sp modelId="{FFDE22AD-4DAC-4E98-8543-A1830F42F9D0}">
      <dsp:nvSpPr>
        <dsp:cNvPr id="0" name=""/>
        <dsp:cNvSpPr/>
      </dsp:nvSpPr>
      <dsp:spPr>
        <a:xfrm>
          <a:off x="3998678" y="834254"/>
          <a:ext cx="374297" cy="91440"/>
        </a:xfrm>
        <a:custGeom>
          <a:avLst/>
          <a:gdLst/>
          <a:ahLst/>
          <a:cxnLst/>
          <a:rect l="0" t="0" r="0" b="0"/>
          <a:pathLst>
            <a:path>
              <a:moveTo>
                <a:pt x="0" y="45720"/>
              </a:moveTo>
              <a:lnTo>
                <a:pt x="374297" y="45720"/>
              </a:lnTo>
            </a:path>
          </a:pathLst>
        </a:custGeom>
        <a:noFill/>
        <a:ln w="6350" cap="flat" cmpd="sng" algn="ctr">
          <a:solidFill>
            <a:schemeClr val="accent2">
              <a:hueOff val="-242561"/>
              <a:satOff val="-13988"/>
              <a:lumOff val="14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5704" y="877919"/>
        <a:ext cx="20244" cy="4109"/>
      </dsp:txXfrm>
    </dsp:sp>
    <dsp:sp modelId="{D8C2E31A-7146-494A-A9FB-A2DE0634FD2A}">
      <dsp:nvSpPr>
        <dsp:cNvPr id="0" name=""/>
        <dsp:cNvSpPr/>
      </dsp:nvSpPr>
      <dsp:spPr>
        <a:xfrm>
          <a:off x="2213534" y="343891"/>
          <a:ext cx="1786943" cy="1072166"/>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Univariate Analysis/Descriptive Analytics</a:t>
          </a:r>
        </a:p>
      </dsp:txBody>
      <dsp:txXfrm>
        <a:off x="2213534" y="343891"/>
        <a:ext cx="1786943" cy="1072166"/>
      </dsp:txXfrm>
    </dsp:sp>
    <dsp:sp modelId="{1676D500-3407-4775-B8D4-0B589B6A633B}">
      <dsp:nvSpPr>
        <dsp:cNvPr id="0" name=""/>
        <dsp:cNvSpPr/>
      </dsp:nvSpPr>
      <dsp:spPr>
        <a:xfrm>
          <a:off x="909065" y="1414257"/>
          <a:ext cx="4389781" cy="380397"/>
        </a:xfrm>
        <a:custGeom>
          <a:avLst/>
          <a:gdLst/>
          <a:ahLst/>
          <a:cxnLst/>
          <a:rect l="0" t="0" r="0" b="0"/>
          <a:pathLst>
            <a:path>
              <a:moveTo>
                <a:pt x="4389781" y="0"/>
              </a:moveTo>
              <a:lnTo>
                <a:pt x="4389781" y="207298"/>
              </a:lnTo>
              <a:lnTo>
                <a:pt x="0" y="207298"/>
              </a:lnTo>
              <a:lnTo>
                <a:pt x="0" y="380397"/>
              </a:lnTo>
            </a:path>
          </a:pathLst>
        </a:custGeom>
        <a:noFill/>
        <a:ln w="6350" cap="flat" cmpd="sng" algn="ctr">
          <a:solidFill>
            <a:schemeClr val="accent2">
              <a:hueOff val="-485121"/>
              <a:satOff val="-27976"/>
              <a:lumOff val="287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93731" y="1602401"/>
        <a:ext cx="220448" cy="4109"/>
      </dsp:txXfrm>
    </dsp:sp>
    <dsp:sp modelId="{50CCF83E-03C3-4E3B-AC6A-ABF26BAB2CC8}">
      <dsp:nvSpPr>
        <dsp:cNvPr id="0" name=""/>
        <dsp:cNvSpPr/>
      </dsp:nvSpPr>
      <dsp:spPr>
        <a:xfrm>
          <a:off x="4405375" y="343891"/>
          <a:ext cx="1786943" cy="1072166"/>
        </a:xfrm>
        <a:prstGeom prst="rect">
          <a:avLst/>
        </a:prstGeom>
        <a:gradFill rotWithShape="0">
          <a:gsLst>
            <a:gs pos="0">
              <a:schemeClr val="accent2">
                <a:hueOff val="-415818"/>
                <a:satOff val="-23979"/>
                <a:lumOff val="2465"/>
                <a:alphaOff val="0"/>
                <a:satMod val="103000"/>
                <a:lumMod val="102000"/>
                <a:tint val="94000"/>
              </a:schemeClr>
            </a:gs>
            <a:gs pos="50000">
              <a:schemeClr val="accent2">
                <a:hueOff val="-415818"/>
                <a:satOff val="-23979"/>
                <a:lumOff val="2465"/>
                <a:alphaOff val="0"/>
                <a:satMod val="110000"/>
                <a:lumMod val="100000"/>
                <a:shade val="100000"/>
              </a:schemeClr>
            </a:gs>
            <a:gs pos="100000">
              <a:schemeClr val="accent2">
                <a:hueOff val="-415818"/>
                <a:satOff val="-23979"/>
                <a:lumOff val="246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Multivariate Analysis/Diagnostic Analytics</a:t>
          </a:r>
        </a:p>
      </dsp:txBody>
      <dsp:txXfrm>
        <a:off x="4405375" y="343891"/>
        <a:ext cx="1786943" cy="1072166"/>
      </dsp:txXfrm>
    </dsp:sp>
    <dsp:sp modelId="{3DDA95C1-0014-41BE-859B-AC738EBCFF49}">
      <dsp:nvSpPr>
        <dsp:cNvPr id="0" name=""/>
        <dsp:cNvSpPr/>
      </dsp:nvSpPr>
      <dsp:spPr>
        <a:xfrm>
          <a:off x="1800737" y="2317418"/>
          <a:ext cx="380397" cy="91440"/>
        </a:xfrm>
        <a:custGeom>
          <a:avLst/>
          <a:gdLst/>
          <a:ahLst/>
          <a:cxnLst/>
          <a:rect l="0" t="0" r="0" b="0"/>
          <a:pathLst>
            <a:path>
              <a:moveTo>
                <a:pt x="0" y="45720"/>
              </a:moveTo>
              <a:lnTo>
                <a:pt x="380397" y="45720"/>
              </a:lnTo>
            </a:path>
          </a:pathLst>
        </a:custGeom>
        <a:noFill/>
        <a:ln w="6350" cap="flat" cmpd="sng" algn="ctr">
          <a:solidFill>
            <a:schemeClr val="accent2">
              <a:hueOff val="-727682"/>
              <a:satOff val="-41964"/>
              <a:lumOff val="431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0660" y="2361083"/>
        <a:ext cx="20549" cy="4109"/>
      </dsp:txXfrm>
    </dsp:sp>
    <dsp:sp modelId="{4DFE5A2D-CFC4-40E9-A091-01DD3B7BE30E}">
      <dsp:nvSpPr>
        <dsp:cNvPr id="0" name=""/>
        <dsp:cNvSpPr/>
      </dsp:nvSpPr>
      <dsp:spPr>
        <a:xfrm>
          <a:off x="15593" y="1827054"/>
          <a:ext cx="1786943" cy="1072166"/>
        </a:xfrm>
        <a:prstGeom prst="rect">
          <a:avLst/>
        </a:prstGeom>
        <a:gradFill rotWithShape="0">
          <a:gsLst>
            <a:gs pos="0">
              <a:schemeClr val="accent2">
                <a:hueOff val="-623727"/>
                <a:satOff val="-35969"/>
                <a:lumOff val="3698"/>
                <a:alphaOff val="0"/>
                <a:satMod val="103000"/>
                <a:lumMod val="102000"/>
                <a:tint val="94000"/>
              </a:schemeClr>
            </a:gs>
            <a:gs pos="50000">
              <a:schemeClr val="accent2">
                <a:hueOff val="-623727"/>
                <a:satOff val="-35969"/>
                <a:lumOff val="3698"/>
                <a:alphaOff val="0"/>
                <a:satMod val="110000"/>
                <a:lumMod val="100000"/>
                <a:shade val="100000"/>
              </a:schemeClr>
            </a:gs>
            <a:gs pos="100000">
              <a:schemeClr val="accent2">
                <a:hueOff val="-623727"/>
                <a:satOff val="-35969"/>
                <a:lumOff val="369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Networks and Spatial Analytics/Descriptive + Diagnostic Analytics</a:t>
          </a:r>
        </a:p>
      </dsp:txBody>
      <dsp:txXfrm>
        <a:off x="15593" y="1827054"/>
        <a:ext cx="1786943" cy="1072166"/>
      </dsp:txXfrm>
    </dsp:sp>
    <dsp:sp modelId="{2BA9B027-1487-4986-9542-011C268A9362}">
      <dsp:nvSpPr>
        <dsp:cNvPr id="0" name=""/>
        <dsp:cNvSpPr/>
      </dsp:nvSpPr>
      <dsp:spPr>
        <a:xfrm>
          <a:off x="3998678" y="2317418"/>
          <a:ext cx="369550" cy="91440"/>
        </a:xfrm>
        <a:custGeom>
          <a:avLst/>
          <a:gdLst/>
          <a:ahLst/>
          <a:cxnLst/>
          <a:rect l="0" t="0" r="0" b="0"/>
          <a:pathLst>
            <a:path>
              <a:moveTo>
                <a:pt x="0" y="45720"/>
              </a:moveTo>
              <a:lnTo>
                <a:pt x="369550" y="45720"/>
              </a:lnTo>
            </a:path>
          </a:pathLst>
        </a:custGeom>
        <a:noFill/>
        <a:ln w="6350" cap="flat" cmpd="sng" algn="ctr">
          <a:solidFill>
            <a:schemeClr val="accent2">
              <a:hueOff val="-970242"/>
              <a:satOff val="-55952"/>
              <a:lumOff val="575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3449" y="2361083"/>
        <a:ext cx="20007" cy="4109"/>
      </dsp:txXfrm>
    </dsp:sp>
    <dsp:sp modelId="{DED66163-0896-4DAF-8302-9E80B3EE7CC3}">
      <dsp:nvSpPr>
        <dsp:cNvPr id="0" name=""/>
        <dsp:cNvSpPr/>
      </dsp:nvSpPr>
      <dsp:spPr>
        <a:xfrm>
          <a:off x="2213534" y="1827054"/>
          <a:ext cx="1786943" cy="1072166"/>
        </a:xfrm>
        <a:prstGeom prst="rect">
          <a:avLst/>
        </a:prstGeom>
        <a:gradFill rotWithShape="0">
          <a:gsLst>
            <a:gs pos="0">
              <a:schemeClr val="accent2">
                <a:hueOff val="-831636"/>
                <a:satOff val="-47959"/>
                <a:lumOff val="4930"/>
                <a:alphaOff val="0"/>
                <a:satMod val="103000"/>
                <a:lumMod val="102000"/>
                <a:tint val="94000"/>
              </a:schemeClr>
            </a:gs>
            <a:gs pos="50000">
              <a:schemeClr val="accent2">
                <a:hueOff val="-831636"/>
                <a:satOff val="-47959"/>
                <a:lumOff val="4930"/>
                <a:alphaOff val="0"/>
                <a:satMod val="110000"/>
                <a:lumMod val="100000"/>
                <a:shade val="100000"/>
              </a:schemeClr>
            </a:gs>
            <a:gs pos="100000">
              <a:schemeClr val="accent2">
                <a:hueOff val="-831636"/>
                <a:satOff val="-47959"/>
                <a:lumOff val="493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Time Series Analysis</a:t>
          </a:r>
        </a:p>
      </dsp:txBody>
      <dsp:txXfrm>
        <a:off x="2213534" y="1827054"/>
        <a:ext cx="1786943" cy="1072166"/>
      </dsp:txXfrm>
    </dsp:sp>
    <dsp:sp modelId="{9B7F617D-DB8F-4CCD-B446-C935691119D1}">
      <dsp:nvSpPr>
        <dsp:cNvPr id="0" name=""/>
        <dsp:cNvSpPr/>
      </dsp:nvSpPr>
      <dsp:spPr>
        <a:xfrm>
          <a:off x="898218" y="2897421"/>
          <a:ext cx="4395881" cy="380397"/>
        </a:xfrm>
        <a:custGeom>
          <a:avLst/>
          <a:gdLst/>
          <a:ahLst/>
          <a:cxnLst/>
          <a:rect l="0" t="0" r="0" b="0"/>
          <a:pathLst>
            <a:path>
              <a:moveTo>
                <a:pt x="4395881" y="0"/>
              </a:moveTo>
              <a:lnTo>
                <a:pt x="4395881" y="207298"/>
              </a:lnTo>
              <a:lnTo>
                <a:pt x="0" y="207298"/>
              </a:lnTo>
              <a:lnTo>
                <a:pt x="0" y="380397"/>
              </a:lnTo>
            </a:path>
          </a:pathLst>
        </a:custGeom>
        <a:noFill/>
        <a:ln w="6350" cap="flat" cmpd="sng" algn="ctr">
          <a:solidFill>
            <a:schemeClr val="accent2">
              <a:hueOff val="-1212803"/>
              <a:satOff val="-69940"/>
              <a:lumOff val="71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85783" y="3085564"/>
        <a:ext cx="220752" cy="4109"/>
      </dsp:txXfrm>
    </dsp:sp>
    <dsp:sp modelId="{CCCDA745-F379-4EA4-B443-903D2D7361AC}">
      <dsp:nvSpPr>
        <dsp:cNvPr id="0" name=""/>
        <dsp:cNvSpPr/>
      </dsp:nvSpPr>
      <dsp:spPr>
        <a:xfrm>
          <a:off x="4400628" y="1827054"/>
          <a:ext cx="1786943" cy="1072166"/>
        </a:xfrm>
        <a:prstGeom prst="rect">
          <a:avLst/>
        </a:prstGeom>
        <a:gradFill rotWithShape="0">
          <a:gsLst>
            <a:gs pos="0">
              <a:schemeClr val="accent2">
                <a:hueOff val="-1039545"/>
                <a:satOff val="-59949"/>
                <a:lumOff val="6163"/>
                <a:alphaOff val="0"/>
                <a:satMod val="103000"/>
                <a:lumMod val="102000"/>
                <a:tint val="94000"/>
              </a:schemeClr>
            </a:gs>
            <a:gs pos="50000">
              <a:schemeClr val="accent2">
                <a:hueOff val="-1039545"/>
                <a:satOff val="-59949"/>
                <a:lumOff val="6163"/>
                <a:alphaOff val="0"/>
                <a:satMod val="110000"/>
                <a:lumMod val="100000"/>
                <a:shade val="100000"/>
              </a:schemeClr>
            </a:gs>
            <a:gs pos="100000">
              <a:schemeClr val="accent2">
                <a:hueOff val="-1039545"/>
                <a:satOff val="-59949"/>
                <a:lumOff val="6163"/>
                <a:alphaOff val="0"/>
                <a:lumMod val="99000"/>
                <a:satMod val="120000"/>
                <a:shade val="78000"/>
              </a:schemeClr>
            </a:gs>
          </a:gsLst>
          <a:lin ang="5400000" scaled="0"/>
        </a:gradFill>
        <a:ln>
          <a:noFill/>
        </a:ln>
        <a:effectLst>
          <a:innerShdw blurRad="114300">
            <a:prstClr val="black"/>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Interactive Visual Analytics</a:t>
          </a:r>
        </a:p>
      </dsp:txBody>
      <dsp:txXfrm>
        <a:off x="4400628" y="1827054"/>
        <a:ext cx="1786943" cy="1072166"/>
      </dsp:txXfrm>
    </dsp:sp>
    <dsp:sp modelId="{7E73BBEF-9A18-4C1F-AB86-3CE02DB9B4A4}">
      <dsp:nvSpPr>
        <dsp:cNvPr id="0" name=""/>
        <dsp:cNvSpPr/>
      </dsp:nvSpPr>
      <dsp:spPr>
        <a:xfrm>
          <a:off x="1789890" y="3800581"/>
          <a:ext cx="380397" cy="91440"/>
        </a:xfrm>
        <a:custGeom>
          <a:avLst/>
          <a:gdLst/>
          <a:ahLst/>
          <a:cxnLst/>
          <a:rect l="0" t="0" r="0" b="0"/>
          <a:pathLst>
            <a:path>
              <a:moveTo>
                <a:pt x="0" y="45720"/>
              </a:moveTo>
              <a:lnTo>
                <a:pt x="380397" y="45720"/>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69814" y="3844246"/>
        <a:ext cx="20549" cy="4109"/>
      </dsp:txXfrm>
    </dsp:sp>
    <dsp:sp modelId="{0E9122EA-85B7-4733-858C-E80481AB5B42}">
      <dsp:nvSpPr>
        <dsp:cNvPr id="0" name=""/>
        <dsp:cNvSpPr/>
      </dsp:nvSpPr>
      <dsp:spPr>
        <a:xfrm>
          <a:off x="4747" y="3310218"/>
          <a:ext cx="1786943" cy="1072166"/>
        </a:xfrm>
        <a:prstGeom prst="rect">
          <a:avLst/>
        </a:prstGeom>
        <a:gradFill rotWithShape="0">
          <a:gsLst>
            <a:gs pos="0">
              <a:schemeClr val="accent2">
                <a:hueOff val="-1247454"/>
                <a:satOff val="-71938"/>
                <a:lumOff val="7395"/>
                <a:alphaOff val="0"/>
                <a:satMod val="103000"/>
                <a:lumMod val="102000"/>
                <a:tint val="94000"/>
              </a:schemeClr>
            </a:gs>
            <a:gs pos="50000">
              <a:schemeClr val="accent2">
                <a:hueOff val="-1247454"/>
                <a:satOff val="-71938"/>
                <a:lumOff val="7395"/>
                <a:alphaOff val="0"/>
                <a:satMod val="110000"/>
                <a:lumMod val="100000"/>
                <a:shade val="100000"/>
              </a:schemeClr>
            </a:gs>
            <a:gs pos="100000">
              <a:schemeClr val="accent2">
                <a:hueOff val="-1247454"/>
                <a:satOff val="-71938"/>
                <a:lumOff val="739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Storytelling + Prescriptive Analytics</a:t>
          </a:r>
        </a:p>
      </dsp:txBody>
      <dsp:txXfrm>
        <a:off x="4747" y="3310218"/>
        <a:ext cx="1786943" cy="1072166"/>
      </dsp:txXfrm>
    </dsp:sp>
    <dsp:sp modelId="{7670E739-0C93-4B89-9BC4-6CBB11C83F39}">
      <dsp:nvSpPr>
        <dsp:cNvPr id="0" name=""/>
        <dsp:cNvSpPr/>
      </dsp:nvSpPr>
      <dsp:spPr>
        <a:xfrm>
          <a:off x="2202687" y="3310218"/>
          <a:ext cx="1786943" cy="1072166"/>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Advanced Topics</a:t>
          </a:r>
        </a:p>
      </dsp:txBody>
      <dsp:txXfrm>
        <a:off x="2202687" y="3310218"/>
        <a:ext cx="1786943" cy="107216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565198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475956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984213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474025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83B07F-4CD4-4317-8C4A-FB7719185DC8}" type="datetimeFigureOut">
              <a:rPr lang="en-US" smtClean="0"/>
              <a:t>7/24/26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172652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83B07F-4CD4-4317-8C4A-FB7719185DC8}" type="datetimeFigureOut">
              <a:rPr lang="en-US" smtClean="0"/>
              <a:t>7/24/26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09696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83B07F-4CD4-4317-8C4A-FB7719185DC8}" type="datetimeFigureOut">
              <a:rPr lang="en-US" smtClean="0"/>
              <a:t>7/24/26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653502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921367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797805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305816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120575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83B07F-4CD4-4317-8C4A-FB7719185DC8}" type="datetimeFigureOut">
              <a:rPr lang="en-US" smtClean="0"/>
              <a:t>7/24/26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05DAFC-158C-4D94-98A9-A33A23CF8A84}" type="slidenum">
              <a:rPr lang="en-US" smtClean="0"/>
              <a:t>‹#›</a:t>
            </a:fld>
            <a:endParaRPr lang="en-US"/>
          </a:p>
        </p:txBody>
      </p:sp>
    </p:spTree>
    <p:extLst>
      <p:ext uri="{BB962C8B-B14F-4D97-AF65-F5344CB8AC3E}">
        <p14:creationId xmlns:p14="http://schemas.microsoft.com/office/powerpoint/2010/main" val="78435213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ublic.tableau.com/app/search/vizzes"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fred.stlouisfed.or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FF9C3F-042C-4258-ABF4-9A41C105F147}"/>
              </a:ext>
            </a:extLst>
          </p:cNvPr>
          <p:cNvPicPr>
            <a:picLocks noChangeAspect="1"/>
          </p:cNvPicPr>
          <p:nvPr/>
        </p:nvPicPr>
        <p:blipFill rotWithShape="1">
          <a:blip r:embed="rId2">
            <a:duotone>
              <a:prstClr val="black"/>
              <a:prstClr val="white"/>
            </a:duotone>
            <a:alphaModFix amt="35000"/>
          </a:blip>
          <a:srcRect t="8537"/>
          <a:stretch/>
        </p:blipFill>
        <p:spPr>
          <a:xfrm>
            <a:off x="20" y="10"/>
            <a:ext cx="12191980" cy="6857990"/>
          </a:xfrm>
          <a:prstGeom prst="rect">
            <a:avLst/>
          </a:prstGeom>
        </p:spPr>
      </p:pic>
      <p:sp>
        <p:nvSpPr>
          <p:cNvPr id="2" name="Title 1">
            <a:extLst>
              <a:ext uri="{FF2B5EF4-FFF2-40B4-BE49-F238E27FC236}">
                <a16:creationId xmlns:a16="http://schemas.microsoft.com/office/drawing/2014/main" id="{4607AD6C-4CB3-4DF9-9F2E-8BB724EBD7F7}"/>
              </a:ext>
            </a:extLst>
          </p:cNvPr>
          <p:cNvSpPr>
            <a:spLocks noGrp="1"/>
          </p:cNvSpPr>
          <p:nvPr>
            <p:ph type="title"/>
          </p:nvPr>
        </p:nvSpPr>
        <p:spPr>
          <a:xfrm>
            <a:off x="838201" y="1065862"/>
            <a:ext cx="3313164" cy="4726276"/>
          </a:xfrm>
        </p:spPr>
        <p:txBody>
          <a:bodyPr>
            <a:normAutofit/>
          </a:bodyPr>
          <a:lstStyle/>
          <a:p>
            <a:pPr algn="r"/>
            <a:r>
              <a:rPr lang="en-US" sz="4000" dirty="0"/>
              <a:t>Virtual Session </a:t>
            </a:r>
            <a:r>
              <a:rPr lang="en-US" sz="23900" dirty="0"/>
              <a:t>6</a:t>
            </a:r>
            <a:endParaRPr lang="en-US" sz="4000" dirty="0"/>
          </a:p>
        </p:txBody>
      </p:sp>
      <p:graphicFrame>
        <p:nvGraphicFramePr>
          <p:cNvPr id="5" name="Content Placeholder 2">
            <a:extLst>
              <a:ext uri="{FF2B5EF4-FFF2-40B4-BE49-F238E27FC236}">
                <a16:creationId xmlns:a16="http://schemas.microsoft.com/office/drawing/2014/main" id="{53282213-89C8-4113-B0E3-F0FE4A502038}"/>
              </a:ext>
            </a:extLst>
          </p:cNvPr>
          <p:cNvGraphicFramePr>
            <a:graphicFrameLocks noGrp="1"/>
          </p:cNvGraphicFramePr>
          <p:nvPr>
            <p:ph idx="1"/>
            <p:extLst>
              <p:ext uri="{D42A27DB-BD31-4B8C-83A1-F6EECF244321}">
                <p14:modId xmlns:p14="http://schemas.microsoft.com/office/powerpoint/2010/main" val="3859592321"/>
              </p:ext>
            </p:extLst>
          </p:nvPr>
        </p:nvGraphicFramePr>
        <p:xfrm>
          <a:off x="5155379" y="1065862"/>
          <a:ext cx="6192319" cy="4726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96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BC7A-9AF5-4BD1-AD12-A16DFE66DDEB}"/>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7D6BB854-DB6C-4ADE-9D42-551B051268BF}"/>
              </a:ext>
            </a:extLst>
          </p:cNvPr>
          <p:cNvSpPr>
            <a:spLocks noGrp="1"/>
          </p:cNvSpPr>
          <p:nvPr>
            <p:ph idx="1"/>
          </p:nvPr>
        </p:nvSpPr>
        <p:spPr/>
        <p:txBody>
          <a:bodyPr/>
          <a:lstStyle/>
          <a:p>
            <a:r>
              <a:rPr lang="en-US" dirty="0"/>
              <a:t>Module 7 project description has been posted. This will give you additional time for the final project. Module 6-8 assignments are all related. </a:t>
            </a:r>
          </a:p>
        </p:txBody>
      </p:sp>
    </p:spTree>
    <p:extLst>
      <p:ext uri="{BB962C8B-B14F-4D97-AF65-F5344CB8AC3E}">
        <p14:creationId xmlns:p14="http://schemas.microsoft.com/office/powerpoint/2010/main" val="200151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 name="Rectangle 8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descr="Digital financial graph">
            <a:extLst>
              <a:ext uri="{FF2B5EF4-FFF2-40B4-BE49-F238E27FC236}">
                <a16:creationId xmlns:a16="http://schemas.microsoft.com/office/drawing/2014/main" id="{01BFC4B5-CA93-4634-841C-CE691F9BCFA2}"/>
              </a:ext>
            </a:extLst>
          </p:cNvPr>
          <p:cNvPicPr>
            <a:picLocks noChangeAspect="1"/>
          </p:cNvPicPr>
          <p:nvPr/>
        </p:nvPicPr>
        <p:blipFill rotWithShape="1">
          <a:blip r:embed="rId2">
            <a:alphaModFix amt="35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ADC0186-4825-447A-8285-7D7C8779BACB}"/>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rPr>
              <a:t>Agenda</a:t>
            </a:r>
          </a:p>
        </p:txBody>
      </p:sp>
      <p:cxnSp>
        <p:nvCxnSpPr>
          <p:cNvPr id="95" name="Straight Connector 9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D9B7EE-8226-47DB-AEA3-1B76468389D2}"/>
              </a:ext>
            </a:extLst>
          </p:cNvPr>
          <p:cNvSpPr>
            <a:spLocks noGrp="1"/>
          </p:cNvSpPr>
          <p:nvPr>
            <p:ph idx="1"/>
          </p:nvPr>
        </p:nvSpPr>
        <p:spPr>
          <a:xfrm>
            <a:off x="5155379" y="1065862"/>
            <a:ext cx="5744685" cy="4726276"/>
          </a:xfrm>
        </p:spPr>
        <p:txBody>
          <a:bodyPr anchor="ctr">
            <a:normAutofit/>
          </a:bodyPr>
          <a:lstStyle/>
          <a:p>
            <a:r>
              <a:rPr lang="en-US" sz="2000" dirty="0">
                <a:solidFill>
                  <a:srgbClr val="FFFFFF"/>
                </a:solidFill>
              </a:rPr>
              <a:t>Review of Module 5 Assignment</a:t>
            </a:r>
          </a:p>
          <a:p>
            <a:r>
              <a:rPr lang="en-US" sz="2000" dirty="0">
                <a:solidFill>
                  <a:srgbClr val="FFFFFF"/>
                </a:solidFill>
              </a:rPr>
              <a:t>Overview of Module 6 Assignment</a:t>
            </a:r>
          </a:p>
          <a:p>
            <a:r>
              <a:rPr lang="en-US" sz="2000" dirty="0">
                <a:solidFill>
                  <a:srgbClr val="FFFFFF"/>
                </a:solidFill>
              </a:rPr>
              <a:t>Overview of Capstone Projects</a:t>
            </a:r>
          </a:p>
          <a:p>
            <a:endParaRPr lang="en-US" sz="2000" dirty="0">
              <a:solidFill>
                <a:srgbClr val="FFFFFF"/>
              </a:solidFill>
            </a:endParaRPr>
          </a:p>
        </p:txBody>
      </p:sp>
    </p:spTree>
    <p:extLst>
      <p:ext uri="{BB962C8B-B14F-4D97-AF65-F5344CB8AC3E}">
        <p14:creationId xmlns:p14="http://schemas.microsoft.com/office/powerpoint/2010/main" val="139144475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 name="Rectangle 8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descr="Digital financial graph">
            <a:extLst>
              <a:ext uri="{FF2B5EF4-FFF2-40B4-BE49-F238E27FC236}">
                <a16:creationId xmlns:a16="http://schemas.microsoft.com/office/drawing/2014/main" id="{01BFC4B5-CA93-4634-841C-CE691F9BCFA2}"/>
              </a:ext>
            </a:extLst>
          </p:cNvPr>
          <p:cNvPicPr>
            <a:picLocks noChangeAspect="1"/>
          </p:cNvPicPr>
          <p:nvPr/>
        </p:nvPicPr>
        <p:blipFill rotWithShape="1">
          <a:blip r:embed="rId2">
            <a:alphaModFix amt="35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ADC0186-4825-447A-8285-7D7C8779BACB}"/>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rPr>
              <a:t>Agenda</a:t>
            </a:r>
          </a:p>
        </p:txBody>
      </p:sp>
      <p:cxnSp>
        <p:nvCxnSpPr>
          <p:cNvPr id="95" name="Straight Connector 9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D9B7EE-8226-47DB-AEA3-1B76468389D2}"/>
              </a:ext>
            </a:extLst>
          </p:cNvPr>
          <p:cNvSpPr>
            <a:spLocks noGrp="1"/>
          </p:cNvSpPr>
          <p:nvPr>
            <p:ph idx="1"/>
          </p:nvPr>
        </p:nvSpPr>
        <p:spPr>
          <a:xfrm>
            <a:off x="5155379" y="1065862"/>
            <a:ext cx="5744685" cy="4726276"/>
          </a:xfrm>
        </p:spPr>
        <p:txBody>
          <a:bodyPr anchor="ctr">
            <a:normAutofit/>
          </a:bodyPr>
          <a:lstStyle/>
          <a:p>
            <a:r>
              <a:rPr lang="en-US" sz="2000" dirty="0">
                <a:solidFill>
                  <a:schemeClr val="accent4">
                    <a:lumMod val="40000"/>
                    <a:lumOff val="60000"/>
                  </a:schemeClr>
                </a:solidFill>
              </a:rPr>
              <a:t>Review of Module 5 Assignment</a:t>
            </a:r>
          </a:p>
          <a:p>
            <a:r>
              <a:rPr lang="en-US" sz="2000" dirty="0">
                <a:solidFill>
                  <a:srgbClr val="FFFFFF"/>
                </a:solidFill>
              </a:rPr>
              <a:t>Overview of Module 6 Assignment</a:t>
            </a:r>
          </a:p>
          <a:p>
            <a:r>
              <a:rPr lang="en-US" sz="2000" dirty="0">
                <a:solidFill>
                  <a:srgbClr val="FFFFFF"/>
                </a:solidFill>
              </a:rPr>
              <a:t>Overview of Capstone Projects</a:t>
            </a:r>
          </a:p>
          <a:p>
            <a:endParaRPr lang="en-US" sz="2000" dirty="0">
              <a:solidFill>
                <a:srgbClr val="FFFFFF"/>
              </a:solidFill>
            </a:endParaRPr>
          </a:p>
        </p:txBody>
      </p:sp>
    </p:spTree>
    <p:extLst>
      <p:ext uri="{BB962C8B-B14F-4D97-AF65-F5344CB8AC3E}">
        <p14:creationId xmlns:p14="http://schemas.microsoft.com/office/powerpoint/2010/main" val="2206545302"/>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 name="Rectangle 8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descr="Digital financial graph">
            <a:extLst>
              <a:ext uri="{FF2B5EF4-FFF2-40B4-BE49-F238E27FC236}">
                <a16:creationId xmlns:a16="http://schemas.microsoft.com/office/drawing/2014/main" id="{01BFC4B5-CA93-4634-841C-CE691F9BCFA2}"/>
              </a:ext>
            </a:extLst>
          </p:cNvPr>
          <p:cNvPicPr>
            <a:picLocks noChangeAspect="1"/>
          </p:cNvPicPr>
          <p:nvPr/>
        </p:nvPicPr>
        <p:blipFill rotWithShape="1">
          <a:blip r:embed="rId2">
            <a:alphaModFix amt="35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ADC0186-4825-447A-8285-7D7C8779BACB}"/>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rPr>
              <a:t>Agenda</a:t>
            </a:r>
          </a:p>
        </p:txBody>
      </p:sp>
      <p:cxnSp>
        <p:nvCxnSpPr>
          <p:cNvPr id="95" name="Straight Connector 9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D9B7EE-8226-47DB-AEA3-1B76468389D2}"/>
              </a:ext>
            </a:extLst>
          </p:cNvPr>
          <p:cNvSpPr>
            <a:spLocks noGrp="1"/>
          </p:cNvSpPr>
          <p:nvPr>
            <p:ph idx="1"/>
          </p:nvPr>
        </p:nvSpPr>
        <p:spPr>
          <a:xfrm>
            <a:off x="5155379" y="1065862"/>
            <a:ext cx="5744685" cy="4726276"/>
          </a:xfrm>
        </p:spPr>
        <p:txBody>
          <a:bodyPr anchor="ctr">
            <a:normAutofit/>
          </a:bodyPr>
          <a:lstStyle/>
          <a:p>
            <a:r>
              <a:rPr lang="en-US" sz="2000" dirty="0">
                <a:solidFill>
                  <a:srgbClr val="FFFFFF"/>
                </a:solidFill>
              </a:rPr>
              <a:t>Review of Module 5 Assignment</a:t>
            </a:r>
          </a:p>
          <a:p>
            <a:r>
              <a:rPr lang="en-US" sz="2000" dirty="0">
                <a:solidFill>
                  <a:schemeClr val="accent4">
                    <a:lumMod val="40000"/>
                    <a:lumOff val="60000"/>
                  </a:schemeClr>
                </a:solidFill>
              </a:rPr>
              <a:t>Overview of Module 6 Assignment</a:t>
            </a:r>
          </a:p>
          <a:p>
            <a:r>
              <a:rPr lang="en-US" sz="2000" dirty="0">
                <a:solidFill>
                  <a:srgbClr val="FFFFFF"/>
                </a:solidFill>
              </a:rPr>
              <a:t>Overview of Capstone Projects</a:t>
            </a:r>
          </a:p>
          <a:p>
            <a:endParaRPr lang="en-US" sz="2000" dirty="0">
              <a:solidFill>
                <a:srgbClr val="FFFFFF"/>
              </a:solidFill>
            </a:endParaRPr>
          </a:p>
        </p:txBody>
      </p:sp>
    </p:spTree>
    <p:extLst>
      <p:ext uri="{BB962C8B-B14F-4D97-AF65-F5344CB8AC3E}">
        <p14:creationId xmlns:p14="http://schemas.microsoft.com/office/powerpoint/2010/main" val="17803144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248B-A7DB-4FCD-8F24-81B7850C5D81}"/>
              </a:ext>
            </a:extLst>
          </p:cNvPr>
          <p:cNvSpPr>
            <a:spLocks noGrp="1"/>
          </p:cNvSpPr>
          <p:nvPr>
            <p:ph type="title"/>
          </p:nvPr>
        </p:nvSpPr>
        <p:spPr/>
        <p:txBody>
          <a:bodyPr/>
          <a:lstStyle/>
          <a:p>
            <a:r>
              <a:rPr lang="en-US" dirty="0"/>
              <a:t>Module 6: The Dashboard Challenge</a:t>
            </a:r>
          </a:p>
        </p:txBody>
      </p:sp>
      <p:sp>
        <p:nvSpPr>
          <p:cNvPr id="3" name="Content Placeholder 2">
            <a:extLst>
              <a:ext uri="{FF2B5EF4-FFF2-40B4-BE49-F238E27FC236}">
                <a16:creationId xmlns:a16="http://schemas.microsoft.com/office/drawing/2014/main" id="{49464C54-E209-4A2A-91E2-F4A86504660F}"/>
              </a:ext>
            </a:extLst>
          </p:cNvPr>
          <p:cNvSpPr>
            <a:spLocks noGrp="1"/>
          </p:cNvSpPr>
          <p:nvPr>
            <p:ph idx="1"/>
          </p:nvPr>
        </p:nvSpPr>
        <p:spPr/>
        <p:txBody>
          <a:bodyPr>
            <a:normAutofit fontScale="85000" lnSpcReduction="10000"/>
          </a:bodyPr>
          <a:lstStyle/>
          <a:p>
            <a:pPr marL="0" indent="0">
              <a:buNone/>
            </a:pPr>
            <a:r>
              <a:rPr lang="en-US" b="0" i="0" dirty="0">
                <a:effectLst/>
                <a:latin typeface="Helvetica" panose="020B0604020202020204" pitchFamily="34" charset="0"/>
              </a:rPr>
              <a:t>In order to monitor what is happening in the financial markets and the economy, you will create a descriptive analytics dashboard to keep track of the changes in the S&amp;P 500 market performance:</a:t>
            </a:r>
          </a:p>
          <a:p>
            <a:pPr algn="l">
              <a:buFont typeface="Arial" panose="020B0604020202020204" pitchFamily="34" charset="0"/>
              <a:buChar char="•"/>
            </a:pPr>
            <a:r>
              <a:rPr lang="en-US" b="0" i="0" dirty="0">
                <a:effectLst/>
                <a:latin typeface="Helvetica" panose="020B0604020202020204" pitchFamily="34" charset="0"/>
              </a:rPr>
              <a:t>What happened in the financial markets (to the S&amp;P 500 index and each sector) in absolute terms and in terms of change from the previous period? (Previous period could be day, month, quarter or year.)</a:t>
            </a:r>
          </a:p>
          <a:p>
            <a:pPr algn="l">
              <a:buFont typeface="Arial" panose="020B0604020202020204" pitchFamily="34" charset="0"/>
              <a:buChar char="•"/>
            </a:pPr>
            <a:r>
              <a:rPr lang="en-US" b="0" i="0" dirty="0">
                <a:effectLst/>
                <a:latin typeface="Helvetica" panose="020B0604020202020204" pitchFamily="34" charset="0"/>
              </a:rPr>
              <a:t>What happened in the economic data by month, quarter, or year in terms of change from the previous period? Use an appropriate reporting frequency.</a:t>
            </a:r>
          </a:p>
          <a:p>
            <a:pPr algn="l">
              <a:buFont typeface="Arial" panose="020B0604020202020204" pitchFamily="34" charset="0"/>
              <a:buChar char="•"/>
            </a:pPr>
            <a:r>
              <a:rPr lang="en-US" b="0" i="0" dirty="0">
                <a:effectLst/>
                <a:latin typeface="Helvetica" panose="020B0604020202020204" pitchFamily="34" charset="0"/>
              </a:rPr>
              <a:t>3 additional visualizations. For these visualizations, state:</a:t>
            </a:r>
          </a:p>
          <a:p>
            <a:pPr marL="742950" lvl="1" indent="-285750" algn="l">
              <a:buFont typeface="Arial" panose="020B0604020202020204" pitchFamily="34" charset="0"/>
              <a:buChar char="•"/>
            </a:pPr>
            <a:r>
              <a:rPr lang="en-US" b="0" i="0" dirty="0">
                <a:effectLst/>
                <a:latin typeface="Helvetica" panose="020B0604020202020204" pitchFamily="34" charset="0"/>
              </a:rPr>
              <a:t>What the question and purpose(s) of the visualization are hoping to answer or show?</a:t>
            </a:r>
          </a:p>
          <a:p>
            <a:pPr marL="742950" lvl="1" indent="-285750" algn="l">
              <a:buFont typeface="Arial" panose="020B0604020202020204" pitchFamily="34" charset="0"/>
              <a:buChar char="•"/>
            </a:pPr>
            <a:r>
              <a:rPr lang="en-US" b="0" i="0" dirty="0">
                <a:effectLst/>
                <a:latin typeface="Helvetica" panose="020B0604020202020204" pitchFamily="34" charset="0"/>
              </a:rPr>
              <a:t>What calculations or transformations were necessary?</a:t>
            </a:r>
          </a:p>
          <a:p>
            <a:pPr marL="742950" lvl="1" indent="-285750" algn="l">
              <a:buFont typeface="Arial" panose="020B0604020202020204" pitchFamily="34" charset="0"/>
              <a:buChar char="•"/>
            </a:pPr>
            <a:r>
              <a:rPr lang="en-US" b="0" i="0" dirty="0">
                <a:effectLst/>
                <a:latin typeface="Helvetica" panose="020B0604020202020204" pitchFamily="34" charset="0"/>
              </a:rPr>
              <a:t>What is the focal point of the graph?  </a:t>
            </a:r>
          </a:p>
        </p:txBody>
      </p:sp>
    </p:spTree>
    <p:extLst>
      <p:ext uri="{BB962C8B-B14F-4D97-AF65-F5344CB8AC3E}">
        <p14:creationId xmlns:p14="http://schemas.microsoft.com/office/powerpoint/2010/main" val="3807604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9666-278A-4947-8DA2-1759EB653F5D}"/>
              </a:ext>
            </a:extLst>
          </p:cNvPr>
          <p:cNvSpPr>
            <a:spLocks noGrp="1"/>
          </p:cNvSpPr>
          <p:nvPr>
            <p:ph type="title"/>
          </p:nvPr>
        </p:nvSpPr>
        <p:spPr>
          <a:xfrm>
            <a:off x="648928" y="4675886"/>
            <a:ext cx="3685032" cy="1608328"/>
          </a:xfrm>
        </p:spPr>
        <p:txBody>
          <a:bodyPr>
            <a:normAutofit/>
          </a:bodyPr>
          <a:lstStyle/>
          <a:p>
            <a:r>
              <a:rPr lang="en-US" sz="3600"/>
              <a:t>Macroeconomic and financial dashboard</a:t>
            </a:r>
          </a:p>
        </p:txBody>
      </p:sp>
      <p:sp>
        <p:nvSpPr>
          <p:cNvPr id="19" name="Rectangle 18">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12192002" cy="4489449"/>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26">
            <a:extLst>
              <a:ext uri="{FF2B5EF4-FFF2-40B4-BE49-F238E27FC236}">
                <a16:creationId xmlns:a16="http://schemas.microsoft.com/office/drawing/2014/main" id="{1B9CAF73-92E0-421B-9CBB-6CAF38509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320843"/>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imeline&#10;&#10;Description automatically generated">
            <a:extLst>
              <a:ext uri="{FF2B5EF4-FFF2-40B4-BE49-F238E27FC236}">
                <a16:creationId xmlns:a16="http://schemas.microsoft.com/office/drawing/2014/main" id="{2B1CC00F-5448-419C-A16B-E92BEE3AC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296" y="644525"/>
            <a:ext cx="3762103" cy="3291840"/>
          </a:xfrm>
          <a:prstGeom prst="rect">
            <a:avLst/>
          </a:prstGeom>
        </p:spPr>
      </p:pic>
      <p:sp>
        <p:nvSpPr>
          <p:cNvPr id="23" name="Rounded Rectangle 16">
            <a:extLst>
              <a:ext uri="{FF2B5EF4-FFF2-40B4-BE49-F238E27FC236}">
                <a16:creationId xmlns:a16="http://schemas.microsoft.com/office/drawing/2014/main" id="{A6705D2C-3D75-4306-94DF-E75EE9F2D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320843"/>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Graphical user interface, application&#10;&#10;Description automatically generated">
            <a:extLst>
              <a:ext uri="{FF2B5EF4-FFF2-40B4-BE49-F238E27FC236}">
                <a16:creationId xmlns:a16="http://schemas.microsoft.com/office/drawing/2014/main" id="{4DBFF66B-6FE8-4F90-BF3F-C418CC0CA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484" y="883001"/>
            <a:ext cx="4974336" cy="2723448"/>
          </a:xfrm>
          <a:prstGeom prst="rect">
            <a:avLst/>
          </a:prstGeom>
        </p:spPr>
      </p:pic>
      <p:sp>
        <p:nvSpPr>
          <p:cNvPr id="3" name="Content Placeholder 2">
            <a:extLst>
              <a:ext uri="{FF2B5EF4-FFF2-40B4-BE49-F238E27FC236}">
                <a16:creationId xmlns:a16="http://schemas.microsoft.com/office/drawing/2014/main" id="{64DB78A8-D44B-41E2-AA97-D79D93369234}"/>
              </a:ext>
            </a:extLst>
          </p:cNvPr>
          <p:cNvSpPr>
            <a:spLocks noGrp="1"/>
          </p:cNvSpPr>
          <p:nvPr>
            <p:ph idx="1"/>
          </p:nvPr>
        </p:nvSpPr>
        <p:spPr>
          <a:xfrm>
            <a:off x="4864100" y="4675886"/>
            <a:ext cx="6675627" cy="1605083"/>
          </a:xfrm>
        </p:spPr>
        <p:txBody>
          <a:bodyPr anchor="ctr">
            <a:normAutofit/>
          </a:bodyPr>
          <a:lstStyle/>
          <a:p>
            <a:pPr marL="0" indent="0">
              <a:buNone/>
            </a:pPr>
            <a:r>
              <a:rPr lang="en-US" sz="2000" dirty="0"/>
              <a:t>Explore more ideas at:</a:t>
            </a:r>
          </a:p>
          <a:p>
            <a:r>
              <a:rPr lang="en-US" sz="2000" dirty="0">
                <a:solidFill>
                  <a:schemeClr val="accent4">
                    <a:lumMod val="20000"/>
                    <a:lumOff val="80000"/>
                  </a:schemeClr>
                </a:solidFill>
                <a:hlinkClick r:id="rId4">
                  <a:extLst>
                    <a:ext uri="{A12FA001-AC4F-418D-AE19-62706E023703}">
                      <ahyp:hlinkClr xmlns:ahyp="http://schemas.microsoft.com/office/drawing/2018/hyperlinkcolor" val="tx"/>
                    </a:ext>
                  </a:extLst>
                </a:hlinkClick>
              </a:rPr>
              <a:t>https://public.tableau.com/app/search/vizzes</a:t>
            </a:r>
            <a:endParaRPr lang="en-US" sz="2000" dirty="0">
              <a:solidFill>
                <a:schemeClr val="accent4">
                  <a:lumMod val="20000"/>
                  <a:lumOff val="80000"/>
                </a:schemeClr>
              </a:solidFill>
            </a:endParaRPr>
          </a:p>
        </p:txBody>
      </p:sp>
      <p:sp>
        <p:nvSpPr>
          <p:cNvPr id="16" name="TextBox 15">
            <a:extLst>
              <a:ext uri="{FF2B5EF4-FFF2-40B4-BE49-F238E27FC236}">
                <a16:creationId xmlns:a16="http://schemas.microsoft.com/office/drawing/2014/main" id="{CE6AA286-6C7C-4440-86B5-6CC123CDB5BF}"/>
              </a:ext>
            </a:extLst>
          </p:cNvPr>
          <p:cNvSpPr txBox="1"/>
          <p:nvPr/>
        </p:nvSpPr>
        <p:spPr>
          <a:xfrm>
            <a:off x="6415616" y="4024650"/>
            <a:ext cx="6096000" cy="200055"/>
          </a:xfrm>
          <a:prstGeom prst="rect">
            <a:avLst/>
          </a:prstGeom>
          <a:noFill/>
        </p:spPr>
        <p:txBody>
          <a:bodyPr wrap="square">
            <a:spAutoFit/>
          </a:bodyPr>
          <a:lstStyle/>
          <a:p>
            <a:r>
              <a:rPr lang="en-US" sz="700" dirty="0">
                <a:solidFill>
                  <a:schemeClr val="bg1"/>
                </a:solidFill>
              </a:rPr>
              <a:t>https://public.tableau.com/app/profile/commerceeconomicdashboard/viz/EconomicRecoveryDashboard_15990778138680/Primarydashboard</a:t>
            </a:r>
          </a:p>
        </p:txBody>
      </p:sp>
      <p:sp>
        <p:nvSpPr>
          <p:cNvPr id="18" name="TextBox 17">
            <a:extLst>
              <a:ext uri="{FF2B5EF4-FFF2-40B4-BE49-F238E27FC236}">
                <a16:creationId xmlns:a16="http://schemas.microsoft.com/office/drawing/2014/main" id="{98ECC769-D566-4795-A50E-5F478BB63BE0}"/>
              </a:ext>
            </a:extLst>
          </p:cNvPr>
          <p:cNvSpPr txBox="1"/>
          <p:nvPr/>
        </p:nvSpPr>
        <p:spPr>
          <a:xfrm>
            <a:off x="1136608" y="4024650"/>
            <a:ext cx="6255172" cy="215444"/>
          </a:xfrm>
          <a:prstGeom prst="rect">
            <a:avLst/>
          </a:prstGeom>
          <a:noFill/>
        </p:spPr>
        <p:txBody>
          <a:bodyPr wrap="square">
            <a:spAutoFit/>
          </a:bodyPr>
          <a:lstStyle/>
          <a:p>
            <a:r>
              <a:rPr lang="en-US" sz="800" dirty="0">
                <a:solidFill>
                  <a:schemeClr val="bg1"/>
                </a:solidFill>
              </a:rPr>
              <a:t>https://public.tableau.com/app/profile/jerald1726/viz/YTDstockviz1/Dashboard1</a:t>
            </a:r>
          </a:p>
        </p:txBody>
      </p:sp>
    </p:spTree>
    <p:extLst>
      <p:ext uri="{BB962C8B-B14F-4D97-AF65-F5344CB8AC3E}">
        <p14:creationId xmlns:p14="http://schemas.microsoft.com/office/powerpoint/2010/main" val="3370805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49B0-E53D-446C-BED6-B8E77698ECFC}"/>
              </a:ext>
            </a:extLst>
          </p:cNvPr>
          <p:cNvSpPr>
            <a:spLocks noGrp="1"/>
          </p:cNvSpPr>
          <p:nvPr>
            <p:ph type="title"/>
          </p:nvPr>
        </p:nvSpPr>
        <p:spPr>
          <a:xfrm>
            <a:off x="648929" y="629266"/>
            <a:ext cx="4944152" cy="1622321"/>
          </a:xfrm>
        </p:spPr>
        <p:txBody>
          <a:bodyPr>
            <a:normAutofit/>
          </a:bodyPr>
          <a:lstStyle/>
          <a:p>
            <a:r>
              <a:rPr lang="en-US" dirty="0"/>
              <a:t>Visual design</a:t>
            </a:r>
          </a:p>
        </p:txBody>
      </p:sp>
      <p:sp>
        <p:nvSpPr>
          <p:cNvPr id="4" name="Content Placeholder 3">
            <a:extLst>
              <a:ext uri="{FF2B5EF4-FFF2-40B4-BE49-F238E27FC236}">
                <a16:creationId xmlns:a16="http://schemas.microsoft.com/office/drawing/2014/main" id="{B2F97E2E-5998-49B3-9894-0BBD19249D82}"/>
              </a:ext>
            </a:extLst>
          </p:cNvPr>
          <p:cNvSpPr>
            <a:spLocks noGrp="1"/>
          </p:cNvSpPr>
          <p:nvPr>
            <p:ph idx="1"/>
          </p:nvPr>
        </p:nvSpPr>
        <p:spPr>
          <a:xfrm>
            <a:off x="648930" y="2438400"/>
            <a:ext cx="4944151" cy="3785419"/>
          </a:xfrm>
        </p:spPr>
        <p:txBody>
          <a:bodyPr>
            <a:normAutofit/>
          </a:bodyPr>
          <a:lstStyle/>
          <a:p>
            <a:r>
              <a:rPr lang="en-US" sz="2400" dirty="0"/>
              <a:t>The audience for the dashboard is now much broader. Pay particular attention to the design of the visualizations and limit complex interactions.</a:t>
            </a:r>
          </a:p>
        </p:txBody>
      </p:sp>
      <p:sp>
        <p:nvSpPr>
          <p:cNvPr id="1039" name="Rectangle 191">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2950" y="0"/>
            <a:ext cx="609905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7582" y="557784"/>
            <a:ext cx="5130204"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6" name="Picture 12" descr="2021 asset performance">
            <a:extLst>
              <a:ext uri="{FF2B5EF4-FFF2-40B4-BE49-F238E27FC236}">
                <a16:creationId xmlns:a16="http://schemas.microsoft.com/office/drawing/2014/main" id="{3D2CF4FE-128C-4E77-B94D-AB5D3B2DF6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04709" y="1189611"/>
            <a:ext cx="4475531" cy="447553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404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E97B-D975-41C9-A517-80FD30C95A54}"/>
              </a:ext>
            </a:extLst>
          </p:cNvPr>
          <p:cNvSpPr>
            <a:spLocks noGrp="1"/>
          </p:cNvSpPr>
          <p:nvPr>
            <p:ph type="title"/>
          </p:nvPr>
        </p:nvSpPr>
        <p:spPr>
          <a:xfrm>
            <a:off x="648929" y="629266"/>
            <a:ext cx="3505495" cy="1622321"/>
          </a:xfrm>
        </p:spPr>
        <p:txBody>
          <a:bodyPr>
            <a:normAutofit/>
          </a:bodyPr>
          <a:lstStyle/>
          <a:p>
            <a:r>
              <a:rPr lang="en-US"/>
              <a:t>Example</a:t>
            </a:r>
            <a:endParaRPr lang="en-US" dirty="0"/>
          </a:p>
        </p:txBody>
      </p:sp>
      <p:sp>
        <p:nvSpPr>
          <p:cNvPr id="9" name="Content Placeholder 8">
            <a:extLst>
              <a:ext uri="{FF2B5EF4-FFF2-40B4-BE49-F238E27FC236}">
                <a16:creationId xmlns:a16="http://schemas.microsoft.com/office/drawing/2014/main" id="{4131BC85-784F-4AD8-8C6F-835CA2184120}"/>
              </a:ext>
            </a:extLst>
          </p:cNvPr>
          <p:cNvSpPr>
            <a:spLocks noGrp="1"/>
          </p:cNvSpPr>
          <p:nvPr>
            <p:ph idx="1"/>
          </p:nvPr>
        </p:nvSpPr>
        <p:spPr>
          <a:xfrm>
            <a:off x="648931" y="2438400"/>
            <a:ext cx="3505494" cy="3785419"/>
          </a:xfrm>
        </p:spPr>
        <p:txBody>
          <a:bodyPr>
            <a:normAutofit/>
          </a:bodyPr>
          <a:lstStyle/>
          <a:p>
            <a:r>
              <a:rPr lang="en-US" sz="2000" dirty="0"/>
              <a:t>Sector performance and the top 10 constituent companies in each sector by return performance </a:t>
            </a:r>
          </a:p>
        </p:txBody>
      </p:sp>
      <p:sp>
        <p:nvSpPr>
          <p:cNvPr id="12" name="Rectangle 11">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10;&#10;Description automatically generated">
            <a:extLst>
              <a:ext uri="{FF2B5EF4-FFF2-40B4-BE49-F238E27FC236}">
                <a16:creationId xmlns:a16="http://schemas.microsoft.com/office/drawing/2014/main" id="{53402ADB-7E46-4FFF-ACCA-6D4CFADB4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2567" y="929181"/>
            <a:ext cx="6584098" cy="4970993"/>
          </a:xfrm>
          <a:prstGeom prst="rect">
            <a:avLst/>
          </a:prstGeom>
          <a:effectLst/>
        </p:spPr>
      </p:pic>
      <p:sp>
        <p:nvSpPr>
          <p:cNvPr id="6" name="TextBox 5">
            <a:extLst>
              <a:ext uri="{FF2B5EF4-FFF2-40B4-BE49-F238E27FC236}">
                <a16:creationId xmlns:a16="http://schemas.microsoft.com/office/drawing/2014/main" id="{0DA5DA4C-BCB1-4314-9B64-C90B3592B3DB}"/>
              </a:ext>
            </a:extLst>
          </p:cNvPr>
          <p:cNvSpPr txBox="1"/>
          <p:nvPr/>
        </p:nvSpPr>
        <p:spPr>
          <a:xfrm>
            <a:off x="6993711" y="5911636"/>
            <a:ext cx="2861809" cy="307777"/>
          </a:xfrm>
          <a:prstGeom prst="rect">
            <a:avLst/>
          </a:prstGeom>
          <a:noFill/>
        </p:spPr>
        <p:txBody>
          <a:bodyPr wrap="none" rtlCol="0">
            <a:spAutoFit/>
          </a:bodyPr>
          <a:lstStyle/>
          <a:p>
            <a:r>
              <a:rPr lang="en-US" sz="1400" dirty="0">
                <a:solidFill>
                  <a:schemeClr val="bg1"/>
                </a:solidFill>
              </a:rPr>
              <a:t>Past student submission (Melanie S.)</a:t>
            </a:r>
          </a:p>
        </p:txBody>
      </p:sp>
    </p:spTree>
    <p:extLst>
      <p:ext uri="{BB962C8B-B14F-4D97-AF65-F5344CB8AC3E}">
        <p14:creationId xmlns:p14="http://schemas.microsoft.com/office/powerpoint/2010/main" val="457571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31482-B3DA-43AD-AC09-93DA280A7F7D}"/>
              </a:ext>
            </a:extLst>
          </p:cNvPr>
          <p:cNvSpPr>
            <a:spLocks noGrp="1"/>
          </p:cNvSpPr>
          <p:nvPr>
            <p:ph type="title"/>
          </p:nvPr>
        </p:nvSpPr>
        <p:spPr>
          <a:xfrm>
            <a:off x="648929" y="629266"/>
            <a:ext cx="3505495" cy="1622321"/>
          </a:xfrm>
        </p:spPr>
        <p:txBody>
          <a:bodyPr>
            <a:normAutofit/>
          </a:bodyPr>
          <a:lstStyle/>
          <a:p>
            <a:r>
              <a:rPr lang="en-US" dirty="0"/>
              <a:t>Data Sources</a:t>
            </a:r>
          </a:p>
        </p:txBody>
      </p:sp>
      <p:sp>
        <p:nvSpPr>
          <p:cNvPr id="3" name="Content Placeholder 2">
            <a:extLst>
              <a:ext uri="{FF2B5EF4-FFF2-40B4-BE49-F238E27FC236}">
                <a16:creationId xmlns:a16="http://schemas.microsoft.com/office/drawing/2014/main" id="{75D30BB5-1E6A-4B36-BEF0-661D1BC4F59B}"/>
              </a:ext>
            </a:extLst>
          </p:cNvPr>
          <p:cNvSpPr>
            <a:spLocks noGrp="1"/>
          </p:cNvSpPr>
          <p:nvPr>
            <p:ph idx="1"/>
          </p:nvPr>
        </p:nvSpPr>
        <p:spPr>
          <a:xfrm>
            <a:off x="648931" y="2438400"/>
            <a:ext cx="3505494" cy="3785419"/>
          </a:xfrm>
        </p:spPr>
        <p:txBody>
          <a:bodyPr>
            <a:normAutofit fontScale="92500" lnSpcReduction="10000"/>
          </a:bodyPr>
          <a:lstStyle/>
          <a:p>
            <a:r>
              <a:rPr lang="en-US" sz="2000" dirty="0"/>
              <a:t>Updated S&amp;P500 stock data file (includes newer data points)</a:t>
            </a:r>
            <a:endParaRPr lang="en-US" sz="2000" dirty="0">
              <a:hlinkClick r:id="rId2">
                <a:extLst>
                  <a:ext uri="{A12FA001-AC4F-418D-AE19-62706E023703}">
                    <ahyp:hlinkClr xmlns:ahyp="http://schemas.microsoft.com/office/drawing/2018/hyperlinkcolor" val="tx"/>
                  </a:ext>
                </a:extLst>
              </a:hlinkClick>
            </a:endParaRPr>
          </a:p>
          <a:p>
            <a:r>
              <a:rPr lang="en-US" sz="2000" dirty="0">
                <a:solidFill>
                  <a:schemeClr val="accent4">
                    <a:lumMod val="20000"/>
                    <a:lumOff val="80000"/>
                  </a:schemeClr>
                </a:solidFill>
                <a:hlinkClick r:id="rId2">
                  <a:extLst>
                    <a:ext uri="{A12FA001-AC4F-418D-AE19-62706E023703}">
                      <ahyp:hlinkClr xmlns:ahyp="http://schemas.microsoft.com/office/drawing/2018/hyperlinkcolor" val="tx"/>
                    </a:ext>
                  </a:extLst>
                </a:hlinkClick>
              </a:rPr>
              <a:t>https://fred.stlouisfed.org/</a:t>
            </a:r>
            <a:endParaRPr lang="en-US" sz="2000" dirty="0">
              <a:solidFill>
                <a:schemeClr val="accent4">
                  <a:lumMod val="20000"/>
                  <a:lumOff val="80000"/>
                </a:schemeClr>
              </a:solidFill>
            </a:endParaRPr>
          </a:p>
          <a:p>
            <a:pPr lvl="1"/>
            <a:r>
              <a:rPr lang="en-US" sz="1600" dirty="0"/>
              <a:t>Recommended:</a:t>
            </a:r>
          </a:p>
          <a:p>
            <a:pPr lvl="2"/>
            <a:r>
              <a:rPr lang="en-US" sz="1200" dirty="0"/>
              <a:t>Consumer Price Index</a:t>
            </a:r>
          </a:p>
          <a:p>
            <a:pPr lvl="2"/>
            <a:r>
              <a:rPr lang="en-US" sz="1200" dirty="0"/>
              <a:t>Real GDP</a:t>
            </a:r>
          </a:p>
          <a:p>
            <a:pPr lvl="2"/>
            <a:r>
              <a:rPr lang="en-US" sz="1200" dirty="0"/>
              <a:t>Unemployment</a:t>
            </a:r>
          </a:p>
          <a:p>
            <a:pPr lvl="2"/>
            <a:r>
              <a:rPr lang="en-US" sz="1200" dirty="0"/>
              <a:t>Interest rates</a:t>
            </a:r>
          </a:p>
          <a:p>
            <a:pPr lvl="2"/>
            <a:r>
              <a:rPr lang="en-US" sz="1200" dirty="0"/>
              <a:t>(See At A Glance, Popular Series, and Latest Releases for ideas)</a:t>
            </a:r>
          </a:p>
          <a:p>
            <a:pPr lvl="1"/>
            <a:r>
              <a:rPr lang="en-US" sz="1600" dirty="0"/>
              <a:t>Notice they often have seasonally adjusted and non-seasonally adjusted time series data.</a:t>
            </a:r>
          </a:p>
          <a:p>
            <a:r>
              <a:rPr lang="en-US" sz="2000" dirty="0"/>
              <a:t>Other data including individual stock ticker data and international stock indices</a:t>
            </a:r>
          </a:p>
          <a:p>
            <a:pPr lvl="2"/>
            <a:endParaRPr lang="en-US" sz="1200" dirty="0"/>
          </a:p>
          <a:p>
            <a:pPr lvl="2"/>
            <a:endParaRPr lang="en-US" sz="1200" dirty="0"/>
          </a:p>
          <a:p>
            <a:endParaRPr lang="en-US" sz="2000" dirty="0"/>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ical user interface, chart, application&#10;&#10;Description automatically generated">
            <a:extLst>
              <a:ext uri="{FF2B5EF4-FFF2-40B4-BE49-F238E27FC236}">
                <a16:creationId xmlns:a16="http://schemas.microsoft.com/office/drawing/2014/main" id="{ABE806B4-9881-4497-9B88-FC403F3FF519}"/>
              </a:ext>
            </a:extLst>
          </p:cNvPr>
          <p:cNvPicPr>
            <a:picLocks noChangeAspect="1"/>
          </p:cNvPicPr>
          <p:nvPr/>
        </p:nvPicPr>
        <p:blipFill>
          <a:blip r:embed="rId3"/>
          <a:stretch>
            <a:fillRect/>
          </a:stretch>
        </p:blipFill>
        <p:spPr>
          <a:xfrm>
            <a:off x="5405862" y="2313800"/>
            <a:ext cx="6019331" cy="2227153"/>
          </a:xfrm>
          <a:prstGeom prst="rect">
            <a:avLst/>
          </a:prstGeom>
          <a:effectLst/>
        </p:spPr>
      </p:pic>
    </p:spTree>
    <p:extLst>
      <p:ext uri="{BB962C8B-B14F-4D97-AF65-F5344CB8AC3E}">
        <p14:creationId xmlns:p14="http://schemas.microsoft.com/office/powerpoint/2010/main" val="4054033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F73C-F5FD-49A2-A29B-F6B0103D4881}"/>
              </a:ext>
            </a:extLst>
          </p:cNvPr>
          <p:cNvSpPr>
            <a:spLocks noGrp="1"/>
          </p:cNvSpPr>
          <p:nvPr>
            <p:ph type="title"/>
          </p:nvPr>
        </p:nvSpPr>
        <p:spPr/>
        <p:txBody>
          <a:bodyPr/>
          <a:lstStyle/>
          <a:p>
            <a:r>
              <a:rPr lang="en-US" dirty="0"/>
              <a:t>Recall: Design questions (from last module)</a:t>
            </a:r>
          </a:p>
        </p:txBody>
      </p:sp>
      <p:sp>
        <p:nvSpPr>
          <p:cNvPr id="3" name="Content Placeholder 2">
            <a:extLst>
              <a:ext uri="{FF2B5EF4-FFF2-40B4-BE49-F238E27FC236}">
                <a16:creationId xmlns:a16="http://schemas.microsoft.com/office/drawing/2014/main" id="{21EF6E1C-4F5B-450D-A07F-D9C13CA71D57}"/>
              </a:ext>
            </a:extLst>
          </p:cNvPr>
          <p:cNvSpPr>
            <a:spLocks noGrp="1"/>
          </p:cNvSpPr>
          <p:nvPr>
            <p:ph idx="1"/>
          </p:nvPr>
        </p:nvSpPr>
        <p:spPr/>
        <p:txBody>
          <a:bodyPr/>
          <a:lstStyle/>
          <a:p>
            <a:r>
              <a:rPr lang="en-US" dirty="0"/>
              <a:t>Minimum Data Set </a:t>
            </a:r>
          </a:p>
          <a:p>
            <a:pPr lvl="1"/>
            <a:r>
              <a:rPr lang="en-US" dirty="0"/>
              <a:t>State rankings by unemployment and change in unemployment for any given period of time</a:t>
            </a:r>
          </a:p>
          <a:p>
            <a:pPr lvl="1"/>
            <a:r>
              <a:rPr lang="en-US" dirty="0"/>
              <a:t>Sector log returns for any given period of time</a:t>
            </a:r>
          </a:p>
          <a:p>
            <a:r>
              <a:rPr lang="en-US" dirty="0"/>
              <a:t>Query Parameters</a:t>
            </a:r>
          </a:p>
          <a:p>
            <a:pPr lvl="1"/>
            <a:r>
              <a:rPr lang="en-US" dirty="0"/>
              <a:t>Dates under consideration</a:t>
            </a:r>
          </a:p>
          <a:p>
            <a:r>
              <a:rPr lang="en-US" dirty="0"/>
              <a:t>Unknowns</a:t>
            </a:r>
          </a:p>
          <a:p>
            <a:pPr lvl="1"/>
            <a:r>
              <a:rPr lang="en-US" dirty="0"/>
              <a:t>Dates for when certain sectors showed large declines or increases</a:t>
            </a:r>
          </a:p>
          <a:p>
            <a:pPr lvl="1"/>
            <a:endParaRPr lang="en-US" dirty="0"/>
          </a:p>
          <a:p>
            <a:pPr lvl="1"/>
            <a:endParaRPr lang="en-US" dirty="0"/>
          </a:p>
        </p:txBody>
      </p:sp>
    </p:spTree>
    <p:extLst>
      <p:ext uri="{BB962C8B-B14F-4D97-AF65-F5344CB8AC3E}">
        <p14:creationId xmlns:p14="http://schemas.microsoft.com/office/powerpoint/2010/main" val="1328349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C5D0-74C0-4C58-ADAA-EA26898F4336}"/>
              </a:ext>
            </a:extLst>
          </p:cNvPr>
          <p:cNvSpPr>
            <a:spLocks noGrp="1"/>
          </p:cNvSpPr>
          <p:nvPr>
            <p:ph type="title"/>
          </p:nvPr>
        </p:nvSpPr>
        <p:spPr>
          <a:xfrm>
            <a:off x="648929" y="629266"/>
            <a:ext cx="3505495" cy="1622321"/>
          </a:xfrm>
        </p:spPr>
        <p:txBody>
          <a:bodyPr>
            <a:normAutofit/>
          </a:bodyPr>
          <a:lstStyle/>
          <a:p>
            <a:r>
              <a:rPr lang="en-US" dirty="0"/>
              <a:t>Dashboard Tips</a:t>
            </a:r>
          </a:p>
        </p:txBody>
      </p:sp>
      <p:sp>
        <p:nvSpPr>
          <p:cNvPr id="3" name="Content Placeholder 2">
            <a:extLst>
              <a:ext uri="{FF2B5EF4-FFF2-40B4-BE49-F238E27FC236}">
                <a16:creationId xmlns:a16="http://schemas.microsoft.com/office/drawing/2014/main" id="{2D4979E5-859B-4530-BA1B-4CCE39D49C89}"/>
              </a:ext>
            </a:extLst>
          </p:cNvPr>
          <p:cNvSpPr>
            <a:spLocks noGrp="1"/>
          </p:cNvSpPr>
          <p:nvPr>
            <p:ph idx="1"/>
          </p:nvPr>
        </p:nvSpPr>
        <p:spPr>
          <a:xfrm>
            <a:off x="648931" y="2438400"/>
            <a:ext cx="3505494" cy="3785419"/>
          </a:xfrm>
        </p:spPr>
        <p:txBody>
          <a:bodyPr>
            <a:normAutofit/>
          </a:bodyPr>
          <a:lstStyle/>
          <a:p>
            <a:r>
              <a:rPr lang="en-US" sz="1600"/>
              <a:t>Try to create a well-defined scope for a set of queries that can be answered by the dashboard such that it:</a:t>
            </a:r>
          </a:p>
          <a:p>
            <a:pPr lvl="1"/>
            <a:r>
              <a:rPr lang="en-US" sz="1600"/>
              <a:t>Makes it clear to see what the answer is to the query </a:t>
            </a:r>
          </a:p>
          <a:p>
            <a:pPr lvl="1"/>
            <a:r>
              <a:rPr lang="en-US" sz="1600"/>
              <a:t>Requires interactivity only to change the parameters of the query (if at all)</a:t>
            </a:r>
          </a:p>
          <a:p>
            <a:r>
              <a:rPr lang="en-US" sz="1600"/>
              <a:t>The goal is to enable someone to ask: “What happened to X on event E?” </a:t>
            </a:r>
          </a:p>
          <a:p>
            <a:pPr lvl="1"/>
            <a:r>
              <a:rPr lang="en-US" sz="1600"/>
              <a:t>X: set of all data that is of interest</a:t>
            </a:r>
          </a:p>
          <a:p>
            <a:pPr lvl="1"/>
            <a:r>
              <a:rPr lang="en-US" sz="1600"/>
              <a:t>E: set of query parameters </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hart&#10;&#10;Description automatically generated">
            <a:extLst>
              <a:ext uri="{FF2B5EF4-FFF2-40B4-BE49-F238E27FC236}">
                <a16:creationId xmlns:a16="http://schemas.microsoft.com/office/drawing/2014/main" id="{F8A776A3-2CD3-4632-9FC0-7B58475A3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862" y="1162604"/>
            <a:ext cx="6019331" cy="4529546"/>
          </a:xfrm>
          <a:prstGeom prst="rect">
            <a:avLst/>
          </a:prstGeom>
          <a:effectLst/>
        </p:spPr>
      </p:pic>
      <p:sp>
        <p:nvSpPr>
          <p:cNvPr id="8" name="TextBox 7">
            <a:extLst>
              <a:ext uri="{FF2B5EF4-FFF2-40B4-BE49-F238E27FC236}">
                <a16:creationId xmlns:a16="http://schemas.microsoft.com/office/drawing/2014/main" id="{44655359-A1AE-467C-82FC-A66C533607E5}"/>
              </a:ext>
            </a:extLst>
          </p:cNvPr>
          <p:cNvSpPr txBox="1"/>
          <p:nvPr/>
        </p:nvSpPr>
        <p:spPr>
          <a:xfrm>
            <a:off x="7089298" y="5916042"/>
            <a:ext cx="2652457" cy="307777"/>
          </a:xfrm>
          <a:prstGeom prst="rect">
            <a:avLst/>
          </a:prstGeom>
          <a:noFill/>
        </p:spPr>
        <p:txBody>
          <a:bodyPr wrap="none" rtlCol="0">
            <a:spAutoFit/>
          </a:bodyPr>
          <a:lstStyle/>
          <a:p>
            <a:r>
              <a:rPr lang="en-US" sz="1400" dirty="0">
                <a:solidFill>
                  <a:schemeClr val="bg1"/>
                </a:solidFill>
              </a:rPr>
              <a:t>Past student submission (Janet L.)</a:t>
            </a:r>
          </a:p>
        </p:txBody>
      </p:sp>
    </p:spTree>
    <p:extLst>
      <p:ext uri="{BB962C8B-B14F-4D97-AF65-F5344CB8AC3E}">
        <p14:creationId xmlns:p14="http://schemas.microsoft.com/office/powerpoint/2010/main" val="1747348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84BDF-4505-4630-A347-94FE6A494669}"/>
              </a:ext>
            </a:extLst>
          </p:cNvPr>
          <p:cNvSpPr>
            <a:spLocks noGrp="1"/>
          </p:cNvSpPr>
          <p:nvPr>
            <p:ph type="title"/>
          </p:nvPr>
        </p:nvSpPr>
        <p:spPr/>
        <p:txBody>
          <a:bodyPr/>
          <a:lstStyle/>
          <a:p>
            <a:r>
              <a:rPr lang="en-US" dirty="0"/>
              <a:t>Dashboarding basics in Tableau</a:t>
            </a:r>
          </a:p>
        </p:txBody>
      </p:sp>
      <p:sp>
        <p:nvSpPr>
          <p:cNvPr id="3" name="Content Placeholder 2">
            <a:extLst>
              <a:ext uri="{FF2B5EF4-FFF2-40B4-BE49-F238E27FC236}">
                <a16:creationId xmlns:a16="http://schemas.microsoft.com/office/drawing/2014/main" id="{52ACB07F-3726-45C6-938C-F9AC0151492B}"/>
              </a:ext>
            </a:extLst>
          </p:cNvPr>
          <p:cNvSpPr>
            <a:spLocks noGrp="1"/>
          </p:cNvSpPr>
          <p:nvPr>
            <p:ph idx="1"/>
          </p:nvPr>
        </p:nvSpPr>
        <p:spPr/>
        <p:txBody>
          <a:bodyPr/>
          <a:lstStyle/>
          <a:p>
            <a:r>
              <a:rPr lang="en-US" dirty="0"/>
              <a:t>Understanding filter scope</a:t>
            </a:r>
          </a:p>
          <a:p>
            <a:r>
              <a:rPr lang="en-US" dirty="0"/>
              <a:t>Limiting query results</a:t>
            </a:r>
          </a:p>
          <a:p>
            <a:r>
              <a:rPr lang="en-US" dirty="0"/>
              <a:t>Dashboard Objects</a:t>
            </a:r>
          </a:p>
          <a:p>
            <a:pPr lvl="1"/>
            <a:r>
              <a:rPr lang="en-US" dirty="0"/>
              <a:t>Basic elements</a:t>
            </a:r>
          </a:p>
          <a:p>
            <a:pPr lvl="1"/>
            <a:r>
              <a:rPr lang="en-US" dirty="0"/>
              <a:t>Interactions</a:t>
            </a:r>
          </a:p>
          <a:p>
            <a:pPr lvl="1"/>
            <a:r>
              <a:rPr lang="en-US" dirty="0"/>
              <a:t>Navigation</a:t>
            </a:r>
          </a:p>
        </p:txBody>
      </p:sp>
    </p:spTree>
    <p:extLst>
      <p:ext uri="{BB962C8B-B14F-4D97-AF65-F5344CB8AC3E}">
        <p14:creationId xmlns:p14="http://schemas.microsoft.com/office/powerpoint/2010/main" val="1914938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 name="Rectangle 8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descr="Digital financial graph">
            <a:extLst>
              <a:ext uri="{FF2B5EF4-FFF2-40B4-BE49-F238E27FC236}">
                <a16:creationId xmlns:a16="http://schemas.microsoft.com/office/drawing/2014/main" id="{01BFC4B5-CA93-4634-841C-CE691F9BCFA2}"/>
              </a:ext>
            </a:extLst>
          </p:cNvPr>
          <p:cNvPicPr>
            <a:picLocks noChangeAspect="1"/>
          </p:cNvPicPr>
          <p:nvPr/>
        </p:nvPicPr>
        <p:blipFill rotWithShape="1">
          <a:blip r:embed="rId2">
            <a:alphaModFix amt="35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4ADC0186-4825-447A-8285-7D7C8779BACB}"/>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rPr>
              <a:t>Agenda</a:t>
            </a:r>
          </a:p>
        </p:txBody>
      </p:sp>
      <p:cxnSp>
        <p:nvCxnSpPr>
          <p:cNvPr id="95" name="Straight Connector 9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D9B7EE-8226-47DB-AEA3-1B76468389D2}"/>
              </a:ext>
            </a:extLst>
          </p:cNvPr>
          <p:cNvSpPr>
            <a:spLocks noGrp="1"/>
          </p:cNvSpPr>
          <p:nvPr>
            <p:ph idx="1"/>
          </p:nvPr>
        </p:nvSpPr>
        <p:spPr>
          <a:xfrm>
            <a:off x="5155379" y="1065862"/>
            <a:ext cx="5744685" cy="4726276"/>
          </a:xfrm>
        </p:spPr>
        <p:txBody>
          <a:bodyPr anchor="ctr">
            <a:normAutofit/>
          </a:bodyPr>
          <a:lstStyle/>
          <a:p>
            <a:r>
              <a:rPr lang="en-US" sz="2000" dirty="0">
                <a:solidFill>
                  <a:srgbClr val="FFFFFF"/>
                </a:solidFill>
              </a:rPr>
              <a:t>Review of Module 5 Assignment</a:t>
            </a:r>
          </a:p>
          <a:p>
            <a:r>
              <a:rPr lang="en-US" sz="2000" dirty="0">
                <a:solidFill>
                  <a:srgbClr val="FFFFFF"/>
                </a:solidFill>
              </a:rPr>
              <a:t>Overview of Module 6 Assignment</a:t>
            </a:r>
          </a:p>
          <a:p>
            <a:r>
              <a:rPr lang="en-US" sz="2000" dirty="0">
                <a:solidFill>
                  <a:schemeClr val="accent4">
                    <a:lumMod val="40000"/>
                    <a:lumOff val="60000"/>
                  </a:schemeClr>
                </a:solidFill>
              </a:rPr>
              <a:t>Overview of Capstone Projects</a:t>
            </a:r>
          </a:p>
          <a:p>
            <a:endParaRPr lang="en-US" sz="2000" dirty="0">
              <a:solidFill>
                <a:srgbClr val="FFFFFF"/>
              </a:solidFill>
            </a:endParaRPr>
          </a:p>
        </p:txBody>
      </p:sp>
    </p:spTree>
    <p:extLst>
      <p:ext uri="{BB962C8B-B14F-4D97-AF65-F5344CB8AC3E}">
        <p14:creationId xmlns:p14="http://schemas.microsoft.com/office/powerpoint/2010/main" val="320502639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5B04-B3B9-485A-8F92-0700D68BC99F}"/>
              </a:ext>
            </a:extLst>
          </p:cNvPr>
          <p:cNvSpPr>
            <a:spLocks noGrp="1"/>
          </p:cNvSpPr>
          <p:nvPr>
            <p:ph type="title"/>
          </p:nvPr>
        </p:nvSpPr>
        <p:spPr/>
        <p:txBody>
          <a:bodyPr/>
          <a:lstStyle/>
          <a:p>
            <a:r>
              <a:rPr lang="en-US" dirty="0"/>
              <a:t>Capstone Project</a:t>
            </a:r>
          </a:p>
        </p:txBody>
      </p:sp>
      <p:sp>
        <p:nvSpPr>
          <p:cNvPr id="3" name="Content Placeholder 2">
            <a:extLst>
              <a:ext uri="{FF2B5EF4-FFF2-40B4-BE49-F238E27FC236}">
                <a16:creationId xmlns:a16="http://schemas.microsoft.com/office/drawing/2014/main" id="{66B7E7C6-139A-4D38-9E04-9E81A1431DDF}"/>
              </a:ext>
            </a:extLst>
          </p:cNvPr>
          <p:cNvSpPr>
            <a:spLocks noGrp="1"/>
          </p:cNvSpPr>
          <p:nvPr>
            <p:ph idx="1"/>
          </p:nvPr>
        </p:nvSpPr>
        <p:spPr/>
        <p:txBody>
          <a:bodyPr>
            <a:normAutofit lnSpcReduction="10000"/>
          </a:bodyPr>
          <a:lstStyle/>
          <a:p>
            <a:r>
              <a:rPr lang="en-US" b="0" i="0" dirty="0">
                <a:effectLst/>
                <a:latin typeface="Helvetica" panose="020B0604020202020204" pitchFamily="34" charset="0"/>
              </a:rPr>
              <a:t>Create a story showing the biggest gainers and losers in the financial markets. You can compare those movements to any economic data you wish. If you can import the data into Tableau, you can use it. </a:t>
            </a:r>
          </a:p>
          <a:p>
            <a:r>
              <a:rPr lang="en-US" dirty="0">
                <a:latin typeface="Helvetica" panose="020B0604020202020204" pitchFamily="34" charset="0"/>
              </a:rPr>
              <a:t>S</a:t>
            </a:r>
            <a:r>
              <a:rPr lang="en-US" b="0" i="0" dirty="0">
                <a:effectLst/>
                <a:latin typeface="Helvetica" panose="020B0604020202020204" pitchFamily="34" charset="0"/>
              </a:rPr>
              <a:t>elect any historical year (2012, 2019, 2020, etc.), preferably one that has a complete dataset. Which of the economic data series (and transformations of those series) you choose is up to you. You will not make any causal connections between the data. </a:t>
            </a:r>
          </a:p>
          <a:p>
            <a:r>
              <a:rPr lang="en-US" b="0" i="0" dirty="0">
                <a:effectLst/>
                <a:latin typeface="Helvetica" panose="020B0604020202020204" pitchFamily="34" charset="0"/>
              </a:rPr>
              <a:t>Comment on what you observe and lead the viewer through a storytelling arc through the events of the year.</a:t>
            </a:r>
          </a:p>
        </p:txBody>
      </p:sp>
    </p:spTree>
    <p:extLst>
      <p:ext uri="{BB962C8B-B14F-4D97-AF65-F5344CB8AC3E}">
        <p14:creationId xmlns:p14="http://schemas.microsoft.com/office/powerpoint/2010/main" val="2723499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F192-D83D-4174-A084-90CBE9EE517C}"/>
              </a:ext>
            </a:extLst>
          </p:cNvPr>
          <p:cNvSpPr>
            <a:spLocks noGrp="1"/>
          </p:cNvSpPr>
          <p:nvPr>
            <p:ph type="title"/>
          </p:nvPr>
        </p:nvSpPr>
        <p:spPr/>
        <p:txBody>
          <a:bodyPr/>
          <a:lstStyle/>
          <a:p>
            <a:r>
              <a:rPr lang="en-US" dirty="0"/>
              <a:t>Capstone Project (cont’d)</a:t>
            </a:r>
          </a:p>
        </p:txBody>
      </p:sp>
      <p:sp>
        <p:nvSpPr>
          <p:cNvPr id="3" name="Content Placeholder 2">
            <a:extLst>
              <a:ext uri="{FF2B5EF4-FFF2-40B4-BE49-F238E27FC236}">
                <a16:creationId xmlns:a16="http://schemas.microsoft.com/office/drawing/2014/main" id="{23D559B6-AD88-45AA-A370-2DE8A38C2E33}"/>
              </a:ext>
            </a:extLst>
          </p:cNvPr>
          <p:cNvSpPr>
            <a:spLocks noGrp="1"/>
          </p:cNvSpPr>
          <p:nvPr>
            <p:ph idx="1"/>
          </p:nvPr>
        </p:nvSpPr>
        <p:spPr/>
        <p:txBody>
          <a:bodyPr>
            <a:normAutofit fontScale="92500" lnSpcReduction="20000"/>
          </a:bodyPr>
          <a:lstStyle/>
          <a:p>
            <a:pPr marL="0" indent="0" algn="l">
              <a:buNone/>
            </a:pPr>
            <a:r>
              <a:rPr lang="en-US" dirty="0">
                <a:latin typeface="Helvetica" panose="020B0604020202020204" pitchFamily="34" charset="0"/>
              </a:rPr>
              <a:t>D</a:t>
            </a:r>
            <a:r>
              <a:rPr lang="en-US" b="0" i="0" dirty="0">
                <a:effectLst/>
                <a:latin typeface="Helvetica" panose="020B0604020202020204" pitchFamily="34" charset="0"/>
              </a:rPr>
              <a:t>escribe what happened that year covering at least:</a:t>
            </a:r>
          </a:p>
          <a:p>
            <a:pPr algn="l">
              <a:buFont typeface="Arial" panose="020B0604020202020204" pitchFamily="34" charset="0"/>
              <a:buChar char="•"/>
            </a:pPr>
            <a:r>
              <a:rPr lang="en-US" b="0" i="0" dirty="0">
                <a:effectLst/>
                <a:latin typeface="Helvetica" panose="020B0604020202020204" pitchFamily="34" charset="0"/>
              </a:rPr>
              <a:t>Changes in the market by S&amp;P 500 sector. Change should not be limited to price but at a minimum the change in the monthly return of the price series. You can look at the univariate or multivariate visualizations to notice any changes in the statistical properties or relationships. No change in their properties may be interesting as well if the economic environment drastically changed yet they remained constant. </a:t>
            </a:r>
          </a:p>
          <a:p>
            <a:pPr algn="l">
              <a:buFont typeface="Arial" panose="020B0604020202020204" pitchFamily="34" charset="0"/>
              <a:buChar char="•"/>
            </a:pPr>
            <a:r>
              <a:rPr lang="en-US" b="0" i="0" dirty="0">
                <a:effectLst/>
                <a:latin typeface="Helvetica" panose="020B0604020202020204" pitchFamily="34" charset="0"/>
              </a:rPr>
              <a:t>Changes in the overall S&amp;P500</a:t>
            </a:r>
          </a:p>
          <a:p>
            <a:pPr algn="l">
              <a:buFont typeface="Arial" panose="020B0604020202020204" pitchFamily="34" charset="0"/>
              <a:buChar char="•"/>
            </a:pPr>
            <a:r>
              <a:rPr lang="en-US" b="0" i="0" dirty="0">
                <a:effectLst/>
                <a:latin typeface="Helvetica" panose="020B0604020202020204" pitchFamily="34" charset="0"/>
              </a:rPr>
              <a:t>Time-dependent changes</a:t>
            </a:r>
          </a:p>
          <a:p>
            <a:pPr algn="l">
              <a:buFont typeface="Arial" panose="020B0604020202020204" pitchFamily="34" charset="0"/>
              <a:buChar char="•"/>
            </a:pPr>
            <a:r>
              <a:rPr lang="en-US" b="0" i="0" dirty="0">
                <a:effectLst/>
                <a:latin typeface="Helvetica" panose="020B0604020202020204" pitchFamily="34" charset="0"/>
              </a:rPr>
              <a:t>Relationships between market components</a:t>
            </a:r>
          </a:p>
          <a:p>
            <a:pPr algn="l">
              <a:buFont typeface="Arial" panose="020B0604020202020204" pitchFamily="34" charset="0"/>
              <a:buChar char="•"/>
            </a:pPr>
            <a:r>
              <a:rPr lang="en-US" b="0" i="0" dirty="0">
                <a:effectLst/>
                <a:latin typeface="Helvetica" panose="020B0604020202020204" pitchFamily="34" charset="0"/>
              </a:rPr>
              <a:t>Changes to any macroeconomic variables and their relationships to the market </a:t>
            </a:r>
          </a:p>
          <a:p>
            <a:endParaRPr lang="en-US" dirty="0"/>
          </a:p>
        </p:txBody>
      </p:sp>
    </p:spTree>
    <p:extLst>
      <p:ext uri="{BB962C8B-B14F-4D97-AF65-F5344CB8AC3E}">
        <p14:creationId xmlns:p14="http://schemas.microsoft.com/office/powerpoint/2010/main" val="258300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823D-8CDE-430A-977A-40418DE7BCA4}"/>
              </a:ext>
            </a:extLst>
          </p:cNvPr>
          <p:cNvSpPr>
            <a:spLocks noGrp="1"/>
          </p:cNvSpPr>
          <p:nvPr>
            <p:ph type="title"/>
          </p:nvPr>
        </p:nvSpPr>
        <p:spPr>
          <a:xfrm>
            <a:off x="648929" y="629266"/>
            <a:ext cx="3505495" cy="1622321"/>
          </a:xfrm>
        </p:spPr>
        <p:txBody>
          <a:bodyPr>
            <a:normAutofit/>
          </a:bodyPr>
          <a:lstStyle/>
          <a:p>
            <a:r>
              <a:rPr lang="en-US" dirty="0"/>
              <a:t>Creating a Story</a:t>
            </a:r>
          </a:p>
        </p:txBody>
      </p:sp>
      <p:sp>
        <p:nvSpPr>
          <p:cNvPr id="3" name="Content Placeholder 2">
            <a:extLst>
              <a:ext uri="{FF2B5EF4-FFF2-40B4-BE49-F238E27FC236}">
                <a16:creationId xmlns:a16="http://schemas.microsoft.com/office/drawing/2014/main" id="{9A25F1BD-0331-459B-93F7-21E3E44076D3}"/>
              </a:ext>
            </a:extLst>
          </p:cNvPr>
          <p:cNvSpPr>
            <a:spLocks noGrp="1"/>
          </p:cNvSpPr>
          <p:nvPr>
            <p:ph idx="1"/>
          </p:nvPr>
        </p:nvSpPr>
        <p:spPr>
          <a:xfrm>
            <a:off x="648931" y="2438400"/>
            <a:ext cx="3505494" cy="3785419"/>
          </a:xfrm>
        </p:spPr>
        <p:txBody>
          <a:bodyPr>
            <a:normAutofit/>
          </a:bodyPr>
          <a:lstStyle/>
          <a:p>
            <a:r>
              <a:rPr lang="en-US" sz="2000" dirty="0"/>
              <a:t>First challenge is to tell a story using only visual cues, annotations, and narrative structure.</a:t>
            </a:r>
          </a:p>
          <a:p>
            <a:r>
              <a:rPr lang="en-US" sz="2000" dirty="0">
                <a:solidFill>
                  <a:schemeClr val="accent4">
                    <a:lumMod val="20000"/>
                    <a:lumOff val="80000"/>
                  </a:schemeClr>
                </a:solidFill>
              </a:rPr>
              <a:t>For the capstone project, you can use </a:t>
            </a:r>
            <a:r>
              <a:rPr lang="en-US" sz="2000" b="1" dirty="0">
                <a:solidFill>
                  <a:schemeClr val="accent4">
                    <a:lumMod val="20000"/>
                    <a:lumOff val="80000"/>
                  </a:schemeClr>
                </a:solidFill>
              </a:rPr>
              <a:t>any</a:t>
            </a:r>
            <a:r>
              <a:rPr lang="en-US" sz="2000" dirty="0">
                <a:solidFill>
                  <a:schemeClr val="accent4">
                    <a:lumMod val="20000"/>
                    <a:lumOff val="80000"/>
                  </a:schemeClr>
                </a:solidFill>
              </a:rPr>
              <a:t> tools at your disposal, not just Tableau’s Story mode. </a:t>
            </a:r>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Ecommerce category growth during covid-19 pandemic">
            <a:extLst>
              <a:ext uri="{FF2B5EF4-FFF2-40B4-BE49-F238E27FC236}">
                <a16:creationId xmlns:a16="http://schemas.microsoft.com/office/drawing/2014/main" id="{B622A780-5FCC-4C3F-9B0A-A23F7C2661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04656" y="807593"/>
            <a:ext cx="5821742" cy="5239568"/>
          </a:xfrm>
          <a:prstGeom prst="rect">
            <a:avLst/>
          </a:prstGeom>
          <a:noFill/>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EA29A7B-23D1-4D5C-9469-12FD6DEBD6BA}"/>
              </a:ext>
            </a:extLst>
          </p:cNvPr>
          <p:cNvSpPr txBox="1"/>
          <p:nvPr/>
        </p:nvSpPr>
        <p:spPr>
          <a:xfrm>
            <a:off x="5504656" y="-44273"/>
            <a:ext cx="6096000" cy="646331"/>
          </a:xfrm>
          <a:prstGeom prst="rect">
            <a:avLst/>
          </a:prstGeom>
          <a:noFill/>
        </p:spPr>
        <p:txBody>
          <a:bodyPr wrap="square">
            <a:spAutoFit/>
          </a:bodyPr>
          <a:lstStyle/>
          <a:p>
            <a:r>
              <a:rPr lang="en-US" sz="1800" dirty="0">
                <a:solidFill>
                  <a:schemeClr val="bg1"/>
                </a:solidFill>
              </a:rPr>
              <a:t>Example: “The Pandemic Economy - What are Shoppers Buying Online During COVID-19?”</a:t>
            </a:r>
          </a:p>
        </p:txBody>
      </p:sp>
    </p:spTree>
    <p:extLst>
      <p:ext uri="{BB962C8B-B14F-4D97-AF65-F5344CB8AC3E}">
        <p14:creationId xmlns:p14="http://schemas.microsoft.com/office/powerpoint/2010/main" val="2501633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77CB8D1-5DCA-4F33-A14D-409891130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C50BF3-8533-4A44-BD87-41787EF0FE3B}"/>
              </a:ext>
            </a:extLst>
          </p:cNvPr>
          <p:cNvSpPr>
            <a:spLocks noGrp="1"/>
          </p:cNvSpPr>
          <p:nvPr>
            <p:ph type="title"/>
          </p:nvPr>
        </p:nvSpPr>
        <p:spPr>
          <a:xfrm>
            <a:off x="648929" y="629266"/>
            <a:ext cx="5120073" cy="1676603"/>
          </a:xfrm>
        </p:spPr>
        <p:txBody>
          <a:bodyPr>
            <a:normAutofit/>
          </a:bodyPr>
          <a:lstStyle/>
          <a:p>
            <a:r>
              <a:rPr lang="en-US" dirty="0"/>
              <a:t>Presentation</a:t>
            </a:r>
          </a:p>
        </p:txBody>
      </p:sp>
      <p:sp>
        <p:nvSpPr>
          <p:cNvPr id="3" name="Content Placeholder 2">
            <a:extLst>
              <a:ext uri="{FF2B5EF4-FFF2-40B4-BE49-F238E27FC236}">
                <a16:creationId xmlns:a16="http://schemas.microsoft.com/office/drawing/2014/main" id="{57630481-0FD1-4E9D-81C1-0714E143C051}"/>
              </a:ext>
            </a:extLst>
          </p:cNvPr>
          <p:cNvSpPr>
            <a:spLocks noGrp="1"/>
          </p:cNvSpPr>
          <p:nvPr>
            <p:ph idx="1"/>
          </p:nvPr>
        </p:nvSpPr>
        <p:spPr>
          <a:xfrm>
            <a:off x="648931" y="2438400"/>
            <a:ext cx="5113114" cy="3785419"/>
          </a:xfrm>
        </p:spPr>
        <p:txBody>
          <a:bodyPr>
            <a:normAutofit/>
          </a:bodyPr>
          <a:lstStyle/>
          <a:p>
            <a:r>
              <a:rPr lang="en-US" sz="2000" dirty="0"/>
              <a:t>The second part of the capstone project is to record a short (&lt;8 minute) presentation of your Module 7 story where you narrate and direct the audience through the key points. </a:t>
            </a:r>
          </a:p>
          <a:p>
            <a:r>
              <a:rPr lang="en-US" sz="2000" dirty="0"/>
              <a:t>You can use any tools you wish to record the presentation. </a:t>
            </a:r>
          </a:p>
        </p:txBody>
      </p:sp>
      <p:sp>
        <p:nvSpPr>
          <p:cNvPr id="18" name="Rectangle 17">
            <a:extLst>
              <a:ext uri="{FF2B5EF4-FFF2-40B4-BE49-F238E27FC236}">
                <a16:creationId xmlns:a16="http://schemas.microsoft.com/office/drawing/2014/main" id="{2FA7A195-03A4-44AB-A3D8-2507E2C9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41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9">
            <a:extLst>
              <a:ext uri="{FF2B5EF4-FFF2-40B4-BE49-F238E27FC236}">
                <a16:creationId xmlns:a16="http://schemas.microsoft.com/office/drawing/2014/main" id="{8F235346-20CC-4981-B836-23ECF1F4E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3465" y="559407"/>
            <a:ext cx="514148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4" descr="How the S&amp;P 500 Performed During Major Market Crashes">
            <a:extLst>
              <a:ext uri="{FF2B5EF4-FFF2-40B4-BE49-F238E27FC236}">
                <a16:creationId xmlns:a16="http://schemas.microsoft.com/office/drawing/2014/main" id="{6F63ECBF-318B-46B7-89C7-A86CA94C08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29938"/>
          <a:stretch/>
        </p:blipFill>
        <p:spPr bwMode="auto">
          <a:xfrm>
            <a:off x="6739337" y="722376"/>
            <a:ext cx="4809744" cy="541324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303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96F1-FD68-45D2-862C-1B06B64472E9}"/>
              </a:ext>
            </a:extLst>
          </p:cNvPr>
          <p:cNvSpPr>
            <a:spLocks noGrp="1"/>
          </p:cNvSpPr>
          <p:nvPr>
            <p:ph type="title"/>
          </p:nvPr>
        </p:nvSpPr>
        <p:spPr/>
        <p:txBody>
          <a:bodyPr/>
          <a:lstStyle/>
          <a:p>
            <a:r>
              <a:rPr lang="en-US" dirty="0"/>
              <a:t>Demos</a:t>
            </a:r>
          </a:p>
        </p:txBody>
      </p:sp>
      <p:sp>
        <p:nvSpPr>
          <p:cNvPr id="3" name="Content Placeholder 2">
            <a:extLst>
              <a:ext uri="{FF2B5EF4-FFF2-40B4-BE49-F238E27FC236}">
                <a16:creationId xmlns:a16="http://schemas.microsoft.com/office/drawing/2014/main" id="{855E4BAA-D27B-4F1C-B139-6495510EB4E7}"/>
              </a:ext>
            </a:extLst>
          </p:cNvPr>
          <p:cNvSpPr>
            <a:spLocks noGrp="1"/>
          </p:cNvSpPr>
          <p:nvPr>
            <p:ph idx="1"/>
          </p:nvPr>
        </p:nvSpPr>
        <p:spPr/>
        <p:txBody>
          <a:bodyPr/>
          <a:lstStyle/>
          <a:p>
            <a:r>
              <a:rPr lang="en-US" dirty="0"/>
              <a:t>Using Story mode</a:t>
            </a:r>
          </a:p>
          <a:p>
            <a:r>
              <a:rPr lang="en-US" dirty="0"/>
              <a:t>Example story</a:t>
            </a:r>
          </a:p>
        </p:txBody>
      </p:sp>
    </p:spTree>
    <p:extLst>
      <p:ext uri="{BB962C8B-B14F-4D97-AF65-F5344CB8AC3E}">
        <p14:creationId xmlns:p14="http://schemas.microsoft.com/office/powerpoint/2010/main" val="677260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94E84-5D61-49CC-9931-951447ED9438}"/>
              </a:ext>
            </a:extLst>
          </p:cNvPr>
          <p:cNvSpPr>
            <a:spLocks noGrp="1"/>
          </p:cNvSpPr>
          <p:nvPr>
            <p:ph type="title"/>
          </p:nvPr>
        </p:nvSpPr>
        <p:spPr/>
        <p:txBody>
          <a:bodyPr/>
          <a:lstStyle/>
          <a:p>
            <a:r>
              <a:rPr lang="en-US" dirty="0"/>
              <a:t>Next Session</a:t>
            </a:r>
          </a:p>
        </p:txBody>
      </p:sp>
      <p:sp>
        <p:nvSpPr>
          <p:cNvPr id="3" name="Content Placeholder 2">
            <a:extLst>
              <a:ext uri="{FF2B5EF4-FFF2-40B4-BE49-F238E27FC236}">
                <a16:creationId xmlns:a16="http://schemas.microsoft.com/office/drawing/2014/main" id="{4B6AA62B-ECD2-4DCD-BC42-BB7627798F1C}"/>
              </a:ext>
            </a:extLst>
          </p:cNvPr>
          <p:cNvSpPr>
            <a:spLocks noGrp="1"/>
          </p:cNvSpPr>
          <p:nvPr>
            <p:ph idx="1"/>
          </p:nvPr>
        </p:nvSpPr>
        <p:spPr/>
        <p:txBody>
          <a:bodyPr/>
          <a:lstStyle/>
          <a:p>
            <a:r>
              <a:rPr lang="en-US" dirty="0"/>
              <a:t>Additional information on the final project and presentation</a:t>
            </a:r>
          </a:p>
          <a:p>
            <a:r>
              <a:rPr lang="en-US" dirty="0"/>
              <a:t>Story creation</a:t>
            </a:r>
          </a:p>
          <a:p>
            <a:r>
              <a:rPr lang="en-US" dirty="0"/>
              <a:t>Course topic review</a:t>
            </a:r>
          </a:p>
          <a:p>
            <a:r>
              <a:rPr lang="en-US" dirty="0"/>
              <a:t>Open forum</a:t>
            </a:r>
          </a:p>
        </p:txBody>
      </p:sp>
    </p:spTree>
    <p:extLst>
      <p:ext uri="{BB962C8B-B14F-4D97-AF65-F5344CB8AC3E}">
        <p14:creationId xmlns:p14="http://schemas.microsoft.com/office/powerpoint/2010/main" val="2925822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4FAE-FE0D-7902-3A15-8FAFCA39D785}"/>
              </a:ext>
            </a:extLst>
          </p:cNvPr>
          <p:cNvSpPr>
            <a:spLocks noGrp="1"/>
          </p:cNvSpPr>
          <p:nvPr>
            <p:ph type="title"/>
          </p:nvPr>
        </p:nvSpPr>
        <p:spPr/>
        <p:txBody>
          <a:bodyPr>
            <a:normAutofit/>
          </a:bodyPr>
          <a:lstStyle/>
          <a:p>
            <a:r>
              <a:rPr lang="en-US" b="1" dirty="0"/>
              <a:t>Week 6 Data Density and Visual Understanding</a:t>
            </a:r>
          </a:p>
        </p:txBody>
      </p:sp>
      <p:sp>
        <p:nvSpPr>
          <p:cNvPr id="3" name="Content Placeholder 2">
            <a:extLst>
              <a:ext uri="{FF2B5EF4-FFF2-40B4-BE49-F238E27FC236}">
                <a16:creationId xmlns:a16="http://schemas.microsoft.com/office/drawing/2014/main" id="{CC711F5C-EB1C-87B7-CD99-72A51358CA8C}"/>
              </a:ext>
            </a:extLst>
          </p:cNvPr>
          <p:cNvSpPr>
            <a:spLocks noGrp="1"/>
          </p:cNvSpPr>
          <p:nvPr>
            <p:ph idx="1"/>
          </p:nvPr>
        </p:nvSpPr>
        <p:spPr/>
        <p:txBody>
          <a:bodyPr>
            <a:normAutofit fontScale="92500" lnSpcReduction="10000"/>
          </a:bodyPr>
          <a:lstStyle/>
          <a:p>
            <a:r>
              <a:rPr lang="en-US" b="1" dirty="0"/>
              <a:t>Instructions</a:t>
            </a:r>
            <a:r>
              <a:rPr lang="en-US" dirty="0"/>
              <a:t>: In order to monitor what is happening in the financial markets and the economy, you will create a descriptive analytics dashboard to keep track of the changes in the S&amp;P 500 market performance.</a:t>
            </a:r>
          </a:p>
          <a:p>
            <a:br>
              <a:rPr lang="en-US" dirty="0"/>
            </a:br>
            <a:r>
              <a:rPr lang="en-US" dirty="0"/>
              <a:t>Just as one uses a vehicle dashboard to assist their driving, diagnose the vehicle in real-time, and provide sensor data, financial and economic dashboards are similarly relied upon to provide up-to-date information to manage finances, diagnose economic risks, and determine policy. While it is tempting to cram as much information into the dashboard as possible, the objective of this dashboard is to provide an investor with a quick summary of what has happened in the past year (from current month to same month last year). </a:t>
            </a:r>
          </a:p>
        </p:txBody>
      </p:sp>
    </p:spTree>
    <p:extLst>
      <p:ext uri="{BB962C8B-B14F-4D97-AF65-F5344CB8AC3E}">
        <p14:creationId xmlns:p14="http://schemas.microsoft.com/office/powerpoint/2010/main" val="2513711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993AC-D4CE-7525-51EB-9491C9C6A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03470-8385-BE7A-3270-5B37FDDB2796}"/>
              </a:ext>
            </a:extLst>
          </p:cNvPr>
          <p:cNvSpPr>
            <a:spLocks noGrp="1"/>
          </p:cNvSpPr>
          <p:nvPr>
            <p:ph type="title"/>
          </p:nvPr>
        </p:nvSpPr>
        <p:spPr/>
        <p:txBody>
          <a:bodyPr>
            <a:noAutofit/>
          </a:bodyPr>
          <a:lstStyle/>
          <a:p>
            <a:r>
              <a:rPr lang="en-US" sz="3200" b="1" dirty="0"/>
              <a:t>Using any of the previous visualizations or calculations you have created up to this point, you will now create a dashboard that quickly answers:</a:t>
            </a:r>
          </a:p>
        </p:txBody>
      </p:sp>
      <p:sp>
        <p:nvSpPr>
          <p:cNvPr id="3" name="Content Placeholder 2">
            <a:extLst>
              <a:ext uri="{FF2B5EF4-FFF2-40B4-BE49-F238E27FC236}">
                <a16:creationId xmlns:a16="http://schemas.microsoft.com/office/drawing/2014/main" id="{8B2E9386-F4A5-47B8-F807-5B44F657D372}"/>
              </a:ext>
            </a:extLst>
          </p:cNvPr>
          <p:cNvSpPr>
            <a:spLocks noGrp="1"/>
          </p:cNvSpPr>
          <p:nvPr>
            <p:ph idx="1"/>
          </p:nvPr>
        </p:nvSpPr>
        <p:spPr/>
        <p:txBody>
          <a:bodyPr/>
          <a:lstStyle/>
          <a:p>
            <a:pPr lvl="0"/>
            <a:r>
              <a:rPr lang="en-US" b="1" dirty="0"/>
              <a:t>Question 1. </a:t>
            </a:r>
            <a:r>
              <a:rPr lang="en-US" dirty="0"/>
              <a:t>What happened in the financial markets to the index and each sector by day, month, year-to-date in absolute terms and in terms of change from the previous period?</a:t>
            </a:r>
          </a:p>
          <a:p>
            <a:pPr lvl="0"/>
            <a:r>
              <a:rPr lang="en-US" b="1" dirty="0"/>
              <a:t>Question 2. </a:t>
            </a:r>
            <a:r>
              <a:rPr lang="en-US" dirty="0"/>
              <a:t>What happened in the economic data by month (if exists), quarter, year in terms of change from the previous period?</a:t>
            </a:r>
          </a:p>
          <a:p>
            <a:pPr lvl="0"/>
            <a:r>
              <a:rPr lang="en-US" b="1" dirty="0"/>
              <a:t>Question 3. </a:t>
            </a:r>
            <a:r>
              <a:rPr lang="en-US" dirty="0"/>
              <a:t>Which sectors gained or lost the most by month, and for the rolling year?</a:t>
            </a:r>
          </a:p>
          <a:p>
            <a:pPr lvl="0"/>
            <a:r>
              <a:rPr lang="en-US" b="1" dirty="0"/>
              <a:t>Question 4. </a:t>
            </a:r>
            <a:r>
              <a:rPr lang="en-US" dirty="0"/>
              <a:t>Which economic statistics showed the biggest movements by quarter, year, and group them by the type of statistic they measure?</a:t>
            </a:r>
          </a:p>
          <a:p>
            <a:endParaRPr lang="en-US" dirty="0"/>
          </a:p>
        </p:txBody>
      </p:sp>
    </p:spTree>
    <p:extLst>
      <p:ext uri="{BB962C8B-B14F-4D97-AF65-F5344CB8AC3E}">
        <p14:creationId xmlns:p14="http://schemas.microsoft.com/office/powerpoint/2010/main" val="3384895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0EA6-191A-C0A3-CA59-2CF0E2371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3D080-AD22-2240-BE68-268BF9C8CE57}"/>
              </a:ext>
            </a:extLst>
          </p:cNvPr>
          <p:cNvSpPr>
            <a:spLocks noGrp="1"/>
          </p:cNvSpPr>
          <p:nvPr>
            <p:ph type="title"/>
          </p:nvPr>
        </p:nvSpPr>
        <p:spPr/>
        <p:txBody>
          <a:bodyPr>
            <a:normAutofit/>
          </a:bodyPr>
          <a:lstStyle/>
          <a:p>
            <a:pPr lvl="0"/>
            <a:r>
              <a:rPr lang="en-US" b="1" dirty="0"/>
              <a:t>3 additional visualizations. For these visualizations, state:</a:t>
            </a:r>
          </a:p>
        </p:txBody>
      </p:sp>
      <p:sp>
        <p:nvSpPr>
          <p:cNvPr id="3" name="Content Placeholder 2">
            <a:extLst>
              <a:ext uri="{FF2B5EF4-FFF2-40B4-BE49-F238E27FC236}">
                <a16:creationId xmlns:a16="http://schemas.microsoft.com/office/drawing/2014/main" id="{A618FE4A-5E53-584C-A504-4D9DA89D6974}"/>
              </a:ext>
            </a:extLst>
          </p:cNvPr>
          <p:cNvSpPr>
            <a:spLocks noGrp="1"/>
          </p:cNvSpPr>
          <p:nvPr>
            <p:ph idx="1"/>
          </p:nvPr>
        </p:nvSpPr>
        <p:spPr/>
        <p:txBody>
          <a:bodyPr>
            <a:normAutofit lnSpcReduction="10000"/>
          </a:bodyPr>
          <a:lstStyle/>
          <a:p>
            <a:pPr lvl="1"/>
            <a:r>
              <a:rPr lang="en-US" dirty="0"/>
              <a:t>What the question and purpose(s) of the visualization are hoping to answer or show?</a:t>
            </a:r>
          </a:p>
          <a:p>
            <a:pPr lvl="1"/>
            <a:r>
              <a:rPr lang="en-US" dirty="0"/>
              <a:t>What calculations or transformations were necessary?</a:t>
            </a:r>
          </a:p>
          <a:p>
            <a:pPr lvl="1"/>
            <a:r>
              <a:rPr lang="en-US" dirty="0"/>
              <a:t>What is the focal point of the graph?  </a:t>
            </a:r>
          </a:p>
          <a:p>
            <a:br>
              <a:rPr lang="en-US" dirty="0"/>
            </a:br>
            <a:r>
              <a:rPr lang="en-US" dirty="0"/>
              <a:t>Assume that the target audience is a general audience largely informed about the markets.  The goal is to provide a single resource that presents all of the information in a concise and visually effective manner.  </a:t>
            </a:r>
          </a:p>
          <a:p>
            <a:br>
              <a:rPr lang="en-US" dirty="0"/>
            </a:br>
            <a:endParaRPr lang="en-US" dirty="0"/>
          </a:p>
        </p:txBody>
      </p:sp>
    </p:spTree>
    <p:extLst>
      <p:ext uri="{BB962C8B-B14F-4D97-AF65-F5344CB8AC3E}">
        <p14:creationId xmlns:p14="http://schemas.microsoft.com/office/powerpoint/2010/main" val="25808612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25066</TotalTime>
  <Words>1333</Words>
  <Application>Microsoft Macintosh PowerPoint</Application>
  <PresentationFormat>Widescreen</PresentationFormat>
  <Paragraphs>120</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Helvetica</vt:lpstr>
      <vt:lpstr>Office Theme</vt:lpstr>
      <vt:lpstr>Virtual Session 6</vt:lpstr>
      <vt:lpstr>Announcements</vt:lpstr>
      <vt:lpstr>Agenda</vt:lpstr>
      <vt:lpstr>Agenda</vt:lpstr>
      <vt:lpstr>Agenda</vt:lpstr>
      <vt:lpstr>Module 6: The Dashboard Challenge</vt:lpstr>
      <vt:lpstr>Macroeconomic and financial dashboard</vt:lpstr>
      <vt:lpstr>Visual design</vt:lpstr>
      <vt:lpstr>Example</vt:lpstr>
      <vt:lpstr>Data Sources</vt:lpstr>
      <vt:lpstr>Recall: Design questions (from last module)</vt:lpstr>
      <vt:lpstr>Dashboard Tips</vt:lpstr>
      <vt:lpstr>Dashboarding basics in Tableau</vt:lpstr>
      <vt:lpstr>Agenda</vt:lpstr>
      <vt:lpstr>Capstone Project</vt:lpstr>
      <vt:lpstr>Capstone Project (cont’d)</vt:lpstr>
      <vt:lpstr>Creating a Story</vt:lpstr>
      <vt:lpstr>Presentation</vt:lpstr>
      <vt:lpstr>Demos</vt:lpstr>
      <vt:lpstr>Next Session</vt:lpstr>
      <vt:lpstr>Week 6 Data Density and Visual Understanding</vt:lpstr>
      <vt:lpstr>Using any of the previous visualizations or calculations you have created up to this point, you will now create a dashboard that quickly answers:</vt:lpstr>
      <vt:lpstr>3 additional visualizations. For these visualizations, state: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Visualization</dc:title>
  <dc:creator>James Yang</dc:creator>
  <cp:lastModifiedBy>Yu Zhang</cp:lastModifiedBy>
  <cp:revision>593</cp:revision>
  <dcterms:created xsi:type="dcterms:W3CDTF">2021-04-13T18:02:33Z</dcterms:created>
  <dcterms:modified xsi:type="dcterms:W3CDTF">2026-07-25T02:27:28Z</dcterms:modified>
</cp:coreProperties>
</file>