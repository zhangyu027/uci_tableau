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6"/>
  </p:notesMasterIdLst>
  <p:sldIdLst>
    <p:sldId id="700" r:id="rId2"/>
    <p:sldId id="828" r:id="rId3"/>
    <p:sldId id="829" r:id="rId4"/>
    <p:sldId id="832" r:id="rId5"/>
    <p:sldId id="833" r:id="rId6"/>
    <p:sldId id="258" r:id="rId7"/>
    <p:sldId id="726" r:id="rId8"/>
    <p:sldId id="830" r:id="rId9"/>
    <p:sldId id="728" r:id="rId10"/>
    <p:sldId id="295" r:id="rId11"/>
    <p:sldId id="280" r:id="rId12"/>
    <p:sldId id="831" r:id="rId13"/>
    <p:sldId id="291" r:id="rId14"/>
    <p:sldId id="822" r:id="rId15"/>
    <p:sldId id="837" r:id="rId16"/>
    <p:sldId id="827" r:id="rId17"/>
    <p:sldId id="838" r:id="rId18"/>
    <p:sldId id="840" r:id="rId19"/>
    <p:sldId id="839" r:id="rId20"/>
    <p:sldId id="843" r:id="rId21"/>
    <p:sldId id="841" r:id="rId22"/>
    <p:sldId id="842" r:id="rId23"/>
    <p:sldId id="798" r:id="rId24"/>
    <p:sldId id="800" r:id="rId25"/>
    <p:sldId id="803" r:id="rId26"/>
    <p:sldId id="804" r:id="rId27"/>
    <p:sldId id="805" r:id="rId28"/>
    <p:sldId id="821" r:id="rId29"/>
    <p:sldId id="801" r:id="rId30"/>
    <p:sldId id="806" r:id="rId31"/>
    <p:sldId id="807" r:id="rId32"/>
    <p:sldId id="809" r:id="rId33"/>
    <p:sldId id="810" r:id="rId34"/>
    <p:sldId id="844"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Yang" initials="JY" lastIdx="1" clrIdx="0">
    <p:extLst>
      <p:ext uri="{19B8F6BF-5375-455C-9EA6-DF929625EA0E}">
        <p15:presenceInfo xmlns:p15="http://schemas.microsoft.com/office/powerpoint/2012/main" userId="ad9827a8d1333f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97" autoAdjust="0"/>
    <p:restoredTop sz="77381"/>
  </p:normalViewPr>
  <p:slideViewPr>
    <p:cSldViewPr snapToGrid="0">
      <p:cViewPr varScale="1">
        <p:scale>
          <a:sx n="76" d="100"/>
          <a:sy n="76" d="100"/>
        </p:scale>
        <p:origin x="164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71BE76-E5E3-495E-8918-94447CA0A245}" type="doc">
      <dgm:prSet loTypeId="urn:microsoft.com/office/officeart/2016/7/layout/RepeatingBendingProcessNew" loCatId="process" qsTypeId="urn:microsoft.com/office/officeart/2005/8/quickstyle/simple4" qsCatId="simple" csTypeId="urn:microsoft.com/office/officeart/2005/8/colors/colorful2" csCatId="colorful" phldr="1"/>
      <dgm:spPr/>
      <dgm:t>
        <a:bodyPr/>
        <a:lstStyle/>
        <a:p>
          <a:endParaRPr lang="en-US"/>
        </a:p>
      </dgm:t>
    </dgm:pt>
    <dgm:pt modelId="{070EB7D2-B0FF-4638-B9AF-AF302BB7C168}">
      <dgm:prSet>
        <dgm:style>
          <a:lnRef idx="0">
            <a:schemeClr val="accent2"/>
          </a:lnRef>
          <a:fillRef idx="3">
            <a:schemeClr val="accent2"/>
          </a:fillRef>
          <a:effectRef idx="3">
            <a:schemeClr val="accent2"/>
          </a:effectRef>
          <a:fontRef idx="minor">
            <a:schemeClr val="lt1"/>
          </a:fontRef>
        </dgm:style>
      </dgm:prSet>
      <dgm:spPr/>
      <dgm:t>
        <a:bodyPr/>
        <a:lstStyle/>
        <a:p>
          <a:r>
            <a:rPr lang="en-US" dirty="0"/>
            <a:t>Introduction and Environment Setup</a:t>
          </a:r>
        </a:p>
      </dgm:t>
    </dgm:pt>
    <dgm:pt modelId="{DDC6CEBD-E028-41B2-8A70-F2D4143FC811}" type="parTrans" cxnId="{FEDF9D62-B44F-4AA5-88C3-F4C1C7FBE2FF}">
      <dgm:prSet/>
      <dgm:spPr/>
      <dgm:t>
        <a:bodyPr/>
        <a:lstStyle/>
        <a:p>
          <a:endParaRPr lang="en-US"/>
        </a:p>
      </dgm:t>
    </dgm:pt>
    <dgm:pt modelId="{302B8A97-C736-418B-A1FD-CE3351A89AE7}" type="sibTrans" cxnId="{FEDF9D62-B44F-4AA5-88C3-F4C1C7FBE2FF}">
      <dgm:prSet/>
      <dgm:spPr/>
      <dgm:t>
        <a:bodyPr/>
        <a:lstStyle/>
        <a:p>
          <a:endParaRPr lang="en-US"/>
        </a:p>
      </dgm:t>
    </dgm:pt>
    <dgm:pt modelId="{B94BBFE3-607A-40B7-9C65-47A0870AA02B}">
      <dgm:prSet>
        <dgm:style>
          <a:lnRef idx="0">
            <a:schemeClr val="accent2"/>
          </a:lnRef>
          <a:fillRef idx="3">
            <a:schemeClr val="accent2"/>
          </a:fillRef>
          <a:effectRef idx="3">
            <a:schemeClr val="accent2"/>
          </a:effectRef>
          <a:fontRef idx="minor">
            <a:schemeClr val="lt1"/>
          </a:fontRef>
        </dgm:style>
      </dgm:prSet>
      <dgm:spPr/>
      <dgm:t>
        <a:bodyPr/>
        <a:lstStyle/>
        <a:p>
          <a:r>
            <a:rPr lang="en-US" dirty="0"/>
            <a:t>Univariate Analysis/Descriptive Analytics</a:t>
          </a:r>
        </a:p>
      </dgm:t>
    </dgm:pt>
    <dgm:pt modelId="{0A4EF674-AFD7-4532-A6C7-F686D272CAB2}" type="parTrans" cxnId="{CFF9AF98-6BAD-4141-A9DA-06796329DBE0}">
      <dgm:prSet/>
      <dgm:spPr/>
      <dgm:t>
        <a:bodyPr/>
        <a:lstStyle/>
        <a:p>
          <a:endParaRPr lang="en-US"/>
        </a:p>
      </dgm:t>
    </dgm:pt>
    <dgm:pt modelId="{917F6BCF-53F3-4ABB-893A-711DDDA02674}" type="sibTrans" cxnId="{CFF9AF98-6BAD-4141-A9DA-06796329DBE0}">
      <dgm:prSet/>
      <dgm:spPr/>
      <dgm:t>
        <a:bodyPr/>
        <a:lstStyle/>
        <a:p>
          <a:endParaRPr lang="en-US"/>
        </a:p>
      </dgm:t>
    </dgm:pt>
    <dgm:pt modelId="{B0C9C85E-72FF-49A1-B302-C63A0C8FC25F}">
      <dgm:prSet/>
      <dgm:spPr>
        <a:effectLst>
          <a:outerShdw blurRad="50800" dist="38100" dir="2700000" algn="tl" rotWithShape="0">
            <a:prstClr val="black">
              <a:alpha val="40000"/>
            </a:prstClr>
          </a:outerShdw>
        </a:effectLst>
      </dgm:spPr>
      <dgm:t>
        <a:bodyPr/>
        <a:lstStyle/>
        <a:p>
          <a:r>
            <a:rPr lang="en-US" b="0" dirty="0"/>
            <a:t>Multivariate Analysis/Diagnostic Analytics</a:t>
          </a:r>
        </a:p>
      </dgm:t>
    </dgm:pt>
    <dgm:pt modelId="{8671ADC0-15D2-49C5-886C-3FACB03E68B5}" type="parTrans" cxnId="{19A73352-8138-43EE-84F8-99993BF6E7D3}">
      <dgm:prSet/>
      <dgm:spPr/>
      <dgm:t>
        <a:bodyPr/>
        <a:lstStyle/>
        <a:p>
          <a:endParaRPr lang="en-US"/>
        </a:p>
      </dgm:t>
    </dgm:pt>
    <dgm:pt modelId="{185AC366-AB4F-4E2B-A787-442B586F4F2F}" type="sibTrans" cxnId="{19A73352-8138-43EE-84F8-99993BF6E7D3}">
      <dgm:prSet/>
      <dgm:spPr/>
      <dgm:t>
        <a:bodyPr/>
        <a:lstStyle/>
        <a:p>
          <a:endParaRPr lang="en-US"/>
        </a:p>
      </dgm:t>
    </dgm:pt>
    <dgm:pt modelId="{A48BA986-6468-447E-842D-041D32B3F66F}">
      <dgm:prSet/>
      <dgm:spPr>
        <a:effectLst>
          <a:outerShdw blurRad="50800" dist="38100" dir="2700000" algn="tl" rotWithShape="0">
            <a:prstClr val="black">
              <a:alpha val="40000"/>
            </a:prstClr>
          </a:outerShdw>
        </a:effectLst>
      </dgm:spPr>
      <dgm:t>
        <a:bodyPr/>
        <a:lstStyle/>
        <a:p>
          <a:r>
            <a:rPr lang="en-US" b="0" dirty="0"/>
            <a:t>Networks and Spatial Analytics/Descriptive + Diagnostic Analytics</a:t>
          </a:r>
        </a:p>
      </dgm:t>
    </dgm:pt>
    <dgm:pt modelId="{CDF4D36E-BF42-4566-824D-9A595F606486}" type="parTrans" cxnId="{F2A725A3-011E-4263-9501-EC032F634730}">
      <dgm:prSet/>
      <dgm:spPr/>
      <dgm:t>
        <a:bodyPr/>
        <a:lstStyle/>
        <a:p>
          <a:endParaRPr lang="en-US"/>
        </a:p>
      </dgm:t>
    </dgm:pt>
    <dgm:pt modelId="{B8EDD083-F44C-41E6-BA44-258854AA85C7}" type="sibTrans" cxnId="{F2A725A3-011E-4263-9501-EC032F634730}">
      <dgm:prSet/>
      <dgm:spPr/>
      <dgm:t>
        <a:bodyPr/>
        <a:lstStyle/>
        <a:p>
          <a:endParaRPr lang="en-US"/>
        </a:p>
      </dgm:t>
    </dgm:pt>
    <dgm:pt modelId="{8F6776E0-BFFC-48BB-910A-93F2A487F96A}">
      <dgm:prSet/>
      <dgm:spPr>
        <a:effectLst>
          <a:outerShdw blurRad="50800" dist="38100" dir="2700000" algn="tl" rotWithShape="0">
            <a:prstClr val="black">
              <a:alpha val="40000"/>
            </a:prstClr>
          </a:outerShdw>
        </a:effectLst>
      </dgm:spPr>
      <dgm:t>
        <a:bodyPr/>
        <a:lstStyle/>
        <a:p>
          <a:r>
            <a:rPr lang="en-US" b="0" dirty="0"/>
            <a:t>Time Series Analysis</a:t>
          </a:r>
        </a:p>
      </dgm:t>
    </dgm:pt>
    <dgm:pt modelId="{4B473B22-E3BB-44D5-A382-D2D38803737F}" type="parTrans" cxnId="{47A2B71D-13CE-4836-8079-3FCDC8F27B83}">
      <dgm:prSet/>
      <dgm:spPr/>
      <dgm:t>
        <a:bodyPr/>
        <a:lstStyle/>
        <a:p>
          <a:endParaRPr lang="en-US"/>
        </a:p>
      </dgm:t>
    </dgm:pt>
    <dgm:pt modelId="{D1034894-A5C6-4196-B8B1-47ED14B4E7DA}" type="sibTrans" cxnId="{47A2B71D-13CE-4836-8079-3FCDC8F27B83}">
      <dgm:prSet/>
      <dgm:spPr/>
      <dgm:t>
        <a:bodyPr/>
        <a:lstStyle/>
        <a:p>
          <a:endParaRPr lang="en-US"/>
        </a:p>
      </dgm:t>
    </dgm:pt>
    <dgm:pt modelId="{10881B5B-0AF0-45B9-8107-74C8839E931E}">
      <dgm:prSet/>
      <dgm:spPr>
        <a:effectLst>
          <a:outerShdw blurRad="50800" dist="38100" dir="2700000" algn="tl" rotWithShape="0">
            <a:prstClr val="black">
              <a:alpha val="40000"/>
            </a:prstClr>
          </a:outerShdw>
        </a:effectLst>
      </dgm:spPr>
      <dgm:t>
        <a:bodyPr/>
        <a:lstStyle/>
        <a:p>
          <a:r>
            <a:rPr lang="en-US" dirty="0"/>
            <a:t>Interactive Visual Analytics</a:t>
          </a:r>
        </a:p>
      </dgm:t>
    </dgm:pt>
    <dgm:pt modelId="{0CEB5599-5B54-4A46-AF79-03B68905038A}" type="parTrans" cxnId="{A41AA8AA-9460-4D9A-9AE0-5620A11E5E9A}">
      <dgm:prSet/>
      <dgm:spPr/>
      <dgm:t>
        <a:bodyPr/>
        <a:lstStyle/>
        <a:p>
          <a:endParaRPr lang="en-US"/>
        </a:p>
      </dgm:t>
    </dgm:pt>
    <dgm:pt modelId="{6F0D2EED-7A28-4A19-AD1D-0FE889F44A0B}" type="sibTrans" cxnId="{A41AA8AA-9460-4D9A-9AE0-5620A11E5E9A}">
      <dgm:prSet/>
      <dgm:spPr/>
      <dgm:t>
        <a:bodyPr/>
        <a:lstStyle/>
        <a:p>
          <a:endParaRPr lang="en-US"/>
        </a:p>
      </dgm:t>
    </dgm:pt>
    <dgm:pt modelId="{B681D000-3439-47ED-97A6-9DEF69577639}">
      <dgm:prSet/>
      <dgm:spPr>
        <a:effectLst>
          <a:innerShdw blurRad="114300">
            <a:prstClr val="black"/>
          </a:innerShdw>
        </a:effectLst>
      </dgm:spPr>
      <dgm:t>
        <a:bodyPr/>
        <a:lstStyle/>
        <a:p>
          <a:r>
            <a:rPr lang="en-US" b="0" dirty="0"/>
            <a:t>Storytelling + Prescriptive Analytics</a:t>
          </a:r>
        </a:p>
      </dgm:t>
    </dgm:pt>
    <dgm:pt modelId="{74275B59-144C-43ED-BC39-B8BECCB50CF8}" type="parTrans" cxnId="{F24CE34D-FAAE-43BB-ABC9-0A1469610A4B}">
      <dgm:prSet/>
      <dgm:spPr/>
      <dgm:t>
        <a:bodyPr/>
        <a:lstStyle/>
        <a:p>
          <a:endParaRPr lang="en-US"/>
        </a:p>
      </dgm:t>
    </dgm:pt>
    <dgm:pt modelId="{59ADFF8A-D3E6-480E-8CE0-87DCDABF99E8}" type="sibTrans" cxnId="{F24CE34D-FAAE-43BB-ABC9-0A1469610A4B}">
      <dgm:prSet/>
      <dgm:spPr/>
      <dgm:t>
        <a:bodyPr/>
        <a:lstStyle/>
        <a:p>
          <a:endParaRPr lang="en-US"/>
        </a:p>
      </dgm:t>
    </dgm:pt>
    <dgm:pt modelId="{3C2B21B7-FC51-4B7D-91EF-152089FADBAB}">
      <dgm:prSet/>
      <dgm:spPr>
        <a:effectLst>
          <a:outerShdw blurRad="50800" dist="38100" dir="2700000" algn="tl" rotWithShape="0">
            <a:prstClr val="black">
              <a:alpha val="40000"/>
            </a:prstClr>
          </a:outerShdw>
        </a:effectLst>
      </dgm:spPr>
      <dgm:t>
        <a:bodyPr/>
        <a:lstStyle/>
        <a:p>
          <a:r>
            <a:rPr lang="en-US" dirty="0"/>
            <a:t>Advanced Topics</a:t>
          </a:r>
        </a:p>
      </dgm:t>
    </dgm:pt>
    <dgm:pt modelId="{2A5C75DE-D5CF-4770-AD6D-E14F58BEE34F}" type="parTrans" cxnId="{6087FA29-2ADD-4F98-9D92-6A508ED198BC}">
      <dgm:prSet/>
      <dgm:spPr/>
      <dgm:t>
        <a:bodyPr/>
        <a:lstStyle/>
        <a:p>
          <a:endParaRPr lang="en-US"/>
        </a:p>
      </dgm:t>
    </dgm:pt>
    <dgm:pt modelId="{B05941A4-8352-4C39-A886-5EFFC577A4A1}" type="sibTrans" cxnId="{6087FA29-2ADD-4F98-9D92-6A508ED198BC}">
      <dgm:prSet/>
      <dgm:spPr/>
      <dgm:t>
        <a:bodyPr/>
        <a:lstStyle/>
        <a:p>
          <a:endParaRPr lang="en-US"/>
        </a:p>
      </dgm:t>
    </dgm:pt>
    <dgm:pt modelId="{41805969-4587-47BD-B3C2-A05E04014D64}" type="pres">
      <dgm:prSet presAssocID="{7371BE76-E5E3-495E-8918-94447CA0A245}" presName="Name0" presStyleCnt="0">
        <dgm:presLayoutVars>
          <dgm:dir/>
          <dgm:resizeHandles val="exact"/>
        </dgm:presLayoutVars>
      </dgm:prSet>
      <dgm:spPr/>
    </dgm:pt>
    <dgm:pt modelId="{24486862-8B72-481D-BD6F-019944B01B09}" type="pres">
      <dgm:prSet presAssocID="{070EB7D2-B0FF-4638-B9AF-AF302BB7C168}" presName="node" presStyleLbl="node1" presStyleIdx="0" presStyleCnt="8" custLinFactNeighborX="607">
        <dgm:presLayoutVars>
          <dgm:bulletEnabled val="1"/>
        </dgm:presLayoutVars>
      </dgm:prSet>
      <dgm:spPr/>
    </dgm:pt>
    <dgm:pt modelId="{F118C0A4-CDB6-409E-8DF6-F002CF8143EC}" type="pres">
      <dgm:prSet presAssocID="{302B8A97-C736-418B-A1FD-CE3351A89AE7}" presName="sibTrans" presStyleLbl="sibTrans1D1" presStyleIdx="0" presStyleCnt="7"/>
      <dgm:spPr/>
    </dgm:pt>
    <dgm:pt modelId="{B4710AE6-6B33-4F8B-B553-688DCB74F57C}" type="pres">
      <dgm:prSet presAssocID="{302B8A97-C736-418B-A1FD-CE3351A89AE7}" presName="connectorText" presStyleLbl="sibTrans1D1" presStyleIdx="0" presStyleCnt="7"/>
      <dgm:spPr/>
    </dgm:pt>
    <dgm:pt modelId="{D8C2E31A-7146-494A-A9FB-A2DE0634FD2A}" type="pres">
      <dgm:prSet presAssocID="{B94BBFE3-607A-40B7-9C65-47A0870AA02B}" presName="node" presStyleLbl="node1" presStyleIdx="1" presStyleCnt="8" custLinFactNeighborX="607">
        <dgm:presLayoutVars>
          <dgm:bulletEnabled val="1"/>
        </dgm:presLayoutVars>
      </dgm:prSet>
      <dgm:spPr/>
    </dgm:pt>
    <dgm:pt modelId="{FFDE22AD-4DAC-4E98-8543-A1830F42F9D0}" type="pres">
      <dgm:prSet presAssocID="{917F6BCF-53F3-4ABB-893A-711DDDA02674}" presName="sibTrans" presStyleLbl="sibTrans1D1" presStyleIdx="1" presStyleCnt="7"/>
      <dgm:spPr/>
    </dgm:pt>
    <dgm:pt modelId="{F51D916A-0739-4256-9E33-89C4DEFDCF2C}" type="pres">
      <dgm:prSet presAssocID="{917F6BCF-53F3-4ABB-893A-711DDDA02674}" presName="connectorText" presStyleLbl="sibTrans1D1" presStyleIdx="1" presStyleCnt="7"/>
      <dgm:spPr/>
    </dgm:pt>
    <dgm:pt modelId="{50CCF83E-03C3-4E3B-AC6A-ABF26BAB2CC8}" type="pres">
      <dgm:prSet presAssocID="{B0C9C85E-72FF-49A1-B302-C63A0C8FC25F}" presName="node" presStyleLbl="node1" presStyleIdx="2" presStyleCnt="8" custLinFactNeighborX="607">
        <dgm:presLayoutVars>
          <dgm:bulletEnabled val="1"/>
        </dgm:presLayoutVars>
      </dgm:prSet>
      <dgm:spPr/>
    </dgm:pt>
    <dgm:pt modelId="{1676D500-3407-4775-B8D4-0B589B6A633B}" type="pres">
      <dgm:prSet presAssocID="{185AC366-AB4F-4E2B-A787-442B586F4F2F}" presName="sibTrans" presStyleLbl="sibTrans1D1" presStyleIdx="2" presStyleCnt="7"/>
      <dgm:spPr/>
    </dgm:pt>
    <dgm:pt modelId="{6C037529-2816-43D5-9E0F-00356BA0B2FD}" type="pres">
      <dgm:prSet presAssocID="{185AC366-AB4F-4E2B-A787-442B586F4F2F}" presName="connectorText" presStyleLbl="sibTrans1D1" presStyleIdx="2" presStyleCnt="7"/>
      <dgm:spPr/>
    </dgm:pt>
    <dgm:pt modelId="{4DFE5A2D-CFC4-40E9-A091-01DD3B7BE30E}" type="pres">
      <dgm:prSet presAssocID="{A48BA986-6468-447E-842D-041D32B3F66F}" presName="node" presStyleLbl="node1" presStyleIdx="3" presStyleCnt="8" custLinFactNeighborX="607">
        <dgm:presLayoutVars>
          <dgm:bulletEnabled val="1"/>
        </dgm:presLayoutVars>
      </dgm:prSet>
      <dgm:spPr/>
    </dgm:pt>
    <dgm:pt modelId="{3DDA95C1-0014-41BE-859B-AC738EBCFF49}" type="pres">
      <dgm:prSet presAssocID="{B8EDD083-F44C-41E6-BA44-258854AA85C7}" presName="sibTrans" presStyleLbl="sibTrans1D1" presStyleIdx="3" presStyleCnt="7"/>
      <dgm:spPr/>
    </dgm:pt>
    <dgm:pt modelId="{8F451400-2DDB-44DD-A2AA-387D7BCC0D30}" type="pres">
      <dgm:prSet presAssocID="{B8EDD083-F44C-41E6-BA44-258854AA85C7}" presName="connectorText" presStyleLbl="sibTrans1D1" presStyleIdx="3" presStyleCnt="7"/>
      <dgm:spPr/>
    </dgm:pt>
    <dgm:pt modelId="{DED66163-0896-4DAF-8302-9E80B3EE7CC3}" type="pres">
      <dgm:prSet presAssocID="{8F6776E0-BFFC-48BB-910A-93F2A487F96A}" presName="node" presStyleLbl="node1" presStyleIdx="4" presStyleCnt="8" custLinFactNeighborX="607">
        <dgm:presLayoutVars>
          <dgm:bulletEnabled val="1"/>
        </dgm:presLayoutVars>
      </dgm:prSet>
      <dgm:spPr/>
    </dgm:pt>
    <dgm:pt modelId="{2BA9B027-1487-4986-9542-011C268A9362}" type="pres">
      <dgm:prSet presAssocID="{D1034894-A5C6-4196-B8B1-47ED14B4E7DA}" presName="sibTrans" presStyleLbl="sibTrans1D1" presStyleIdx="4" presStyleCnt="7"/>
      <dgm:spPr/>
    </dgm:pt>
    <dgm:pt modelId="{68409E67-47A8-4671-A40E-A2E1F024E8E7}" type="pres">
      <dgm:prSet presAssocID="{D1034894-A5C6-4196-B8B1-47ED14B4E7DA}" presName="connectorText" presStyleLbl="sibTrans1D1" presStyleIdx="4" presStyleCnt="7"/>
      <dgm:spPr/>
    </dgm:pt>
    <dgm:pt modelId="{CCCDA745-F379-4EA4-B443-903D2D7361AC}" type="pres">
      <dgm:prSet presAssocID="{10881B5B-0AF0-45B9-8107-74C8839E931E}" presName="node" presStyleLbl="node1" presStyleIdx="5" presStyleCnt="8">
        <dgm:presLayoutVars>
          <dgm:bulletEnabled val="1"/>
        </dgm:presLayoutVars>
      </dgm:prSet>
      <dgm:spPr/>
    </dgm:pt>
    <dgm:pt modelId="{9B7F617D-DB8F-4CCD-B446-C935691119D1}" type="pres">
      <dgm:prSet presAssocID="{6F0D2EED-7A28-4A19-AD1D-0FE889F44A0B}" presName="sibTrans" presStyleLbl="sibTrans1D1" presStyleIdx="5" presStyleCnt="7"/>
      <dgm:spPr/>
    </dgm:pt>
    <dgm:pt modelId="{014365C2-9E8F-439D-97CF-CA8C6F4B0133}" type="pres">
      <dgm:prSet presAssocID="{6F0D2EED-7A28-4A19-AD1D-0FE889F44A0B}" presName="connectorText" presStyleLbl="sibTrans1D1" presStyleIdx="5" presStyleCnt="7"/>
      <dgm:spPr/>
    </dgm:pt>
    <dgm:pt modelId="{0E9122EA-85B7-4733-858C-E80481AB5B42}" type="pres">
      <dgm:prSet presAssocID="{B681D000-3439-47ED-97A6-9DEF69577639}" presName="node" presStyleLbl="node1" presStyleIdx="6" presStyleCnt="8">
        <dgm:presLayoutVars>
          <dgm:bulletEnabled val="1"/>
        </dgm:presLayoutVars>
      </dgm:prSet>
      <dgm:spPr/>
    </dgm:pt>
    <dgm:pt modelId="{7E73BBEF-9A18-4C1F-AB86-3CE02DB9B4A4}" type="pres">
      <dgm:prSet presAssocID="{59ADFF8A-D3E6-480E-8CE0-87DCDABF99E8}" presName="sibTrans" presStyleLbl="sibTrans1D1" presStyleIdx="6" presStyleCnt="7"/>
      <dgm:spPr/>
    </dgm:pt>
    <dgm:pt modelId="{A4E97108-D16B-481D-A492-88603F2AE0DE}" type="pres">
      <dgm:prSet presAssocID="{59ADFF8A-D3E6-480E-8CE0-87DCDABF99E8}" presName="connectorText" presStyleLbl="sibTrans1D1" presStyleIdx="6" presStyleCnt="7"/>
      <dgm:spPr/>
    </dgm:pt>
    <dgm:pt modelId="{7670E739-0C93-4B89-9BC4-6CBB11C83F39}" type="pres">
      <dgm:prSet presAssocID="{3C2B21B7-FC51-4B7D-91EF-152089FADBAB}" presName="node" presStyleLbl="node1" presStyleIdx="7" presStyleCnt="8">
        <dgm:presLayoutVars>
          <dgm:bulletEnabled val="1"/>
        </dgm:presLayoutVars>
      </dgm:prSet>
      <dgm:spPr/>
    </dgm:pt>
  </dgm:ptLst>
  <dgm:cxnLst>
    <dgm:cxn modelId="{8092B400-34D3-401D-9A43-7CB593148E32}" type="presOf" srcId="{59ADFF8A-D3E6-480E-8CE0-87DCDABF99E8}" destId="{A4E97108-D16B-481D-A492-88603F2AE0DE}" srcOrd="1" destOrd="0" presId="urn:microsoft.com/office/officeart/2016/7/layout/RepeatingBendingProcessNew"/>
    <dgm:cxn modelId="{9DE48310-FED4-4106-BFEA-B13A715282C4}" type="presOf" srcId="{B8EDD083-F44C-41E6-BA44-258854AA85C7}" destId="{8F451400-2DDB-44DD-A2AA-387D7BCC0D30}" srcOrd="1" destOrd="0" presId="urn:microsoft.com/office/officeart/2016/7/layout/RepeatingBendingProcessNew"/>
    <dgm:cxn modelId="{2BE3CE10-7D07-4F33-BF51-5C15ED21298E}" type="presOf" srcId="{917F6BCF-53F3-4ABB-893A-711DDDA02674}" destId="{F51D916A-0739-4256-9E33-89C4DEFDCF2C}" srcOrd="1" destOrd="0" presId="urn:microsoft.com/office/officeart/2016/7/layout/RepeatingBendingProcessNew"/>
    <dgm:cxn modelId="{47A2B71D-13CE-4836-8079-3FCDC8F27B83}" srcId="{7371BE76-E5E3-495E-8918-94447CA0A245}" destId="{8F6776E0-BFFC-48BB-910A-93F2A487F96A}" srcOrd="4" destOrd="0" parTransId="{4B473B22-E3BB-44D5-A382-D2D38803737F}" sibTransId="{D1034894-A5C6-4196-B8B1-47ED14B4E7DA}"/>
    <dgm:cxn modelId="{6087FA29-2ADD-4F98-9D92-6A508ED198BC}" srcId="{7371BE76-E5E3-495E-8918-94447CA0A245}" destId="{3C2B21B7-FC51-4B7D-91EF-152089FADBAB}" srcOrd="7" destOrd="0" parTransId="{2A5C75DE-D5CF-4770-AD6D-E14F58BEE34F}" sibTransId="{B05941A4-8352-4C39-A886-5EFFC577A4A1}"/>
    <dgm:cxn modelId="{E3BC9D2F-34DC-4844-A266-E2A5238C6418}" type="presOf" srcId="{8F6776E0-BFFC-48BB-910A-93F2A487F96A}" destId="{DED66163-0896-4DAF-8302-9E80B3EE7CC3}" srcOrd="0" destOrd="0" presId="urn:microsoft.com/office/officeart/2016/7/layout/RepeatingBendingProcessNew"/>
    <dgm:cxn modelId="{0C90BB30-4F7B-4B9C-863C-0992B85E35F4}" type="presOf" srcId="{302B8A97-C736-418B-A1FD-CE3351A89AE7}" destId="{F118C0A4-CDB6-409E-8DF6-F002CF8143EC}" srcOrd="0" destOrd="0" presId="urn:microsoft.com/office/officeart/2016/7/layout/RepeatingBendingProcessNew"/>
    <dgm:cxn modelId="{6762E638-F77F-4D95-802F-CFB29754F050}" type="presOf" srcId="{070EB7D2-B0FF-4638-B9AF-AF302BB7C168}" destId="{24486862-8B72-481D-BD6F-019944B01B09}" srcOrd="0" destOrd="0" presId="urn:microsoft.com/office/officeart/2016/7/layout/RepeatingBendingProcessNew"/>
    <dgm:cxn modelId="{F24CE34D-FAAE-43BB-ABC9-0A1469610A4B}" srcId="{7371BE76-E5E3-495E-8918-94447CA0A245}" destId="{B681D000-3439-47ED-97A6-9DEF69577639}" srcOrd="6" destOrd="0" parTransId="{74275B59-144C-43ED-BC39-B8BECCB50CF8}" sibTransId="{59ADFF8A-D3E6-480E-8CE0-87DCDABF99E8}"/>
    <dgm:cxn modelId="{19A73352-8138-43EE-84F8-99993BF6E7D3}" srcId="{7371BE76-E5E3-495E-8918-94447CA0A245}" destId="{B0C9C85E-72FF-49A1-B302-C63A0C8FC25F}" srcOrd="2" destOrd="0" parTransId="{8671ADC0-15D2-49C5-886C-3FACB03E68B5}" sibTransId="{185AC366-AB4F-4E2B-A787-442B586F4F2F}"/>
    <dgm:cxn modelId="{AA1FF755-D5BC-4295-A237-33BD57FE5158}" type="presOf" srcId="{185AC366-AB4F-4E2B-A787-442B586F4F2F}" destId="{1676D500-3407-4775-B8D4-0B589B6A633B}" srcOrd="0" destOrd="0" presId="urn:microsoft.com/office/officeart/2016/7/layout/RepeatingBendingProcessNew"/>
    <dgm:cxn modelId="{FEDF9D62-B44F-4AA5-88C3-F4C1C7FBE2FF}" srcId="{7371BE76-E5E3-495E-8918-94447CA0A245}" destId="{070EB7D2-B0FF-4638-B9AF-AF302BB7C168}" srcOrd="0" destOrd="0" parTransId="{DDC6CEBD-E028-41B2-8A70-F2D4143FC811}" sibTransId="{302B8A97-C736-418B-A1FD-CE3351A89AE7}"/>
    <dgm:cxn modelId="{194CF462-2BA3-4594-8C1D-4B985B7C8E09}" type="presOf" srcId="{6F0D2EED-7A28-4A19-AD1D-0FE889F44A0B}" destId="{9B7F617D-DB8F-4CCD-B446-C935691119D1}" srcOrd="0" destOrd="0" presId="urn:microsoft.com/office/officeart/2016/7/layout/RepeatingBendingProcessNew"/>
    <dgm:cxn modelId="{FEDB7065-D08F-4932-B36C-101B3CA6C6E9}" type="presOf" srcId="{10881B5B-0AF0-45B9-8107-74C8839E931E}" destId="{CCCDA745-F379-4EA4-B443-903D2D7361AC}" srcOrd="0" destOrd="0" presId="urn:microsoft.com/office/officeart/2016/7/layout/RepeatingBendingProcessNew"/>
    <dgm:cxn modelId="{D2FDFE76-4E5D-4BD2-84F5-651AF1291B6B}" type="presOf" srcId="{D1034894-A5C6-4196-B8B1-47ED14B4E7DA}" destId="{2BA9B027-1487-4986-9542-011C268A9362}" srcOrd="0" destOrd="0" presId="urn:microsoft.com/office/officeart/2016/7/layout/RepeatingBendingProcessNew"/>
    <dgm:cxn modelId="{232E5177-8D04-424D-BB25-AB47D4036FF5}" type="presOf" srcId="{185AC366-AB4F-4E2B-A787-442B586F4F2F}" destId="{6C037529-2816-43D5-9E0F-00356BA0B2FD}" srcOrd="1" destOrd="0" presId="urn:microsoft.com/office/officeart/2016/7/layout/RepeatingBendingProcessNew"/>
    <dgm:cxn modelId="{7A98B97B-C13F-483B-8028-99FD30ED4DFA}" type="presOf" srcId="{302B8A97-C736-418B-A1FD-CE3351A89AE7}" destId="{B4710AE6-6B33-4F8B-B553-688DCB74F57C}" srcOrd="1" destOrd="0" presId="urn:microsoft.com/office/officeart/2016/7/layout/RepeatingBendingProcessNew"/>
    <dgm:cxn modelId="{604D757E-1713-4BD3-B789-C19FFA65749D}" type="presOf" srcId="{B681D000-3439-47ED-97A6-9DEF69577639}" destId="{0E9122EA-85B7-4733-858C-E80481AB5B42}" srcOrd="0" destOrd="0" presId="urn:microsoft.com/office/officeart/2016/7/layout/RepeatingBendingProcessNew"/>
    <dgm:cxn modelId="{582EB887-D261-4048-8FE8-C3901FD1DC36}" type="presOf" srcId="{D1034894-A5C6-4196-B8B1-47ED14B4E7DA}" destId="{68409E67-47A8-4671-A40E-A2E1F024E8E7}" srcOrd="1" destOrd="0" presId="urn:microsoft.com/office/officeart/2016/7/layout/RepeatingBendingProcessNew"/>
    <dgm:cxn modelId="{1081C988-4BEF-4F56-A5E2-E333538A662A}" type="presOf" srcId="{917F6BCF-53F3-4ABB-893A-711DDDA02674}" destId="{FFDE22AD-4DAC-4E98-8543-A1830F42F9D0}" srcOrd="0" destOrd="0" presId="urn:microsoft.com/office/officeart/2016/7/layout/RepeatingBendingProcessNew"/>
    <dgm:cxn modelId="{CFF9AF98-6BAD-4141-A9DA-06796329DBE0}" srcId="{7371BE76-E5E3-495E-8918-94447CA0A245}" destId="{B94BBFE3-607A-40B7-9C65-47A0870AA02B}" srcOrd="1" destOrd="0" parTransId="{0A4EF674-AFD7-4532-A6C7-F686D272CAB2}" sibTransId="{917F6BCF-53F3-4ABB-893A-711DDDA02674}"/>
    <dgm:cxn modelId="{D2344FA0-4928-49AF-9D61-CF02455169D7}" type="presOf" srcId="{59ADFF8A-D3E6-480E-8CE0-87DCDABF99E8}" destId="{7E73BBEF-9A18-4C1F-AB86-3CE02DB9B4A4}" srcOrd="0" destOrd="0" presId="urn:microsoft.com/office/officeart/2016/7/layout/RepeatingBendingProcessNew"/>
    <dgm:cxn modelId="{F2A725A3-011E-4263-9501-EC032F634730}" srcId="{7371BE76-E5E3-495E-8918-94447CA0A245}" destId="{A48BA986-6468-447E-842D-041D32B3F66F}" srcOrd="3" destOrd="0" parTransId="{CDF4D36E-BF42-4566-824D-9A595F606486}" sibTransId="{B8EDD083-F44C-41E6-BA44-258854AA85C7}"/>
    <dgm:cxn modelId="{A41AA8AA-9460-4D9A-9AE0-5620A11E5E9A}" srcId="{7371BE76-E5E3-495E-8918-94447CA0A245}" destId="{10881B5B-0AF0-45B9-8107-74C8839E931E}" srcOrd="5" destOrd="0" parTransId="{0CEB5599-5B54-4A46-AF79-03B68905038A}" sibTransId="{6F0D2EED-7A28-4A19-AD1D-0FE889F44A0B}"/>
    <dgm:cxn modelId="{644163BF-250D-4853-A561-BB352BC886A6}" type="presOf" srcId="{7371BE76-E5E3-495E-8918-94447CA0A245}" destId="{41805969-4587-47BD-B3C2-A05E04014D64}" srcOrd="0" destOrd="0" presId="urn:microsoft.com/office/officeart/2016/7/layout/RepeatingBendingProcessNew"/>
    <dgm:cxn modelId="{49E989D4-B76F-4D3F-A3B2-E1AF11AF473B}" type="presOf" srcId="{3C2B21B7-FC51-4B7D-91EF-152089FADBAB}" destId="{7670E739-0C93-4B89-9BC4-6CBB11C83F39}" srcOrd="0" destOrd="0" presId="urn:microsoft.com/office/officeart/2016/7/layout/RepeatingBendingProcessNew"/>
    <dgm:cxn modelId="{C941C2D5-FCC8-4AE5-9C90-113912F82F93}" type="presOf" srcId="{B8EDD083-F44C-41E6-BA44-258854AA85C7}" destId="{3DDA95C1-0014-41BE-859B-AC738EBCFF49}" srcOrd="0" destOrd="0" presId="urn:microsoft.com/office/officeart/2016/7/layout/RepeatingBendingProcessNew"/>
    <dgm:cxn modelId="{D30F06E0-16F7-48EB-AE3E-2405D9DEE14B}" type="presOf" srcId="{B94BBFE3-607A-40B7-9C65-47A0870AA02B}" destId="{D8C2E31A-7146-494A-A9FB-A2DE0634FD2A}" srcOrd="0" destOrd="0" presId="urn:microsoft.com/office/officeart/2016/7/layout/RepeatingBendingProcessNew"/>
    <dgm:cxn modelId="{40B6ECE3-B284-40E6-BC0D-C5A889400B1A}" type="presOf" srcId="{6F0D2EED-7A28-4A19-AD1D-0FE889F44A0B}" destId="{014365C2-9E8F-439D-97CF-CA8C6F4B0133}" srcOrd="1" destOrd="0" presId="urn:microsoft.com/office/officeart/2016/7/layout/RepeatingBendingProcessNew"/>
    <dgm:cxn modelId="{F1ED99F0-0F5E-41FF-A222-2851A7011A31}" type="presOf" srcId="{B0C9C85E-72FF-49A1-B302-C63A0C8FC25F}" destId="{50CCF83E-03C3-4E3B-AC6A-ABF26BAB2CC8}" srcOrd="0" destOrd="0" presId="urn:microsoft.com/office/officeart/2016/7/layout/RepeatingBendingProcessNew"/>
    <dgm:cxn modelId="{4EA9CFF4-495A-4DC1-BC15-32488C79EF7F}" type="presOf" srcId="{A48BA986-6468-447E-842D-041D32B3F66F}" destId="{4DFE5A2D-CFC4-40E9-A091-01DD3B7BE30E}" srcOrd="0" destOrd="0" presId="urn:microsoft.com/office/officeart/2016/7/layout/RepeatingBendingProcessNew"/>
    <dgm:cxn modelId="{14A5241B-17F6-4B84-A203-CD9B96DE7DDC}" type="presParOf" srcId="{41805969-4587-47BD-B3C2-A05E04014D64}" destId="{24486862-8B72-481D-BD6F-019944B01B09}" srcOrd="0" destOrd="0" presId="urn:microsoft.com/office/officeart/2016/7/layout/RepeatingBendingProcessNew"/>
    <dgm:cxn modelId="{9208E1CD-3C09-409D-ABB0-09145A59F937}" type="presParOf" srcId="{41805969-4587-47BD-B3C2-A05E04014D64}" destId="{F118C0A4-CDB6-409E-8DF6-F002CF8143EC}" srcOrd="1" destOrd="0" presId="urn:microsoft.com/office/officeart/2016/7/layout/RepeatingBendingProcessNew"/>
    <dgm:cxn modelId="{C7464603-20CB-4C4F-9134-033BDBE7D4F1}" type="presParOf" srcId="{F118C0A4-CDB6-409E-8DF6-F002CF8143EC}" destId="{B4710AE6-6B33-4F8B-B553-688DCB74F57C}" srcOrd="0" destOrd="0" presId="urn:microsoft.com/office/officeart/2016/7/layout/RepeatingBendingProcessNew"/>
    <dgm:cxn modelId="{EDB0B287-826A-4C12-BE10-4D314D3ECBBF}" type="presParOf" srcId="{41805969-4587-47BD-B3C2-A05E04014D64}" destId="{D8C2E31A-7146-494A-A9FB-A2DE0634FD2A}" srcOrd="2" destOrd="0" presId="urn:microsoft.com/office/officeart/2016/7/layout/RepeatingBendingProcessNew"/>
    <dgm:cxn modelId="{A750E520-820B-4B4A-82A5-BB75DA9C81DF}" type="presParOf" srcId="{41805969-4587-47BD-B3C2-A05E04014D64}" destId="{FFDE22AD-4DAC-4E98-8543-A1830F42F9D0}" srcOrd="3" destOrd="0" presId="urn:microsoft.com/office/officeart/2016/7/layout/RepeatingBendingProcessNew"/>
    <dgm:cxn modelId="{AC460703-DB51-43B0-964B-94BFE479612E}" type="presParOf" srcId="{FFDE22AD-4DAC-4E98-8543-A1830F42F9D0}" destId="{F51D916A-0739-4256-9E33-89C4DEFDCF2C}" srcOrd="0" destOrd="0" presId="urn:microsoft.com/office/officeart/2016/7/layout/RepeatingBendingProcessNew"/>
    <dgm:cxn modelId="{F0315099-C7F4-4612-BBEF-449D1DC8CBE2}" type="presParOf" srcId="{41805969-4587-47BD-B3C2-A05E04014D64}" destId="{50CCF83E-03C3-4E3B-AC6A-ABF26BAB2CC8}" srcOrd="4" destOrd="0" presId="urn:microsoft.com/office/officeart/2016/7/layout/RepeatingBendingProcessNew"/>
    <dgm:cxn modelId="{AB5EA13E-1D71-477C-810E-D019660D1DC0}" type="presParOf" srcId="{41805969-4587-47BD-B3C2-A05E04014D64}" destId="{1676D500-3407-4775-B8D4-0B589B6A633B}" srcOrd="5" destOrd="0" presId="urn:microsoft.com/office/officeart/2016/7/layout/RepeatingBendingProcessNew"/>
    <dgm:cxn modelId="{6632DFAF-1A27-4C89-9BE0-3F828E990126}" type="presParOf" srcId="{1676D500-3407-4775-B8D4-0B589B6A633B}" destId="{6C037529-2816-43D5-9E0F-00356BA0B2FD}" srcOrd="0" destOrd="0" presId="urn:microsoft.com/office/officeart/2016/7/layout/RepeatingBendingProcessNew"/>
    <dgm:cxn modelId="{D3FB0455-EEAF-4567-9ECA-D82C139233E8}" type="presParOf" srcId="{41805969-4587-47BD-B3C2-A05E04014D64}" destId="{4DFE5A2D-CFC4-40E9-A091-01DD3B7BE30E}" srcOrd="6" destOrd="0" presId="urn:microsoft.com/office/officeart/2016/7/layout/RepeatingBendingProcessNew"/>
    <dgm:cxn modelId="{C4356625-7E02-4675-BBD4-6273DC2A53CD}" type="presParOf" srcId="{41805969-4587-47BD-B3C2-A05E04014D64}" destId="{3DDA95C1-0014-41BE-859B-AC738EBCFF49}" srcOrd="7" destOrd="0" presId="urn:microsoft.com/office/officeart/2016/7/layout/RepeatingBendingProcessNew"/>
    <dgm:cxn modelId="{E23EC312-7364-4B55-9683-4CFFF87BB334}" type="presParOf" srcId="{3DDA95C1-0014-41BE-859B-AC738EBCFF49}" destId="{8F451400-2DDB-44DD-A2AA-387D7BCC0D30}" srcOrd="0" destOrd="0" presId="urn:microsoft.com/office/officeart/2016/7/layout/RepeatingBendingProcessNew"/>
    <dgm:cxn modelId="{03137ACC-8197-4418-A41B-282CC9488D5D}" type="presParOf" srcId="{41805969-4587-47BD-B3C2-A05E04014D64}" destId="{DED66163-0896-4DAF-8302-9E80B3EE7CC3}" srcOrd="8" destOrd="0" presId="urn:microsoft.com/office/officeart/2016/7/layout/RepeatingBendingProcessNew"/>
    <dgm:cxn modelId="{2A4EC9FA-7D65-4CD3-93DC-C0ECDC448BF6}" type="presParOf" srcId="{41805969-4587-47BD-B3C2-A05E04014D64}" destId="{2BA9B027-1487-4986-9542-011C268A9362}" srcOrd="9" destOrd="0" presId="urn:microsoft.com/office/officeart/2016/7/layout/RepeatingBendingProcessNew"/>
    <dgm:cxn modelId="{FAA1C861-A97C-4E84-8380-F6163EEB4CF7}" type="presParOf" srcId="{2BA9B027-1487-4986-9542-011C268A9362}" destId="{68409E67-47A8-4671-A40E-A2E1F024E8E7}" srcOrd="0" destOrd="0" presId="urn:microsoft.com/office/officeart/2016/7/layout/RepeatingBendingProcessNew"/>
    <dgm:cxn modelId="{9F80C3B1-8A60-4A63-99D8-28CC129E7231}" type="presParOf" srcId="{41805969-4587-47BD-B3C2-A05E04014D64}" destId="{CCCDA745-F379-4EA4-B443-903D2D7361AC}" srcOrd="10" destOrd="0" presId="urn:microsoft.com/office/officeart/2016/7/layout/RepeatingBendingProcessNew"/>
    <dgm:cxn modelId="{DE1740F5-4A2D-4907-AD45-BE0B202805DC}" type="presParOf" srcId="{41805969-4587-47BD-B3C2-A05E04014D64}" destId="{9B7F617D-DB8F-4CCD-B446-C935691119D1}" srcOrd="11" destOrd="0" presId="urn:microsoft.com/office/officeart/2016/7/layout/RepeatingBendingProcessNew"/>
    <dgm:cxn modelId="{A037C3D1-EB9F-4BCF-8613-55AB9C1023F1}" type="presParOf" srcId="{9B7F617D-DB8F-4CCD-B446-C935691119D1}" destId="{014365C2-9E8F-439D-97CF-CA8C6F4B0133}" srcOrd="0" destOrd="0" presId="urn:microsoft.com/office/officeart/2016/7/layout/RepeatingBendingProcessNew"/>
    <dgm:cxn modelId="{739578A9-1C64-4576-9E68-EBB88F9F5163}" type="presParOf" srcId="{41805969-4587-47BD-B3C2-A05E04014D64}" destId="{0E9122EA-85B7-4733-858C-E80481AB5B42}" srcOrd="12" destOrd="0" presId="urn:microsoft.com/office/officeart/2016/7/layout/RepeatingBendingProcessNew"/>
    <dgm:cxn modelId="{7360FA89-6FD6-4155-97D9-03A3CDCAAE49}" type="presParOf" srcId="{41805969-4587-47BD-B3C2-A05E04014D64}" destId="{7E73BBEF-9A18-4C1F-AB86-3CE02DB9B4A4}" srcOrd="13" destOrd="0" presId="urn:microsoft.com/office/officeart/2016/7/layout/RepeatingBendingProcessNew"/>
    <dgm:cxn modelId="{10EFA90A-822E-4939-995B-5248D07CDA2D}" type="presParOf" srcId="{7E73BBEF-9A18-4C1F-AB86-3CE02DB9B4A4}" destId="{A4E97108-D16B-481D-A492-88603F2AE0DE}" srcOrd="0" destOrd="0" presId="urn:microsoft.com/office/officeart/2016/7/layout/RepeatingBendingProcessNew"/>
    <dgm:cxn modelId="{E82D012A-6BE8-44E3-A1B3-6BF3DFA82889}" type="presParOf" srcId="{41805969-4587-47BD-B3C2-A05E04014D64}" destId="{7670E739-0C93-4B89-9BC4-6CBB11C83F39}"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829E05-C397-45F3-BC4E-0A0F11430F20}"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32640EE8-0740-4946-B65A-D3666C6A13A8}">
      <dgm:prSet/>
      <dgm:spPr/>
      <dgm:t>
        <a:bodyPr/>
        <a:lstStyle/>
        <a:p>
          <a:r>
            <a:rPr lang="en-US" b="1"/>
            <a:t>Have</a:t>
          </a:r>
        </a:p>
      </dgm:t>
    </dgm:pt>
    <dgm:pt modelId="{C6035271-8CD0-41FC-B702-4E93ED69D956}" type="parTrans" cxnId="{4B7FC74A-2C33-438F-863D-2C7DB63C9B0B}">
      <dgm:prSet/>
      <dgm:spPr/>
      <dgm:t>
        <a:bodyPr/>
        <a:lstStyle/>
        <a:p>
          <a:endParaRPr lang="en-US"/>
        </a:p>
      </dgm:t>
    </dgm:pt>
    <dgm:pt modelId="{97987026-E6D8-4F0F-91B6-C4D7B3A2DC43}" type="sibTrans" cxnId="{4B7FC74A-2C33-438F-863D-2C7DB63C9B0B}">
      <dgm:prSet/>
      <dgm:spPr/>
      <dgm:t>
        <a:bodyPr/>
        <a:lstStyle/>
        <a:p>
          <a:endParaRPr lang="en-US"/>
        </a:p>
      </dgm:t>
    </dgm:pt>
    <dgm:pt modelId="{65BA580E-124E-4275-AB1C-727C4115A637}">
      <dgm:prSet/>
      <dgm:spPr/>
      <dgm:t>
        <a:bodyPr/>
        <a:lstStyle/>
        <a:p>
          <a:r>
            <a:rPr lang="en-US" dirty="0"/>
            <a:t>Have a clear purpose</a:t>
          </a:r>
        </a:p>
      </dgm:t>
    </dgm:pt>
    <dgm:pt modelId="{D7FF71A3-2707-40BB-A0CF-E1D05E89C1D4}" type="parTrans" cxnId="{FDB7496B-DFF7-4ED3-87E8-251E6DE40DD0}">
      <dgm:prSet/>
      <dgm:spPr/>
      <dgm:t>
        <a:bodyPr/>
        <a:lstStyle/>
        <a:p>
          <a:endParaRPr lang="en-US"/>
        </a:p>
      </dgm:t>
    </dgm:pt>
    <dgm:pt modelId="{EFC652BA-A46F-4F83-AA06-459764A7BE36}" type="sibTrans" cxnId="{FDB7496B-DFF7-4ED3-87E8-251E6DE40DD0}">
      <dgm:prSet/>
      <dgm:spPr/>
      <dgm:t>
        <a:bodyPr/>
        <a:lstStyle/>
        <a:p>
          <a:endParaRPr lang="en-US"/>
        </a:p>
      </dgm:t>
    </dgm:pt>
    <dgm:pt modelId="{87E8E992-00D5-49DC-8660-EE1D7CDB77B2}">
      <dgm:prSet/>
      <dgm:spPr/>
      <dgm:t>
        <a:bodyPr/>
        <a:lstStyle/>
        <a:p>
          <a:r>
            <a:rPr lang="en-US" dirty="0"/>
            <a:t>Why do you need a visualization?</a:t>
          </a:r>
        </a:p>
      </dgm:t>
    </dgm:pt>
    <dgm:pt modelId="{61F29D90-E122-4369-AD2F-877AD8B223F9}" type="parTrans" cxnId="{BC9198F2-91F5-4889-9068-E1A90F0285F1}">
      <dgm:prSet/>
      <dgm:spPr/>
      <dgm:t>
        <a:bodyPr/>
        <a:lstStyle/>
        <a:p>
          <a:endParaRPr lang="en-US"/>
        </a:p>
      </dgm:t>
    </dgm:pt>
    <dgm:pt modelId="{E48E83F1-D1BB-499A-9EAA-03D0BED6F83D}" type="sibTrans" cxnId="{BC9198F2-91F5-4889-9068-E1A90F0285F1}">
      <dgm:prSet/>
      <dgm:spPr/>
      <dgm:t>
        <a:bodyPr/>
        <a:lstStyle/>
        <a:p>
          <a:endParaRPr lang="en-US"/>
        </a:p>
      </dgm:t>
    </dgm:pt>
    <dgm:pt modelId="{367AEEA6-14DD-4BB7-8647-B863AF86F5C2}">
      <dgm:prSet/>
      <dgm:spPr/>
      <dgm:t>
        <a:bodyPr/>
        <a:lstStyle/>
        <a:p>
          <a:r>
            <a:rPr lang="en-US" dirty="0"/>
            <a:t>Who is the intended audience?</a:t>
          </a:r>
        </a:p>
      </dgm:t>
    </dgm:pt>
    <dgm:pt modelId="{CC43BDF8-CEBA-430F-896E-966DC5AE60C4}" type="parTrans" cxnId="{66FD794E-A93D-4FBA-8A58-14D495B7E6C1}">
      <dgm:prSet/>
      <dgm:spPr/>
      <dgm:t>
        <a:bodyPr/>
        <a:lstStyle/>
        <a:p>
          <a:endParaRPr lang="en-US"/>
        </a:p>
      </dgm:t>
    </dgm:pt>
    <dgm:pt modelId="{AFC94EE9-AD3F-43DD-8972-15032E91FACE}" type="sibTrans" cxnId="{66FD794E-A93D-4FBA-8A58-14D495B7E6C1}">
      <dgm:prSet/>
      <dgm:spPr/>
      <dgm:t>
        <a:bodyPr/>
        <a:lstStyle/>
        <a:p>
          <a:endParaRPr lang="en-US"/>
        </a:p>
      </dgm:t>
    </dgm:pt>
    <dgm:pt modelId="{4453E36F-E6DA-490B-9BD7-F181C943B214}">
      <dgm:prSet/>
      <dgm:spPr/>
      <dgm:t>
        <a:bodyPr/>
        <a:lstStyle/>
        <a:p>
          <a:r>
            <a:rPr lang="en-US" dirty="0"/>
            <a:t>Where is the visualization going to live?</a:t>
          </a:r>
        </a:p>
      </dgm:t>
    </dgm:pt>
    <dgm:pt modelId="{436712AA-2BA2-4D13-B87C-4C86077DEA64}" type="parTrans" cxnId="{9C5E660B-E249-411E-A1F2-B7FFD408D914}">
      <dgm:prSet/>
      <dgm:spPr/>
      <dgm:t>
        <a:bodyPr/>
        <a:lstStyle/>
        <a:p>
          <a:endParaRPr lang="en-US"/>
        </a:p>
      </dgm:t>
    </dgm:pt>
    <dgm:pt modelId="{AA2A5248-817C-42FB-B9E1-D38B49ACA036}" type="sibTrans" cxnId="{9C5E660B-E249-411E-A1F2-B7FFD408D914}">
      <dgm:prSet/>
      <dgm:spPr/>
      <dgm:t>
        <a:bodyPr/>
        <a:lstStyle/>
        <a:p>
          <a:endParaRPr lang="en-US"/>
        </a:p>
      </dgm:t>
    </dgm:pt>
    <dgm:pt modelId="{10684D16-1963-4CF0-B8A9-D1EFABFE2F02}">
      <dgm:prSet/>
      <dgm:spPr/>
      <dgm:t>
        <a:bodyPr/>
        <a:lstStyle/>
        <a:p>
          <a:r>
            <a:rPr lang="en-US" b="1"/>
            <a:t>Show</a:t>
          </a:r>
        </a:p>
      </dgm:t>
    </dgm:pt>
    <dgm:pt modelId="{7D33592B-3029-4FDD-9149-43A799EE2BE5}" type="parTrans" cxnId="{9335373C-6892-4047-AF18-7F8DA691165F}">
      <dgm:prSet/>
      <dgm:spPr/>
      <dgm:t>
        <a:bodyPr/>
        <a:lstStyle/>
        <a:p>
          <a:endParaRPr lang="en-US"/>
        </a:p>
      </dgm:t>
    </dgm:pt>
    <dgm:pt modelId="{403B187D-0224-4F79-82BF-71D6B29B5A26}" type="sibTrans" cxnId="{9335373C-6892-4047-AF18-7F8DA691165F}">
      <dgm:prSet/>
      <dgm:spPr/>
      <dgm:t>
        <a:bodyPr/>
        <a:lstStyle/>
        <a:p>
          <a:endParaRPr lang="en-US"/>
        </a:p>
      </dgm:t>
    </dgm:pt>
    <dgm:pt modelId="{9D7C778E-1EAA-4423-82BE-58887C6E0C29}">
      <dgm:prSet/>
      <dgm:spPr/>
      <dgm:t>
        <a:bodyPr/>
        <a:lstStyle/>
        <a:p>
          <a:r>
            <a:rPr lang="en-US" dirty="0"/>
            <a:t>Show the data clearly</a:t>
          </a:r>
        </a:p>
      </dgm:t>
    </dgm:pt>
    <dgm:pt modelId="{DB6EB839-56F2-4F1F-A597-5847246EAF00}" type="parTrans" cxnId="{A370370F-6E30-46E1-90A3-1CA6F90DF9EA}">
      <dgm:prSet/>
      <dgm:spPr/>
      <dgm:t>
        <a:bodyPr/>
        <a:lstStyle/>
        <a:p>
          <a:endParaRPr lang="en-US"/>
        </a:p>
      </dgm:t>
    </dgm:pt>
    <dgm:pt modelId="{2B2DCD1A-2388-44A7-87A3-67A5852C74B7}" type="sibTrans" cxnId="{A370370F-6E30-46E1-90A3-1CA6F90DF9EA}">
      <dgm:prSet/>
      <dgm:spPr/>
      <dgm:t>
        <a:bodyPr/>
        <a:lstStyle/>
        <a:p>
          <a:endParaRPr lang="en-US"/>
        </a:p>
      </dgm:t>
    </dgm:pt>
    <dgm:pt modelId="{F5F54EA3-FCEE-4C70-88ED-D7E0603368B3}">
      <dgm:prSet/>
      <dgm:spPr/>
      <dgm:t>
        <a:bodyPr/>
        <a:lstStyle/>
        <a:p>
          <a:r>
            <a:rPr lang="en-US" b="1"/>
            <a:t>Make</a:t>
          </a:r>
        </a:p>
      </dgm:t>
    </dgm:pt>
    <dgm:pt modelId="{69D64F9E-9DFF-4F87-873F-2EBA8E9C26F4}" type="parTrans" cxnId="{5D4C3727-7F94-43D6-9E57-C83F54E8ACC8}">
      <dgm:prSet/>
      <dgm:spPr/>
      <dgm:t>
        <a:bodyPr/>
        <a:lstStyle/>
        <a:p>
          <a:endParaRPr lang="en-US"/>
        </a:p>
      </dgm:t>
    </dgm:pt>
    <dgm:pt modelId="{75FE2287-5712-4764-BBB5-ED5A892FAB8C}" type="sibTrans" cxnId="{5D4C3727-7F94-43D6-9E57-C83F54E8ACC8}">
      <dgm:prSet/>
      <dgm:spPr/>
      <dgm:t>
        <a:bodyPr/>
        <a:lstStyle/>
        <a:p>
          <a:endParaRPr lang="en-US"/>
        </a:p>
      </dgm:t>
    </dgm:pt>
    <dgm:pt modelId="{67678ABC-58AF-468F-85A9-7D6DC457880E}">
      <dgm:prSet/>
      <dgm:spPr/>
      <dgm:t>
        <a:bodyPr/>
        <a:lstStyle/>
        <a:p>
          <a:r>
            <a:rPr lang="en-US" dirty="0"/>
            <a:t>Make the message obvious</a:t>
          </a:r>
        </a:p>
      </dgm:t>
    </dgm:pt>
    <dgm:pt modelId="{423CD86C-DE81-49DD-BC06-C96ED3DE8BA8}" type="parTrans" cxnId="{30893707-2FD5-4C31-9F03-209A3C9DB8EA}">
      <dgm:prSet/>
      <dgm:spPr/>
      <dgm:t>
        <a:bodyPr/>
        <a:lstStyle/>
        <a:p>
          <a:endParaRPr lang="en-US"/>
        </a:p>
      </dgm:t>
    </dgm:pt>
    <dgm:pt modelId="{79440022-6BEA-4847-B882-85DF8C655D93}" type="sibTrans" cxnId="{30893707-2FD5-4C31-9F03-209A3C9DB8EA}">
      <dgm:prSet/>
      <dgm:spPr/>
      <dgm:t>
        <a:bodyPr/>
        <a:lstStyle/>
        <a:p>
          <a:endParaRPr lang="en-US"/>
        </a:p>
      </dgm:t>
    </dgm:pt>
    <dgm:pt modelId="{06F6045F-264E-4929-9CA0-BCB809208F3B}">
      <dgm:prSet/>
      <dgm:spPr/>
      <dgm:t>
        <a:bodyPr/>
        <a:lstStyle/>
        <a:p>
          <a:r>
            <a:rPr lang="en-US" dirty="0"/>
            <a:t>Be conscious of your color and design decisions</a:t>
          </a:r>
        </a:p>
      </dgm:t>
    </dgm:pt>
    <dgm:pt modelId="{00376F45-A911-4C94-8AEE-10D0EE462F93}" type="parTrans" cxnId="{C11ED81B-6635-47AD-B720-0D0657C42DB8}">
      <dgm:prSet/>
      <dgm:spPr/>
      <dgm:t>
        <a:bodyPr/>
        <a:lstStyle/>
        <a:p>
          <a:endParaRPr lang="en-US"/>
        </a:p>
      </dgm:t>
    </dgm:pt>
    <dgm:pt modelId="{CAB7F84B-553E-4767-BA86-57437CDDB73F}" type="sibTrans" cxnId="{C11ED81B-6635-47AD-B720-0D0657C42DB8}">
      <dgm:prSet/>
      <dgm:spPr/>
      <dgm:t>
        <a:bodyPr/>
        <a:lstStyle/>
        <a:p>
          <a:endParaRPr lang="en-US"/>
        </a:p>
      </dgm:t>
    </dgm:pt>
    <dgm:pt modelId="{77E63E66-E6F6-4218-AD1B-8597B2573D2F}">
      <dgm:prSet/>
      <dgm:spPr/>
      <dgm:t>
        <a:bodyPr/>
        <a:lstStyle/>
        <a:p>
          <a:r>
            <a:rPr lang="en-US" dirty="0"/>
            <a:t>Focus attention to the important areas</a:t>
          </a:r>
        </a:p>
      </dgm:t>
    </dgm:pt>
    <dgm:pt modelId="{C991A0F0-A9C3-4CF2-B939-C42612A3F4CA}" type="parTrans" cxnId="{9E599F2B-0C71-42FF-888B-0CA4E2158DB0}">
      <dgm:prSet/>
      <dgm:spPr/>
      <dgm:t>
        <a:bodyPr/>
        <a:lstStyle/>
        <a:p>
          <a:endParaRPr lang="en-US"/>
        </a:p>
      </dgm:t>
    </dgm:pt>
    <dgm:pt modelId="{D537CB98-07C0-483E-9AF7-394CBD5E0216}" type="sibTrans" cxnId="{9E599F2B-0C71-42FF-888B-0CA4E2158DB0}">
      <dgm:prSet/>
      <dgm:spPr/>
      <dgm:t>
        <a:bodyPr/>
        <a:lstStyle/>
        <a:p>
          <a:endParaRPr lang="en-US"/>
        </a:p>
      </dgm:t>
    </dgm:pt>
    <dgm:pt modelId="{8FD47266-5EBF-40DD-B0E3-9B95145DFDA6}">
      <dgm:prSet/>
      <dgm:spPr/>
      <dgm:t>
        <a:bodyPr/>
        <a:lstStyle/>
        <a:p>
          <a:r>
            <a:rPr lang="en-US" dirty="0"/>
            <a:t>Eliminate clutter</a:t>
          </a:r>
        </a:p>
      </dgm:t>
    </dgm:pt>
    <dgm:pt modelId="{2D9AED84-892C-4694-9346-B4E850E8D49C}" type="parTrans" cxnId="{9D8ADC9B-743E-4156-9FEE-2D1FB8D36D71}">
      <dgm:prSet/>
      <dgm:spPr/>
      <dgm:t>
        <a:bodyPr/>
        <a:lstStyle/>
        <a:p>
          <a:endParaRPr lang="en-US"/>
        </a:p>
      </dgm:t>
    </dgm:pt>
    <dgm:pt modelId="{07785462-FB11-400F-AABD-BD9CDE185C25}" type="sibTrans" cxnId="{9D8ADC9B-743E-4156-9FEE-2D1FB8D36D71}">
      <dgm:prSet/>
      <dgm:spPr/>
      <dgm:t>
        <a:bodyPr/>
        <a:lstStyle/>
        <a:p>
          <a:endParaRPr lang="en-US"/>
        </a:p>
      </dgm:t>
    </dgm:pt>
    <dgm:pt modelId="{CC1B33B3-8C2F-48E8-B354-033C86B7C226}">
      <dgm:prSet/>
      <dgm:spPr/>
      <dgm:t>
        <a:bodyPr/>
        <a:lstStyle/>
        <a:p>
          <a:r>
            <a:rPr lang="en-US" dirty="0"/>
            <a:t>What evidence supports the purpose?</a:t>
          </a:r>
        </a:p>
      </dgm:t>
    </dgm:pt>
    <dgm:pt modelId="{EFEE02F6-CD91-4B2C-8EA2-B5A1AE0483BF}" type="sibTrans" cxnId="{17E1DF36-87B2-4126-9467-A297B472CB56}">
      <dgm:prSet/>
      <dgm:spPr/>
      <dgm:t>
        <a:bodyPr/>
        <a:lstStyle/>
        <a:p>
          <a:endParaRPr lang="en-US"/>
        </a:p>
      </dgm:t>
    </dgm:pt>
    <dgm:pt modelId="{BEC33E8A-D4A9-402C-B377-606DBAF6A832}" type="parTrans" cxnId="{17E1DF36-87B2-4126-9467-A297B472CB56}">
      <dgm:prSet/>
      <dgm:spPr/>
      <dgm:t>
        <a:bodyPr/>
        <a:lstStyle/>
        <a:p>
          <a:endParaRPr lang="en-US"/>
        </a:p>
      </dgm:t>
    </dgm:pt>
    <dgm:pt modelId="{2B9AB053-8847-48B0-8181-807FB8BF9878}">
      <dgm:prSet/>
      <dgm:spPr/>
      <dgm:t>
        <a:bodyPr/>
        <a:lstStyle/>
        <a:p>
          <a:r>
            <a:rPr lang="en-US" dirty="0"/>
            <a:t>Do not lie or misrepresent data</a:t>
          </a:r>
        </a:p>
      </dgm:t>
    </dgm:pt>
    <dgm:pt modelId="{E5B646A5-B049-4DD7-A4BF-E37F995E1414}" type="sibTrans" cxnId="{B2519B6C-998D-4D9C-BFD3-A8FD0EFA4F5E}">
      <dgm:prSet/>
      <dgm:spPr/>
      <dgm:t>
        <a:bodyPr/>
        <a:lstStyle/>
        <a:p>
          <a:endParaRPr lang="en-US"/>
        </a:p>
      </dgm:t>
    </dgm:pt>
    <dgm:pt modelId="{CBBBA0AF-F435-43B5-87F7-61074B8102FE}" type="parTrans" cxnId="{B2519B6C-998D-4D9C-BFD3-A8FD0EFA4F5E}">
      <dgm:prSet/>
      <dgm:spPr/>
      <dgm:t>
        <a:bodyPr/>
        <a:lstStyle/>
        <a:p>
          <a:endParaRPr lang="en-US"/>
        </a:p>
      </dgm:t>
    </dgm:pt>
    <dgm:pt modelId="{E1176104-20E4-42E3-A8DA-45966713F0A5}">
      <dgm:prSet/>
      <dgm:spPr/>
      <dgm:t>
        <a:bodyPr/>
        <a:lstStyle/>
        <a:p>
          <a:r>
            <a:rPr lang="en-US" dirty="0"/>
            <a:t>Choose the correct graph type</a:t>
          </a:r>
        </a:p>
      </dgm:t>
    </dgm:pt>
    <dgm:pt modelId="{2F5B5DB7-0864-4E60-B984-365D70D0F238}" type="sibTrans" cxnId="{AFE28576-7766-484D-A603-DBCF3D55ECC2}">
      <dgm:prSet/>
      <dgm:spPr/>
      <dgm:t>
        <a:bodyPr/>
        <a:lstStyle/>
        <a:p>
          <a:endParaRPr lang="en-US"/>
        </a:p>
      </dgm:t>
    </dgm:pt>
    <dgm:pt modelId="{3F8DF3F4-C1D4-40A1-B0B4-F4D7CDBDED99}" type="parTrans" cxnId="{AFE28576-7766-484D-A603-DBCF3D55ECC2}">
      <dgm:prSet/>
      <dgm:spPr/>
      <dgm:t>
        <a:bodyPr/>
        <a:lstStyle/>
        <a:p>
          <a:endParaRPr lang="en-US"/>
        </a:p>
      </dgm:t>
    </dgm:pt>
    <dgm:pt modelId="{3E9D5A2C-06CF-46A8-B84F-EA2BB8015080}">
      <dgm:prSet/>
      <dgm:spPr/>
      <dgm:t>
        <a:bodyPr/>
        <a:lstStyle/>
        <a:p>
          <a:r>
            <a:rPr lang="en-US" dirty="0"/>
            <a:t>Choose the correct scaling, mappings, and aesthetics</a:t>
          </a:r>
        </a:p>
      </dgm:t>
    </dgm:pt>
    <dgm:pt modelId="{025122FE-A79F-4B41-A3CF-1E89B564646D}" type="sibTrans" cxnId="{4B571531-3227-45A4-B538-3A894780445D}">
      <dgm:prSet/>
      <dgm:spPr/>
      <dgm:t>
        <a:bodyPr/>
        <a:lstStyle/>
        <a:p>
          <a:endParaRPr lang="en-US"/>
        </a:p>
      </dgm:t>
    </dgm:pt>
    <dgm:pt modelId="{A7E935E6-7DBA-4779-8ED6-BEDE883413CD}" type="parTrans" cxnId="{4B571531-3227-45A4-B538-3A894780445D}">
      <dgm:prSet/>
      <dgm:spPr/>
      <dgm:t>
        <a:bodyPr/>
        <a:lstStyle/>
        <a:p>
          <a:endParaRPr lang="en-US"/>
        </a:p>
      </dgm:t>
    </dgm:pt>
    <dgm:pt modelId="{9C07A957-187C-44E7-991E-AD020BFEE79E}" type="pres">
      <dgm:prSet presAssocID="{1A829E05-C397-45F3-BC4E-0A0F11430F20}" presName="linear" presStyleCnt="0">
        <dgm:presLayoutVars>
          <dgm:animLvl val="lvl"/>
          <dgm:resizeHandles val="exact"/>
        </dgm:presLayoutVars>
      </dgm:prSet>
      <dgm:spPr/>
    </dgm:pt>
    <dgm:pt modelId="{5E2507AC-C274-4902-863A-524B185E89A7}" type="pres">
      <dgm:prSet presAssocID="{32640EE8-0740-4946-B65A-D3666C6A13A8}" presName="parentText" presStyleLbl="node1" presStyleIdx="0" presStyleCnt="3">
        <dgm:presLayoutVars>
          <dgm:chMax val="0"/>
          <dgm:bulletEnabled val="1"/>
        </dgm:presLayoutVars>
      </dgm:prSet>
      <dgm:spPr/>
    </dgm:pt>
    <dgm:pt modelId="{3838CEDF-7850-493B-A274-0213951634B2}" type="pres">
      <dgm:prSet presAssocID="{32640EE8-0740-4946-B65A-D3666C6A13A8}" presName="childText" presStyleLbl="revTx" presStyleIdx="0" presStyleCnt="3">
        <dgm:presLayoutVars>
          <dgm:bulletEnabled val="1"/>
        </dgm:presLayoutVars>
      </dgm:prSet>
      <dgm:spPr/>
    </dgm:pt>
    <dgm:pt modelId="{74097F55-A1D7-498D-80F0-9A7E89B88C06}" type="pres">
      <dgm:prSet presAssocID="{10684D16-1963-4CF0-B8A9-D1EFABFE2F02}" presName="parentText" presStyleLbl="node1" presStyleIdx="1" presStyleCnt="3">
        <dgm:presLayoutVars>
          <dgm:chMax val="0"/>
          <dgm:bulletEnabled val="1"/>
        </dgm:presLayoutVars>
      </dgm:prSet>
      <dgm:spPr/>
    </dgm:pt>
    <dgm:pt modelId="{478A7390-BBBD-447B-BFB7-3E3CAB8D7A1A}" type="pres">
      <dgm:prSet presAssocID="{10684D16-1963-4CF0-B8A9-D1EFABFE2F02}" presName="childText" presStyleLbl="revTx" presStyleIdx="1" presStyleCnt="3">
        <dgm:presLayoutVars>
          <dgm:bulletEnabled val="1"/>
        </dgm:presLayoutVars>
      </dgm:prSet>
      <dgm:spPr/>
    </dgm:pt>
    <dgm:pt modelId="{B8EB7AEB-077A-4086-865C-49E439E4EFB5}" type="pres">
      <dgm:prSet presAssocID="{F5F54EA3-FCEE-4C70-88ED-D7E0603368B3}" presName="parentText" presStyleLbl="node1" presStyleIdx="2" presStyleCnt="3">
        <dgm:presLayoutVars>
          <dgm:chMax val="0"/>
          <dgm:bulletEnabled val="1"/>
        </dgm:presLayoutVars>
      </dgm:prSet>
      <dgm:spPr/>
    </dgm:pt>
    <dgm:pt modelId="{62FA2000-1345-402F-8D89-BE5E2052278A}" type="pres">
      <dgm:prSet presAssocID="{F5F54EA3-FCEE-4C70-88ED-D7E0603368B3}" presName="childText" presStyleLbl="revTx" presStyleIdx="2" presStyleCnt="3">
        <dgm:presLayoutVars>
          <dgm:bulletEnabled val="1"/>
        </dgm:presLayoutVars>
      </dgm:prSet>
      <dgm:spPr/>
    </dgm:pt>
  </dgm:ptLst>
  <dgm:cxnLst>
    <dgm:cxn modelId="{30893707-2FD5-4C31-9F03-209A3C9DB8EA}" srcId="{F5F54EA3-FCEE-4C70-88ED-D7E0603368B3}" destId="{67678ABC-58AF-468F-85A9-7D6DC457880E}" srcOrd="0" destOrd="0" parTransId="{423CD86C-DE81-49DD-BC06-C96ED3DE8BA8}" sibTransId="{79440022-6BEA-4847-B882-85DF8C655D93}"/>
    <dgm:cxn modelId="{9C5E660B-E249-411E-A1F2-B7FFD408D914}" srcId="{65BA580E-124E-4275-AB1C-727C4115A637}" destId="{4453E36F-E6DA-490B-9BD7-F181C943B214}" srcOrd="3" destOrd="0" parTransId="{436712AA-2BA2-4D13-B87C-4C86077DEA64}" sibTransId="{AA2A5248-817C-42FB-B9E1-D38B49ACA036}"/>
    <dgm:cxn modelId="{A370370F-6E30-46E1-90A3-1CA6F90DF9EA}" srcId="{10684D16-1963-4CF0-B8A9-D1EFABFE2F02}" destId="{9D7C778E-1EAA-4423-82BE-58887C6E0C29}" srcOrd="0" destOrd="0" parTransId="{DB6EB839-56F2-4F1F-A597-5847246EAF00}" sibTransId="{2B2DCD1A-2388-44A7-87A3-67A5852C74B7}"/>
    <dgm:cxn modelId="{C11ED81B-6635-47AD-B720-0D0657C42DB8}" srcId="{67678ABC-58AF-468F-85A9-7D6DC457880E}" destId="{06F6045F-264E-4929-9CA0-BCB809208F3B}" srcOrd="0" destOrd="0" parTransId="{00376F45-A911-4C94-8AEE-10D0EE462F93}" sibTransId="{CAB7F84B-553E-4767-BA86-57437CDDB73F}"/>
    <dgm:cxn modelId="{193EC326-C6B5-47AF-9AF3-577F66595EFB}" type="presOf" srcId="{2B9AB053-8847-48B0-8181-807FB8BF9878}" destId="{478A7390-BBBD-447B-BFB7-3E3CAB8D7A1A}" srcOrd="0" destOrd="1" presId="urn:microsoft.com/office/officeart/2005/8/layout/vList2"/>
    <dgm:cxn modelId="{5D4C3727-7F94-43D6-9E57-C83F54E8ACC8}" srcId="{1A829E05-C397-45F3-BC4E-0A0F11430F20}" destId="{F5F54EA3-FCEE-4C70-88ED-D7E0603368B3}" srcOrd="2" destOrd="0" parTransId="{69D64F9E-9DFF-4F87-873F-2EBA8E9C26F4}" sibTransId="{75FE2287-5712-4764-BBB5-ED5A892FAB8C}"/>
    <dgm:cxn modelId="{9E599F2B-0C71-42FF-888B-0CA4E2158DB0}" srcId="{67678ABC-58AF-468F-85A9-7D6DC457880E}" destId="{77E63E66-E6F6-4218-AD1B-8597B2573D2F}" srcOrd="1" destOrd="0" parTransId="{C991A0F0-A9C3-4CF2-B939-C42612A3F4CA}" sibTransId="{D537CB98-07C0-483E-9AF7-394CBD5E0216}"/>
    <dgm:cxn modelId="{4B571531-3227-45A4-B538-3A894780445D}" srcId="{9D7C778E-1EAA-4423-82BE-58887C6E0C29}" destId="{3E9D5A2C-06CF-46A8-B84F-EA2BB8015080}" srcOrd="2" destOrd="0" parTransId="{A7E935E6-7DBA-4779-8ED6-BEDE883413CD}" sibTransId="{025122FE-A79F-4B41-A3CF-1E89B564646D}"/>
    <dgm:cxn modelId="{17E1DF36-87B2-4126-9467-A297B472CB56}" srcId="{65BA580E-124E-4275-AB1C-727C4115A637}" destId="{CC1B33B3-8C2F-48E8-B354-033C86B7C226}" srcOrd="1" destOrd="0" parTransId="{BEC33E8A-D4A9-402C-B377-606DBAF6A832}" sibTransId="{EFEE02F6-CD91-4B2C-8EA2-B5A1AE0483BF}"/>
    <dgm:cxn modelId="{AF151E3B-ECDE-4133-B5BD-D9CEEFAF879B}" type="presOf" srcId="{10684D16-1963-4CF0-B8A9-D1EFABFE2F02}" destId="{74097F55-A1D7-498D-80F0-9A7E89B88C06}" srcOrd="0" destOrd="0" presId="urn:microsoft.com/office/officeart/2005/8/layout/vList2"/>
    <dgm:cxn modelId="{9335373C-6892-4047-AF18-7F8DA691165F}" srcId="{1A829E05-C397-45F3-BC4E-0A0F11430F20}" destId="{10684D16-1963-4CF0-B8A9-D1EFABFE2F02}" srcOrd="1" destOrd="0" parTransId="{7D33592B-3029-4FDD-9149-43A799EE2BE5}" sibTransId="{403B187D-0224-4F79-82BF-71D6B29B5A26}"/>
    <dgm:cxn modelId="{858B2E3F-51B0-42E0-8EE8-2D0A25CB0F56}" type="presOf" srcId="{CC1B33B3-8C2F-48E8-B354-033C86B7C226}" destId="{3838CEDF-7850-493B-A274-0213951634B2}" srcOrd="0" destOrd="2" presId="urn:microsoft.com/office/officeart/2005/8/layout/vList2"/>
    <dgm:cxn modelId="{4B7FC74A-2C33-438F-863D-2C7DB63C9B0B}" srcId="{1A829E05-C397-45F3-BC4E-0A0F11430F20}" destId="{32640EE8-0740-4946-B65A-D3666C6A13A8}" srcOrd="0" destOrd="0" parTransId="{C6035271-8CD0-41FC-B702-4E93ED69D956}" sibTransId="{97987026-E6D8-4F0F-91B6-C4D7B3A2DC43}"/>
    <dgm:cxn modelId="{66FD794E-A93D-4FBA-8A58-14D495B7E6C1}" srcId="{65BA580E-124E-4275-AB1C-727C4115A637}" destId="{367AEEA6-14DD-4BB7-8647-B863AF86F5C2}" srcOrd="2" destOrd="0" parTransId="{CC43BDF8-CEBA-430F-896E-966DC5AE60C4}" sibTransId="{AFC94EE9-AD3F-43DD-8972-15032E91FACE}"/>
    <dgm:cxn modelId="{2FBAC651-D185-41F6-827A-FAB11DE37C35}" type="presOf" srcId="{65BA580E-124E-4275-AB1C-727C4115A637}" destId="{3838CEDF-7850-493B-A274-0213951634B2}" srcOrd="0" destOrd="0" presId="urn:microsoft.com/office/officeart/2005/8/layout/vList2"/>
    <dgm:cxn modelId="{97DFBE64-5D1C-4CA5-9601-A5D7A2C3FF75}" type="presOf" srcId="{67678ABC-58AF-468F-85A9-7D6DC457880E}" destId="{62FA2000-1345-402F-8D89-BE5E2052278A}" srcOrd="0" destOrd="0" presId="urn:microsoft.com/office/officeart/2005/8/layout/vList2"/>
    <dgm:cxn modelId="{86E32968-BC4B-4E53-9600-19C89573D7F5}" type="presOf" srcId="{8FD47266-5EBF-40DD-B0E3-9B95145DFDA6}" destId="{62FA2000-1345-402F-8D89-BE5E2052278A}" srcOrd="0" destOrd="3" presId="urn:microsoft.com/office/officeart/2005/8/layout/vList2"/>
    <dgm:cxn modelId="{FDB7496B-DFF7-4ED3-87E8-251E6DE40DD0}" srcId="{32640EE8-0740-4946-B65A-D3666C6A13A8}" destId="{65BA580E-124E-4275-AB1C-727C4115A637}" srcOrd="0" destOrd="0" parTransId="{D7FF71A3-2707-40BB-A0CF-E1D05E89C1D4}" sibTransId="{EFC652BA-A46F-4F83-AA06-459764A7BE36}"/>
    <dgm:cxn modelId="{B2519B6C-998D-4D9C-BFD3-A8FD0EFA4F5E}" srcId="{9D7C778E-1EAA-4423-82BE-58887C6E0C29}" destId="{2B9AB053-8847-48B0-8181-807FB8BF9878}" srcOrd="0" destOrd="0" parTransId="{CBBBA0AF-F435-43B5-87F7-61074B8102FE}" sibTransId="{E5B646A5-B049-4DD7-A4BF-E37F995E1414}"/>
    <dgm:cxn modelId="{AFE28576-7766-484D-A603-DBCF3D55ECC2}" srcId="{9D7C778E-1EAA-4423-82BE-58887C6E0C29}" destId="{E1176104-20E4-42E3-A8DA-45966713F0A5}" srcOrd="1" destOrd="0" parTransId="{3F8DF3F4-C1D4-40A1-B0B4-F4D7CDBDED99}" sibTransId="{2F5B5DB7-0864-4E60-B984-365D70D0F238}"/>
    <dgm:cxn modelId="{FAF7AF79-5B51-4D97-818B-A52BCDA75C8D}" type="presOf" srcId="{4453E36F-E6DA-490B-9BD7-F181C943B214}" destId="{3838CEDF-7850-493B-A274-0213951634B2}" srcOrd="0" destOrd="4" presId="urn:microsoft.com/office/officeart/2005/8/layout/vList2"/>
    <dgm:cxn modelId="{23A96D80-DB89-4DB3-893E-A97485963ADE}" type="presOf" srcId="{367AEEA6-14DD-4BB7-8647-B863AF86F5C2}" destId="{3838CEDF-7850-493B-A274-0213951634B2}" srcOrd="0" destOrd="3" presId="urn:microsoft.com/office/officeart/2005/8/layout/vList2"/>
    <dgm:cxn modelId="{68679180-7DFB-4028-94B8-A991281884DA}" type="presOf" srcId="{06F6045F-264E-4929-9CA0-BCB809208F3B}" destId="{62FA2000-1345-402F-8D89-BE5E2052278A}" srcOrd="0" destOrd="1" presId="urn:microsoft.com/office/officeart/2005/8/layout/vList2"/>
    <dgm:cxn modelId="{7B24BC90-7D5E-4EA8-A088-93193256F35A}" type="presOf" srcId="{1A829E05-C397-45F3-BC4E-0A0F11430F20}" destId="{9C07A957-187C-44E7-991E-AD020BFEE79E}" srcOrd="0" destOrd="0" presId="urn:microsoft.com/office/officeart/2005/8/layout/vList2"/>
    <dgm:cxn modelId="{9D8ADC9B-743E-4156-9FEE-2D1FB8D36D71}" srcId="{67678ABC-58AF-468F-85A9-7D6DC457880E}" destId="{8FD47266-5EBF-40DD-B0E3-9B95145DFDA6}" srcOrd="2" destOrd="0" parTransId="{2D9AED84-892C-4694-9346-B4E850E8D49C}" sibTransId="{07785462-FB11-400F-AABD-BD9CDE185C25}"/>
    <dgm:cxn modelId="{E7F80DA2-75CE-47D5-8679-D650487DBEA1}" type="presOf" srcId="{77E63E66-E6F6-4218-AD1B-8597B2573D2F}" destId="{62FA2000-1345-402F-8D89-BE5E2052278A}" srcOrd="0" destOrd="2" presId="urn:microsoft.com/office/officeart/2005/8/layout/vList2"/>
    <dgm:cxn modelId="{BAE4CCBA-0586-46BC-AB43-F87F5DF4DD6B}" type="presOf" srcId="{87E8E992-00D5-49DC-8660-EE1D7CDB77B2}" destId="{3838CEDF-7850-493B-A274-0213951634B2}" srcOrd="0" destOrd="1" presId="urn:microsoft.com/office/officeart/2005/8/layout/vList2"/>
    <dgm:cxn modelId="{4093DDCD-0BAE-4543-BC0A-CF2BD0E1785C}" type="presOf" srcId="{F5F54EA3-FCEE-4C70-88ED-D7E0603368B3}" destId="{B8EB7AEB-077A-4086-865C-49E439E4EFB5}" srcOrd="0" destOrd="0" presId="urn:microsoft.com/office/officeart/2005/8/layout/vList2"/>
    <dgm:cxn modelId="{80A709D1-EED8-4C16-B75D-0EA19E1E4018}" type="presOf" srcId="{E1176104-20E4-42E3-A8DA-45966713F0A5}" destId="{478A7390-BBBD-447B-BFB7-3E3CAB8D7A1A}" srcOrd="0" destOrd="2" presId="urn:microsoft.com/office/officeart/2005/8/layout/vList2"/>
    <dgm:cxn modelId="{492CA5D3-C42E-491E-B406-08012C37DBEB}" type="presOf" srcId="{32640EE8-0740-4946-B65A-D3666C6A13A8}" destId="{5E2507AC-C274-4902-863A-524B185E89A7}" srcOrd="0" destOrd="0" presId="urn:microsoft.com/office/officeart/2005/8/layout/vList2"/>
    <dgm:cxn modelId="{5EA33AF0-560A-4461-8DD6-E46C2345E0EA}" type="presOf" srcId="{3E9D5A2C-06CF-46A8-B84F-EA2BB8015080}" destId="{478A7390-BBBD-447B-BFB7-3E3CAB8D7A1A}" srcOrd="0" destOrd="3" presId="urn:microsoft.com/office/officeart/2005/8/layout/vList2"/>
    <dgm:cxn modelId="{BC9198F2-91F5-4889-9068-E1A90F0285F1}" srcId="{65BA580E-124E-4275-AB1C-727C4115A637}" destId="{87E8E992-00D5-49DC-8660-EE1D7CDB77B2}" srcOrd="0" destOrd="0" parTransId="{61F29D90-E122-4369-AD2F-877AD8B223F9}" sibTransId="{E48E83F1-D1BB-499A-9EAA-03D0BED6F83D}"/>
    <dgm:cxn modelId="{87E152F8-C519-4F65-91B3-2684E4F84824}" type="presOf" srcId="{9D7C778E-1EAA-4423-82BE-58887C6E0C29}" destId="{478A7390-BBBD-447B-BFB7-3E3CAB8D7A1A}" srcOrd="0" destOrd="0" presId="urn:microsoft.com/office/officeart/2005/8/layout/vList2"/>
    <dgm:cxn modelId="{99503AE4-A880-4B7E-B9C6-EA38AE9E757F}" type="presParOf" srcId="{9C07A957-187C-44E7-991E-AD020BFEE79E}" destId="{5E2507AC-C274-4902-863A-524B185E89A7}" srcOrd="0" destOrd="0" presId="urn:microsoft.com/office/officeart/2005/8/layout/vList2"/>
    <dgm:cxn modelId="{F85DE87C-3B15-4D00-9C38-EFDEAD2044F8}" type="presParOf" srcId="{9C07A957-187C-44E7-991E-AD020BFEE79E}" destId="{3838CEDF-7850-493B-A274-0213951634B2}" srcOrd="1" destOrd="0" presId="urn:microsoft.com/office/officeart/2005/8/layout/vList2"/>
    <dgm:cxn modelId="{093D905B-6C37-43A6-BA19-D3965B2F27F0}" type="presParOf" srcId="{9C07A957-187C-44E7-991E-AD020BFEE79E}" destId="{74097F55-A1D7-498D-80F0-9A7E89B88C06}" srcOrd="2" destOrd="0" presId="urn:microsoft.com/office/officeart/2005/8/layout/vList2"/>
    <dgm:cxn modelId="{2FB48143-CBB1-4A91-97E1-5F562F523109}" type="presParOf" srcId="{9C07A957-187C-44E7-991E-AD020BFEE79E}" destId="{478A7390-BBBD-447B-BFB7-3E3CAB8D7A1A}" srcOrd="3" destOrd="0" presId="urn:microsoft.com/office/officeart/2005/8/layout/vList2"/>
    <dgm:cxn modelId="{6BFE866C-1231-4E36-9771-ACA82550D4A5}" type="presParOf" srcId="{9C07A957-187C-44E7-991E-AD020BFEE79E}" destId="{B8EB7AEB-077A-4086-865C-49E439E4EFB5}" srcOrd="4" destOrd="0" presId="urn:microsoft.com/office/officeart/2005/8/layout/vList2"/>
    <dgm:cxn modelId="{1C08CA25-CAFB-4AEA-A160-EA5301AEC6AA}" type="presParOf" srcId="{9C07A957-187C-44E7-991E-AD020BFEE79E}" destId="{62FA2000-1345-402F-8D89-BE5E2052278A}"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18C0A4-CDB6-409E-8DF6-F002CF8143EC}">
      <dsp:nvSpPr>
        <dsp:cNvPr id="0" name=""/>
        <dsp:cNvSpPr/>
      </dsp:nvSpPr>
      <dsp:spPr>
        <a:xfrm>
          <a:off x="1800737" y="834254"/>
          <a:ext cx="380397" cy="91440"/>
        </a:xfrm>
        <a:custGeom>
          <a:avLst/>
          <a:gdLst/>
          <a:ahLst/>
          <a:cxnLst/>
          <a:rect l="0" t="0" r="0" b="0"/>
          <a:pathLst>
            <a:path>
              <a:moveTo>
                <a:pt x="0" y="45720"/>
              </a:moveTo>
              <a:lnTo>
                <a:pt x="380397"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80660" y="877919"/>
        <a:ext cx="20549" cy="4109"/>
      </dsp:txXfrm>
    </dsp:sp>
    <dsp:sp modelId="{24486862-8B72-481D-BD6F-019944B01B09}">
      <dsp:nvSpPr>
        <dsp:cNvPr id="0" name=""/>
        <dsp:cNvSpPr/>
      </dsp:nvSpPr>
      <dsp:spPr>
        <a:xfrm>
          <a:off x="15593" y="343891"/>
          <a:ext cx="1786943" cy="1072166"/>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kern="1200" dirty="0"/>
            <a:t>Introduction and Environment Setup</a:t>
          </a:r>
        </a:p>
      </dsp:txBody>
      <dsp:txXfrm>
        <a:off x="15593" y="343891"/>
        <a:ext cx="1786943" cy="1072166"/>
      </dsp:txXfrm>
    </dsp:sp>
    <dsp:sp modelId="{FFDE22AD-4DAC-4E98-8543-A1830F42F9D0}">
      <dsp:nvSpPr>
        <dsp:cNvPr id="0" name=""/>
        <dsp:cNvSpPr/>
      </dsp:nvSpPr>
      <dsp:spPr>
        <a:xfrm>
          <a:off x="3998678" y="834254"/>
          <a:ext cx="374297" cy="91440"/>
        </a:xfrm>
        <a:custGeom>
          <a:avLst/>
          <a:gdLst/>
          <a:ahLst/>
          <a:cxnLst/>
          <a:rect l="0" t="0" r="0" b="0"/>
          <a:pathLst>
            <a:path>
              <a:moveTo>
                <a:pt x="0" y="45720"/>
              </a:moveTo>
              <a:lnTo>
                <a:pt x="374297" y="45720"/>
              </a:lnTo>
            </a:path>
          </a:pathLst>
        </a:custGeom>
        <a:noFill/>
        <a:ln w="6350" cap="flat" cmpd="sng" algn="ctr">
          <a:solidFill>
            <a:schemeClr val="accent2">
              <a:hueOff val="-242561"/>
              <a:satOff val="-13988"/>
              <a:lumOff val="143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75704" y="877919"/>
        <a:ext cx="20244" cy="4109"/>
      </dsp:txXfrm>
    </dsp:sp>
    <dsp:sp modelId="{D8C2E31A-7146-494A-A9FB-A2DE0634FD2A}">
      <dsp:nvSpPr>
        <dsp:cNvPr id="0" name=""/>
        <dsp:cNvSpPr/>
      </dsp:nvSpPr>
      <dsp:spPr>
        <a:xfrm>
          <a:off x="2213534" y="343891"/>
          <a:ext cx="1786943" cy="1072166"/>
        </a:xfrm>
        <a:prstGeom prst="rect">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2"/>
        </a:lnRef>
        <a:fillRef idx="3">
          <a:schemeClr val="accent2"/>
        </a:fillRef>
        <a:effectRef idx="3">
          <a:schemeClr val="accent2"/>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kern="1200" dirty="0"/>
            <a:t>Univariate Analysis/Descriptive Analytics</a:t>
          </a:r>
        </a:p>
      </dsp:txBody>
      <dsp:txXfrm>
        <a:off x="2213534" y="343891"/>
        <a:ext cx="1786943" cy="1072166"/>
      </dsp:txXfrm>
    </dsp:sp>
    <dsp:sp modelId="{1676D500-3407-4775-B8D4-0B589B6A633B}">
      <dsp:nvSpPr>
        <dsp:cNvPr id="0" name=""/>
        <dsp:cNvSpPr/>
      </dsp:nvSpPr>
      <dsp:spPr>
        <a:xfrm>
          <a:off x="909065" y="1414257"/>
          <a:ext cx="4389781" cy="380397"/>
        </a:xfrm>
        <a:custGeom>
          <a:avLst/>
          <a:gdLst/>
          <a:ahLst/>
          <a:cxnLst/>
          <a:rect l="0" t="0" r="0" b="0"/>
          <a:pathLst>
            <a:path>
              <a:moveTo>
                <a:pt x="4389781" y="0"/>
              </a:moveTo>
              <a:lnTo>
                <a:pt x="4389781" y="207298"/>
              </a:lnTo>
              <a:lnTo>
                <a:pt x="0" y="207298"/>
              </a:lnTo>
              <a:lnTo>
                <a:pt x="0" y="380397"/>
              </a:lnTo>
            </a:path>
          </a:pathLst>
        </a:custGeom>
        <a:noFill/>
        <a:ln w="6350" cap="flat" cmpd="sng" algn="ctr">
          <a:solidFill>
            <a:schemeClr val="accent2">
              <a:hueOff val="-485121"/>
              <a:satOff val="-27976"/>
              <a:lumOff val="2876"/>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93731" y="1602401"/>
        <a:ext cx="220448" cy="4109"/>
      </dsp:txXfrm>
    </dsp:sp>
    <dsp:sp modelId="{50CCF83E-03C3-4E3B-AC6A-ABF26BAB2CC8}">
      <dsp:nvSpPr>
        <dsp:cNvPr id="0" name=""/>
        <dsp:cNvSpPr/>
      </dsp:nvSpPr>
      <dsp:spPr>
        <a:xfrm>
          <a:off x="4405375" y="343891"/>
          <a:ext cx="1786943" cy="1072166"/>
        </a:xfrm>
        <a:prstGeom prst="rect">
          <a:avLst/>
        </a:prstGeom>
        <a:gradFill rotWithShape="0">
          <a:gsLst>
            <a:gs pos="0">
              <a:schemeClr val="accent2">
                <a:hueOff val="-415818"/>
                <a:satOff val="-23979"/>
                <a:lumOff val="2465"/>
                <a:alphaOff val="0"/>
                <a:satMod val="103000"/>
                <a:lumMod val="102000"/>
                <a:tint val="94000"/>
              </a:schemeClr>
            </a:gs>
            <a:gs pos="50000">
              <a:schemeClr val="accent2">
                <a:hueOff val="-415818"/>
                <a:satOff val="-23979"/>
                <a:lumOff val="2465"/>
                <a:alphaOff val="0"/>
                <a:satMod val="110000"/>
                <a:lumMod val="100000"/>
                <a:shade val="100000"/>
              </a:schemeClr>
            </a:gs>
            <a:gs pos="100000">
              <a:schemeClr val="accent2">
                <a:hueOff val="-415818"/>
                <a:satOff val="-23979"/>
                <a:lumOff val="2465"/>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b="0" kern="1200" dirty="0"/>
            <a:t>Multivariate Analysis/Diagnostic Analytics</a:t>
          </a:r>
        </a:p>
      </dsp:txBody>
      <dsp:txXfrm>
        <a:off x="4405375" y="343891"/>
        <a:ext cx="1786943" cy="1072166"/>
      </dsp:txXfrm>
    </dsp:sp>
    <dsp:sp modelId="{3DDA95C1-0014-41BE-859B-AC738EBCFF49}">
      <dsp:nvSpPr>
        <dsp:cNvPr id="0" name=""/>
        <dsp:cNvSpPr/>
      </dsp:nvSpPr>
      <dsp:spPr>
        <a:xfrm>
          <a:off x="1800737" y="2317418"/>
          <a:ext cx="380397" cy="91440"/>
        </a:xfrm>
        <a:custGeom>
          <a:avLst/>
          <a:gdLst/>
          <a:ahLst/>
          <a:cxnLst/>
          <a:rect l="0" t="0" r="0" b="0"/>
          <a:pathLst>
            <a:path>
              <a:moveTo>
                <a:pt x="0" y="45720"/>
              </a:moveTo>
              <a:lnTo>
                <a:pt x="380397" y="45720"/>
              </a:lnTo>
            </a:path>
          </a:pathLst>
        </a:custGeom>
        <a:noFill/>
        <a:ln w="6350" cap="flat" cmpd="sng" algn="ctr">
          <a:solidFill>
            <a:schemeClr val="accent2">
              <a:hueOff val="-727682"/>
              <a:satOff val="-41964"/>
              <a:lumOff val="431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80660" y="2361083"/>
        <a:ext cx="20549" cy="4109"/>
      </dsp:txXfrm>
    </dsp:sp>
    <dsp:sp modelId="{4DFE5A2D-CFC4-40E9-A091-01DD3B7BE30E}">
      <dsp:nvSpPr>
        <dsp:cNvPr id="0" name=""/>
        <dsp:cNvSpPr/>
      </dsp:nvSpPr>
      <dsp:spPr>
        <a:xfrm>
          <a:off x="15593" y="1827054"/>
          <a:ext cx="1786943" cy="1072166"/>
        </a:xfrm>
        <a:prstGeom prst="rect">
          <a:avLst/>
        </a:prstGeom>
        <a:gradFill rotWithShape="0">
          <a:gsLst>
            <a:gs pos="0">
              <a:schemeClr val="accent2">
                <a:hueOff val="-623727"/>
                <a:satOff val="-35969"/>
                <a:lumOff val="3698"/>
                <a:alphaOff val="0"/>
                <a:satMod val="103000"/>
                <a:lumMod val="102000"/>
                <a:tint val="94000"/>
              </a:schemeClr>
            </a:gs>
            <a:gs pos="50000">
              <a:schemeClr val="accent2">
                <a:hueOff val="-623727"/>
                <a:satOff val="-35969"/>
                <a:lumOff val="3698"/>
                <a:alphaOff val="0"/>
                <a:satMod val="110000"/>
                <a:lumMod val="100000"/>
                <a:shade val="100000"/>
              </a:schemeClr>
            </a:gs>
            <a:gs pos="100000">
              <a:schemeClr val="accent2">
                <a:hueOff val="-623727"/>
                <a:satOff val="-35969"/>
                <a:lumOff val="369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b="0" kern="1200" dirty="0"/>
            <a:t>Networks and Spatial Analytics/Descriptive + Diagnostic Analytics</a:t>
          </a:r>
        </a:p>
      </dsp:txBody>
      <dsp:txXfrm>
        <a:off x="15593" y="1827054"/>
        <a:ext cx="1786943" cy="1072166"/>
      </dsp:txXfrm>
    </dsp:sp>
    <dsp:sp modelId="{2BA9B027-1487-4986-9542-011C268A9362}">
      <dsp:nvSpPr>
        <dsp:cNvPr id="0" name=""/>
        <dsp:cNvSpPr/>
      </dsp:nvSpPr>
      <dsp:spPr>
        <a:xfrm>
          <a:off x="3998678" y="2317418"/>
          <a:ext cx="369550" cy="91440"/>
        </a:xfrm>
        <a:custGeom>
          <a:avLst/>
          <a:gdLst/>
          <a:ahLst/>
          <a:cxnLst/>
          <a:rect l="0" t="0" r="0" b="0"/>
          <a:pathLst>
            <a:path>
              <a:moveTo>
                <a:pt x="0" y="45720"/>
              </a:moveTo>
              <a:lnTo>
                <a:pt x="369550" y="45720"/>
              </a:lnTo>
            </a:path>
          </a:pathLst>
        </a:custGeom>
        <a:noFill/>
        <a:ln w="6350" cap="flat" cmpd="sng" algn="ctr">
          <a:solidFill>
            <a:schemeClr val="accent2">
              <a:hueOff val="-970242"/>
              <a:satOff val="-55952"/>
              <a:lumOff val="575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73449" y="2361083"/>
        <a:ext cx="20007" cy="4109"/>
      </dsp:txXfrm>
    </dsp:sp>
    <dsp:sp modelId="{DED66163-0896-4DAF-8302-9E80B3EE7CC3}">
      <dsp:nvSpPr>
        <dsp:cNvPr id="0" name=""/>
        <dsp:cNvSpPr/>
      </dsp:nvSpPr>
      <dsp:spPr>
        <a:xfrm>
          <a:off x="2213534" y="1827054"/>
          <a:ext cx="1786943" cy="1072166"/>
        </a:xfrm>
        <a:prstGeom prst="rect">
          <a:avLst/>
        </a:prstGeom>
        <a:gradFill rotWithShape="0">
          <a:gsLst>
            <a:gs pos="0">
              <a:schemeClr val="accent2">
                <a:hueOff val="-831636"/>
                <a:satOff val="-47959"/>
                <a:lumOff val="4930"/>
                <a:alphaOff val="0"/>
                <a:satMod val="103000"/>
                <a:lumMod val="102000"/>
                <a:tint val="94000"/>
              </a:schemeClr>
            </a:gs>
            <a:gs pos="50000">
              <a:schemeClr val="accent2">
                <a:hueOff val="-831636"/>
                <a:satOff val="-47959"/>
                <a:lumOff val="4930"/>
                <a:alphaOff val="0"/>
                <a:satMod val="110000"/>
                <a:lumMod val="100000"/>
                <a:shade val="100000"/>
              </a:schemeClr>
            </a:gs>
            <a:gs pos="100000">
              <a:schemeClr val="accent2">
                <a:hueOff val="-831636"/>
                <a:satOff val="-47959"/>
                <a:lumOff val="493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b="0" kern="1200" dirty="0"/>
            <a:t>Time Series Analysis</a:t>
          </a:r>
        </a:p>
      </dsp:txBody>
      <dsp:txXfrm>
        <a:off x="2213534" y="1827054"/>
        <a:ext cx="1786943" cy="1072166"/>
      </dsp:txXfrm>
    </dsp:sp>
    <dsp:sp modelId="{9B7F617D-DB8F-4CCD-B446-C935691119D1}">
      <dsp:nvSpPr>
        <dsp:cNvPr id="0" name=""/>
        <dsp:cNvSpPr/>
      </dsp:nvSpPr>
      <dsp:spPr>
        <a:xfrm>
          <a:off x="898218" y="2897421"/>
          <a:ext cx="4395881" cy="380397"/>
        </a:xfrm>
        <a:custGeom>
          <a:avLst/>
          <a:gdLst/>
          <a:ahLst/>
          <a:cxnLst/>
          <a:rect l="0" t="0" r="0" b="0"/>
          <a:pathLst>
            <a:path>
              <a:moveTo>
                <a:pt x="4395881" y="0"/>
              </a:moveTo>
              <a:lnTo>
                <a:pt x="4395881" y="207298"/>
              </a:lnTo>
              <a:lnTo>
                <a:pt x="0" y="207298"/>
              </a:lnTo>
              <a:lnTo>
                <a:pt x="0" y="380397"/>
              </a:lnTo>
            </a:path>
          </a:pathLst>
        </a:custGeom>
        <a:noFill/>
        <a:ln w="6350" cap="flat" cmpd="sng" algn="ctr">
          <a:solidFill>
            <a:schemeClr val="accent2">
              <a:hueOff val="-1212803"/>
              <a:satOff val="-69940"/>
              <a:lumOff val="71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85783" y="3085564"/>
        <a:ext cx="220752" cy="4109"/>
      </dsp:txXfrm>
    </dsp:sp>
    <dsp:sp modelId="{CCCDA745-F379-4EA4-B443-903D2D7361AC}">
      <dsp:nvSpPr>
        <dsp:cNvPr id="0" name=""/>
        <dsp:cNvSpPr/>
      </dsp:nvSpPr>
      <dsp:spPr>
        <a:xfrm>
          <a:off x="4400628" y="1827054"/>
          <a:ext cx="1786943" cy="1072166"/>
        </a:xfrm>
        <a:prstGeom prst="rect">
          <a:avLst/>
        </a:prstGeom>
        <a:gradFill rotWithShape="0">
          <a:gsLst>
            <a:gs pos="0">
              <a:schemeClr val="accent2">
                <a:hueOff val="-1039545"/>
                <a:satOff val="-59949"/>
                <a:lumOff val="6163"/>
                <a:alphaOff val="0"/>
                <a:satMod val="103000"/>
                <a:lumMod val="102000"/>
                <a:tint val="94000"/>
              </a:schemeClr>
            </a:gs>
            <a:gs pos="50000">
              <a:schemeClr val="accent2">
                <a:hueOff val="-1039545"/>
                <a:satOff val="-59949"/>
                <a:lumOff val="6163"/>
                <a:alphaOff val="0"/>
                <a:satMod val="110000"/>
                <a:lumMod val="100000"/>
                <a:shade val="100000"/>
              </a:schemeClr>
            </a:gs>
            <a:gs pos="100000">
              <a:schemeClr val="accent2">
                <a:hueOff val="-1039545"/>
                <a:satOff val="-59949"/>
                <a:lumOff val="6163"/>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kern="1200" dirty="0"/>
            <a:t>Interactive Visual Analytics</a:t>
          </a:r>
        </a:p>
      </dsp:txBody>
      <dsp:txXfrm>
        <a:off x="4400628" y="1827054"/>
        <a:ext cx="1786943" cy="1072166"/>
      </dsp:txXfrm>
    </dsp:sp>
    <dsp:sp modelId="{7E73BBEF-9A18-4C1F-AB86-3CE02DB9B4A4}">
      <dsp:nvSpPr>
        <dsp:cNvPr id="0" name=""/>
        <dsp:cNvSpPr/>
      </dsp:nvSpPr>
      <dsp:spPr>
        <a:xfrm>
          <a:off x="1789890" y="3800581"/>
          <a:ext cx="380397" cy="91440"/>
        </a:xfrm>
        <a:custGeom>
          <a:avLst/>
          <a:gdLst/>
          <a:ahLst/>
          <a:cxnLst/>
          <a:rect l="0" t="0" r="0" b="0"/>
          <a:pathLst>
            <a:path>
              <a:moveTo>
                <a:pt x="0" y="45720"/>
              </a:moveTo>
              <a:lnTo>
                <a:pt x="380397" y="45720"/>
              </a:lnTo>
            </a:path>
          </a:pathLst>
        </a:custGeom>
        <a:noFill/>
        <a:ln w="6350" cap="flat" cmpd="sng" algn="ctr">
          <a:solidFill>
            <a:schemeClr val="accent2">
              <a:hueOff val="-1455363"/>
              <a:satOff val="-83928"/>
              <a:lumOff val="8628"/>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69814" y="3844246"/>
        <a:ext cx="20549" cy="4109"/>
      </dsp:txXfrm>
    </dsp:sp>
    <dsp:sp modelId="{0E9122EA-85B7-4733-858C-E80481AB5B42}">
      <dsp:nvSpPr>
        <dsp:cNvPr id="0" name=""/>
        <dsp:cNvSpPr/>
      </dsp:nvSpPr>
      <dsp:spPr>
        <a:xfrm>
          <a:off x="4747" y="3310218"/>
          <a:ext cx="1786943" cy="1072166"/>
        </a:xfrm>
        <a:prstGeom prst="rect">
          <a:avLst/>
        </a:prstGeom>
        <a:gradFill rotWithShape="0">
          <a:gsLst>
            <a:gs pos="0">
              <a:schemeClr val="accent2">
                <a:hueOff val="-1247454"/>
                <a:satOff val="-71938"/>
                <a:lumOff val="7395"/>
                <a:alphaOff val="0"/>
                <a:satMod val="103000"/>
                <a:lumMod val="102000"/>
                <a:tint val="94000"/>
              </a:schemeClr>
            </a:gs>
            <a:gs pos="50000">
              <a:schemeClr val="accent2">
                <a:hueOff val="-1247454"/>
                <a:satOff val="-71938"/>
                <a:lumOff val="7395"/>
                <a:alphaOff val="0"/>
                <a:satMod val="110000"/>
                <a:lumMod val="100000"/>
                <a:shade val="100000"/>
              </a:schemeClr>
            </a:gs>
            <a:gs pos="100000">
              <a:schemeClr val="accent2">
                <a:hueOff val="-1247454"/>
                <a:satOff val="-71938"/>
                <a:lumOff val="7395"/>
                <a:alphaOff val="0"/>
                <a:lumMod val="99000"/>
                <a:satMod val="120000"/>
                <a:shade val="78000"/>
              </a:schemeClr>
            </a:gs>
          </a:gsLst>
          <a:lin ang="5400000" scaled="0"/>
        </a:gradFill>
        <a:ln>
          <a:noFill/>
        </a:ln>
        <a:effectLst>
          <a:innerShdw blurRad="114300">
            <a:prstClr val="black"/>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b="0" kern="1200" dirty="0"/>
            <a:t>Storytelling + Prescriptive Analytics</a:t>
          </a:r>
        </a:p>
      </dsp:txBody>
      <dsp:txXfrm>
        <a:off x="4747" y="3310218"/>
        <a:ext cx="1786943" cy="1072166"/>
      </dsp:txXfrm>
    </dsp:sp>
    <dsp:sp modelId="{7670E739-0C93-4B89-9BC4-6CBB11C83F39}">
      <dsp:nvSpPr>
        <dsp:cNvPr id="0" name=""/>
        <dsp:cNvSpPr/>
      </dsp:nvSpPr>
      <dsp:spPr>
        <a:xfrm>
          <a:off x="2202687" y="3310218"/>
          <a:ext cx="1786943" cy="1072166"/>
        </a:xfrm>
        <a:prstGeom prst="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562" tIns="91911" rIns="87562" bIns="91911" numCol="1" spcCol="1270" anchor="ctr" anchorCtr="0">
          <a:noAutofit/>
        </a:bodyPr>
        <a:lstStyle/>
        <a:p>
          <a:pPr marL="0" lvl="0" indent="0" algn="ctr" defTabSz="622300">
            <a:lnSpc>
              <a:spcPct val="90000"/>
            </a:lnSpc>
            <a:spcBef>
              <a:spcPct val="0"/>
            </a:spcBef>
            <a:spcAft>
              <a:spcPct val="35000"/>
            </a:spcAft>
            <a:buNone/>
          </a:pPr>
          <a:r>
            <a:rPr lang="en-US" sz="1400" kern="1200" dirty="0"/>
            <a:t>Advanced Topics</a:t>
          </a:r>
        </a:p>
      </dsp:txBody>
      <dsp:txXfrm>
        <a:off x="2202687" y="3310218"/>
        <a:ext cx="1786943" cy="10721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507AC-C274-4902-863A-524B185E89A7}">
      <dsp:nvSpPr>
        <dsp:cNvPr id="0" name=""/>
        <dsp:cNvSpPr/>
      </dsp:nvSpPr>
      <dsp:spPr>
        <a:xfrm>
          <a:off x="0" y="131992"/>
          <a:ext cx="5744684" cy="43173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Have</a:t>
          </a:r>
        </a:p>
      </dsp:txBody>
      <dsp:txXfrm>
        <a:off x="21075" y="153067"/>
        <a:ext cx="5702534" cy="389580"/>
      </dsp:txXfrm>
    </dsp:sp>
    <dsp:sp modelId="{3838CEDF-7850-493B-A274-0213951634B2}">
      <dsp:nvSpPr>
        <dsp:cNvPr id="0" name=""/>
        <dsp:cNvSpPr/>
      </dsp:nvSpPr>
      <dsp:spPr>
        <a:xfrm>
          <a:off x="0" y="563722"/>
          <a:ext cx="5744684" cy="1229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39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Have a clear purpose</a:t>
          </a:r>
        </a:p>
        <a:p>
          <a:pPr marL="228600" lvl="2" indent="-114300" algn="l" defTabSz="622300">
            <a:lnSpc>
              <a:spcPct val="90000"/>
            </a:lnSpc>
            <a:spcBef>
              <a:spcPct val="0"/>
            </a:spcBef>
            <a:spcAft>
              <a:spcPct val="20000"/>
            </a:spcAft>
            <a:buChar char="•"/>
          </a:pPr>
          <a:r>
            <a:rPr lang="en-US" sz="1400" kern="1200" dirty="0"/>
            <a:t>Why do you need a visualization?</a:t>
          </a:r>
        </a:p>
        <a:p>
          <a:pPr marL="228600" lvl="2" indent="-114300" algn="l" defTabSz="622300">
            <a:lnSpc>
              <a:spcPct val="90000"/>
            </a:lnSpc>
            <a:spcBef>
              <a:spcPct val="0"/>
            </a:spcBef>
            <a:spcAft>
              <a:spcPct val="20000"/>
            </a:spcAft>
            <a:buChar char="•"/>
          </a:pPr>
          <a:r>
            <a:rPr lang="en-US" sz="1400" kern="1200" dirty="0"/>
            <a:t>What evidence supports the purpose?</a:t>
          </a:r>
        </a:p>
        <a:p>
          <a:pPr marL="228600" lvl="2" indent="-114300" algn="l" defTabSz="622300">
            <a:lnSpc>
              <a:spcPct val="90000"/>
            </a:lnSpc>
            <a:spcBef>
              <a:spcPct val="0"/>
            </a:spcBef>
            <a:spcAft>
              <a:spcPct val="20000"/>
            </a:spcAft>
            <a:buChar char="•"/>
          </a:pPr>
          <a:r>
            <a:rPr lang="en-US" sz="1400" kern="1200" dirty="0"/>
            <a:t>Who is the intended audience?</a:t>
          </a:r>
        </a:p>
        <a:p>
          <a:pPr marL="228600" lvl="2" indent="-114300" algn="l" defTabSz="622300">
            <a:lnSpc>
              <a:spcPct val="90000"/>
            </a:lnSpc>
            <a:spcBef>
              <a:spcPct val="0"/>
            </a:spcBef>
            <a:spcAft>
              <a:spcPct val="20000"/>
            </a:spcAft>
            <a:buChar char="•"/>
          </a:pPr>
          <a:r>
            <a:rPr lang="en-US" sz="1400" kern="1200" dirty="0"/>
            <a:t>Where is the visualization going to live?</a:t>
          </a:r>
        </a:p>
      </dsp:txBody>
      <dsp:txXfrm>
        <a:off x="0" y="563722"/>
        <a:ext cx="5744684" cy="1229580"/>
      </dsp:txXfrm>
    </dsp:sp>
    <dsp:sp modelId="{74097F55-A1D7-498D-80F0-9A7E89B88C06}">
      <dsp:nvSpPr>
        <dsp:cNvPr id="0" name=""/>
        <dsp:cNvSpPr/>
      </dsp:nvSpPr>
      <dsp:spPr>
        <a:xfrm>
          <a:off x="0" y="1793302"/>
          <a:ext cx="5744684" cy="43173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Show</a:t>
          </a:r>
        </a:p>
      </dsp:txBody>
      <dsp:txXfrm>
        <a:off x="21075" y="1814377"/>
        <a:ext cx="5702534" cy="389580"/>
      </dsp:txXfrm>
    </dsp:sp>
    <dsp:sp modelId="{478A7390-BBBD-447B-BFB7-3E3CAB8D7A1A}">
      <dsp:nvSpPr>
        <dsp:cNvPr id="0" name=""/>
        <dsp:cNvSpPr/>
      </dsp:nvSpPr>
      <dsp:spPr>
        <a:xfrm>
          <a:off x="0" y="2225032"/>
          <a:ext cx="5744684"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39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Show the data clearly</a:t>
          </a:r>
        </a:p>
        <a:p>
          <a:pPr marL="228600" lvl="2" indent="-114300" algn="l" defTabSz="622300">
            <a:lnSpc>
              <a:spcPct val="90000"/>
            </a:lnSpc>
            <a:spcBef>
              <a:spcPct val="0"/>
            </a:spcBef>
            <a:spcAft>
              <a:spcPct val="20000"/>
            </a:spcAft>
            <a:buChar char="•"/>
          </a:pPr>
          <a:r>
            <a:rPr lang="en-US" sz="1400" kern="1200" dirty="0"/>
            <a:t>Do not lie or misrepresent data</a:t>
          </a:r>
        </a:p>
        <a:p>
          <a:pPr marL="228600" lvl="2" indent="-114300" algn="l" defTabSz="622300">
            <a:lnSpc>
              <a:spcPct val="90000"/>
            </a:lnSpc>
            <a:spcBef>
              <a:spcPct val="0"/>
            </a:spcBef>
            <a:spcAft>
              <a:spcPct val="20000"/>
            </a:spcAft>
            <a:buChar char="•"/>
          </a:pPr>
          <a:r>
            <a:rPr lang="en-US" sz="1400" kern="1200" dirty="0"/>
            <a:t>Choose the correct graph type</a:t>
          </a:r>
        </a:p>
        <a:p>
          <a:pPr marL="228600" lvl="2" indent="-114300" algn="l" defTabSz="622300">
            <a:lnSpc>
              <a:spcPct val="90000"/>
            </a:lnSpc>
            <a:spcBef>
              <a:spcPct val="0"/>
            </a:spcBef>
            <a:spcAft>
              <a:spcPct val="20000"/>
            </a:spcAft>
            <a:buChar char="•"/>
          </a:pPr>
          <a:r>
            <a:rPr lang="en-US" sz="1400" kern="1200" dirty="0"/>
            <a:t>Choose the correct scaling, mappings, and aesthetics</a:t>
          </a:r>
        </a:p>
      </dsp:txBody>
      <dsp:txXfrm>
        <a:off x="0" y="2225032"/>
        <a:ext cx="5744684" cy="968760"/>
      </dsp:txXfrm>
    </dsp:sp>
    <dsp:sp modelId="{B8EB7AEB-077A-4086-865C-49E439E4EFB5}">
      <dsp:nvSpPr>
        <dsp:cNvPr id="0" name=""/>
        <dsp:cNvSpPr/>
      </dsp:nvSpPr>
      <dsp:spPr>
        <a:xfrm>
          <a:off x="0" y="3193793"/>
          <a:ext cx="5744684" cy="43173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Make</a:t>
          </a:r>
        </a:p>
      </dsp:txBody>
      <dsp:txXfrm>
        <a:off x="21075" y="3214868"/>
        <a:ext cx="5702534" cy="389580"/>
      </dsp:txXfrm>
    </dsp:sp>
    <dsp:sp modelId="{62FA2000-1345-402F-8D89-BE5E2052278A}">
      <dsp:nvSpPr>
        <dsp:cNvPr id="0" name=""/>
        <dsp:cNvSpPr/>
      </dsp:nvSpPr>
      <dsp:spPr>
        <a:xfrm>
          <a:off x="0" y="3625523"/>
          <a:ext cx="5744684"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39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Make the message obvious</a:t>
          </a:r>
        </a:p>
        <a:p>
          <a:pPr marL="228600" lvl="2" indent="-114300" algn="l" defTabSz="622300">
            <a:lnSpc>
              <a:spcPct val="90000"/>
            </a:lnSpc>
            <a:spcBef>
              <a:spcPct val="0"/>
            </a:spcBef>
            <a:spcAft>
              <a:spcPct val="20000"/>
            </a:spcAft>
            <a:buChar char="•"/>
          </a:pPr>
          <a:r>
            <a:rPr lang="en-US" sz="1400" kern="1200" dirty="0"/>
            <a:t>Be conscious of your color and design decisions</a:t>
          </a:r>
        </a:p>
        <a:p>
          <a:pPr marL="228600" lvl="2" indent="-114300" algn="l" defTabSz="622300">
            <a:lnSpc>
              <a:spcPct val="90000"/>
            </a:lnSpc>
            <a:spcBef>
              <a:spcPct val="0"/>
            </a:spcBef>
            <a:spcAft>
              <a:spcPct val="20000"/>
            </a:spcAft>
            <a:buChar char="•"/>
          </a:pPr>
          <a:r>
            <a:rPr lang="en-US" sz="1400" kern="1200" dirty="0"/>
            <a:t>Focus attention to the important areas</a:t>
          </a:r>
        </a:p>
        <a:p>
          <a:pPr marL="228600" lvl="2" indent="-114300" algn="l" defTabSz="622300">
            <a:lnSpc>
              <a:spcPct val="90000"/>
            </a:lnSpc>
            <a:spcBef>
              <a:spcPct val="0"/>
            </a:spcBef>
            <a:spcAft>
              <a:spcPct val="20000"/>
            </a:spcAft>
            <a:buChar char="•"/>
          </a:pPr>
          <a:r>
            <a:rPr lang="en-US" sz="1400" kern="1200" dirty="0"/>
            <a:t>Eliminate clutter</a:t>
          </a:r>
        </a:p>
      </dsp:txBody>
      <dsp:txXfrm>
        <a:off x="0" y="3625523"/>
        <a:ext cx="5744684" cy="968760"/>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86AC5C-351A-BC41-996B-9C67454A68C7}" type="datetimeFigureOut">
              <a:rPr lang="en-US" smtClean="0"/>
              <a:t>7/24/26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967646-9E6D-6B49-ABB3-19DAEAAC06F8}" type="slidenum">
              <a:rPr lang="en-US" smtClean="0"/>
              <a:t>‹#›</a:t>
            </a:fld>
            <a:endParaRPr lang="en-US"/>
          </a:p>
        </p:txBody>
      </p:sp>
    </p:spTree>
    <p:extLst>
      <p:ext uri="{BB962C8B-B14F-4D97-AF65-F5344CB8AC3E}">
        <p14:creationId xmlns:p14="http://schemas.microsoft.com/office/powerpoint/2010/main" val="1338393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XLE stock</a:t>
            </a:r>
            <a:r>
              <a:rPr lang="en-US" b="0" i="0" dirty="0">
                <a:solidFill>
                  <a:srgbClr val="4D5156"/>
                </a:solidFill>
                <a:effectLst/>
                <a:latin typeface="Roboto" panose="02000000000000000000" pitchFamily="2" charset="0"/>
              </a:rPr>
              <a:t> latest Energy Select Sector SPDR Fund </a:t>
            </a:r>
            <a:endParaRPr lang="en-US" dirty="0"/>
          </a:p>
        </p:txBody>
      </p:sp>
      <p:sp>
        <p:nvSpPr>
          <p:cNvPr id="4" name="Slide Number Placeholder 3"/>
          <p:cNvSpPr>
            <a:spLocks noGrp="1"/>
          </p:cNvSpPr>
          <p:nvPr>
            <p:ph type="sldNum" sz="quarter" idx="5"/>
          </p:nvPr>
        </p:nvSpPr>
        <p:spPr/>
        <p:txBody>
          <a:bodyPr/>
          <a:lstStyle/>
          <a:p>
            <a:fld id="{38967646-9E6D-6B49-ABB3-19DAEAAC06F8}" type="slidenum">
              <a:rPr lang="en-US" smtClean="0"/>
              <a:t>19</a:t>
            </a:fld>
            <a:endParaRPr lang="en-US"/>
          </a:p>
        </p:txBody>
      </p:sp>
    </p:spTree>
    <p:extLst>
      <p:ext uri="{BB962C8B-B14F-4D97-AF65-F5344CB8AC3E}">
        <p14:creationId xmlns:p14="http://schemas.microsoft.com/office/powerpoint/2010/main" val="3361119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2086902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3779909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1854891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83B07F-4CD4-4317-8C4A-FB7719185DC8}" type="datetimeFigureOut">
              <a:rPr lang="en-US" smtClean="0"/>
              <a:t>7/24/26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2952408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83B07F-4CD4-4317-8C4A-FB7719185DC8}" type="datetimeFigureOut">
              <a:rPr lang="en-US" smtClean="0"/>
              <a:t>7/24/26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1860244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83B07F-4CD4-4317-8C4A-FB7719185DC8}" type="datetimeFigureOut">
              <a:rPr lang="en-US" smtClean="0"/>
              <a:t>7/24/26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4092136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83B07F-4CD4-4317-8C4A-FB7719185DC8}" type="datetimeFigureOut">
              <a:rPr lang="en-US" smtClean="0"/>
              <a:t>7/24/26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267598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83B07F-4CD4-4317-8C4A-FB7719185DC8}" type="datetimeFigureOut">
              <a:rPr lang="en-US" smtClean="0"/>
              <a:t>7/24/26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3358741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83B07F-4CD4-4317-8C4A-FB7719185DC8}" type="datetimeFigureOut">
              <a:rPr lang="en-US" smtClean="0"/>
              <a:t>7/24/26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208454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3155954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83B07F-4CD4-4317-8C4A-FB7719185DC8}" type="datetimeFigureOut">
              <a:rPr lang="en-US" smtClean="0"/>
              <a:t>7/24/26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5DAFC-158C-4D94-98A9-A33A23CF8A84}" type="slidenum">
              <a:rPr lang="en-US" smtClean="0"/>
              <a:t>‹#›</a:t>
            </a:fld>
            <a:endParaRPr lang="en-US"/>
          </a:p>
        </p:txBody>
      </p:sp>
    </p:spTree>
    <p:extLst>
      <p:ext uri="{BB962C8B-B14F-4D97-AF65-F5344CB8AC3E}">
        <p14:creationId xmlns:p14="http://schemas.microsoft.com/office/powerpoint/2010/main" val="3079207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83B07F-4CD4-4317-8C4A-FB7719185DC8}" type="datetimeFigureOut">
              <a:rPr lang="en-US" smtClean="0"/>
              <a:t>7/24/26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05DAFC-158C-4D94-98A9-A33A23CF8A84}" type="slidenum">
              <a:rPr lang="en-US" smtClean="0"/>
              <a:t>‹#›</a:t>
            </a:fld>
            <a:endParaRPr lang="en-US"/>
          </a:p>
        </p:txBody>
      </p:sp>
    </p:spTree>
    <p:extLst>
      <p:ext uri="{BB962C8B-B14F-4D97-AF65-F5344CB8AC3E}">
        <p14:creationId xmlns:p14="http://schemas.microsoft.com/office/powerpoint/2010/main" val="153850595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inkscape.org/"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gimp.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FF9C3F-042C-4258-ABF4-9A41C105F147}"/>
              </a:ext>
            </a:extLst>
          </p:cNvPr>
          <p:cNvPicPr>
            <a:picLocks noChangeAspect="1"/>
          </p:cNvPicPr>
          <p:nvPr/>
        </p:nvPicPr>
        <p:blipFill rotWithShape="1">
          <a:blip r:embed="rId2">
            <a:duotone>
              <a:prstClr val="black"/>
              <a:prstClr val="white"/>
            </a:duotone>
            <a:alphaModFix amt="35000"/>
          </a:blip>
          <a:srcRect t="8537"/>
          <a:stretch/>
        </p:blipFill>
        <p:spPr>
          <a:xfrm>
            <a:off x="20" y="10"/>
            <a:ext cx="12191980" cy="6857990"/>
          </a:xfrm>
          <a:prstGeom prst="rect">
            <a:avLst/>
          </a:prstGeom>
        </p:spPr>
      </p:pic>
      <p:sp>
        <p:nvSpPr>
          <p:cNvPr id="2" name="Title 1">
            <a:extLst>
              <a:ext uri="{FF2B5EF4-FFF2-40B4-BE49-F238E27FC236}">
                <a16:creationId xmlns:a16="http://schemas.microsoft.com/office/drawing/2014/main" id="{4607AD6C-4CB3-4DF9-9F2E-8BB724EBD7F7}"/>
              </a:ext>
            </a:extLst>
          </p:cNvPr>
          <p:cNvSpPr>
            <a:spLocks noGrp="1"/>
          </p:cNvSpPr>
          <p:nvPr>
            <p:ph type="title"/>
          </p:nvPr>
        </p:nvSpPr>
        <p:spPr>
          <a:xfrm>
            <a:off x="838201" y="1065862"/>
            <a:ext cx="3313164" cy="4726276"/>
          </a:xfrm>
        </p:spPr>
        <p:txBody>
          <a:bodyPr>
            <a:normAutofit/>
          </a:bodyPr>
          <a:lstStyle/>
          <a:p>
            <a:pPr algn="r"/>
            <a:r>
              <a:rPr lang="en-US" sz="4000" dirty="0"/>
              <a:t>Virtual Session </a:t>
            </a:r>
            <a:r>
              <a:rPr lang="en-US" sz="23900" dirty="0"/>
              <a:t>7</a:t>
            </a:r>
            <a:endParaRPr lang="en-US" sz="4000" dirty="0"/>
          </a:p>
        </p:txBody>
      </p:sp>
      <p:graphicFrame>
        <p:nvGraphicFramePr>
          <p:cNvPr id="5" name="Content Placeholder 2">
            <a:extLst>
              <a:ext uri="{FF2B5EF4-FFF2-40B4-BE49-F238E27FC236}">
                <a16:creationId xmlns:a16="http://schemas.microsoft.com/office/drawing/2014/main" id="{53282213-89C8-4113-B0E3-F0FE4A502038}"/>
              </a:ext>
            </a:extLst>
          </p:cNvPr>
          <p:cNvGraphicFramePr>
            <a:graphicFrameLocks noGrp="1"/>
          </p:cNvGraphicFramePr>
          <p:nvPr>
            <p:ph idx="1"/>
            <p:extLst>
              <p:ext uri="{D42A27DB-BD31-4B8C-83A1-F6EECF244321}">
                <p14:modId xmlns:p14="http://schemas.microsoft.com/office/powerpoint/2010/main" val="3897358766"/>
              </p:ext>
            </p:extLst>
          </p:nvPr>
        </p:nvGraphicFramePr>
        <p:xfrm>
          <a:off x="5155379" y="1065862"/>
          <a:ext cx="6192319" cy="47262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960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7703F-4A51-4836-A279-57F318B55667}"/>
              </a:ext>
            </a:extLst>
          </p:cNvPr>
          <p:cNvSpPr>
            <a:spLocks noGrp="1"/>
          </p:cNvSpPr>
          <p:nvPr>
            <p:ph type="title"/>
          </p:nvPr>
        </p:nvSpPr>
        <p:spPr/>
        <p:txBody>
          <a:bodyPr/>
          <a:lstStyle/>
          <a:p>
            <a:r>
              <a:rPr lang="en-US" dirty="0"/>
              <a:t>Comparing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2AEB57-F6BD-4918-BD2A-01A75602BFA1}"/>
                  </a:ext>
                </a:extLst>
              </p:cNvPr>
              <p:cNvSpPr>
                <a:spLocks noGrp="1"/>
              </p:cNvSpPr>
              <p:nvPr>
                <p:ph idx="1"/>
              </p:nvPr>
            </p:nvSpPr>
            <p:spPr/>
            <p:txBody>
              <a:bodyPr/>
              <a:lstStyle/>
              <a:p>
                <a:r>
                  <a:rPr lang="en-US" dirty="0"/>
                  <a:t>How do we compare different variables?</a:t>
                </a:r>
              </a:p>
              <a:p>
                <a:pPr lvl="1"/>
                <a:r>
                  <a:rPr lang="en-US" dirty="0"/>
                  <a:t>How did we compare sectors with different price ranges?</a:t>
                </a:r>
              </a:p>
              <a:p>
                <a:pPr lvl="1"/>
                <a:r>
                  <a:rPr lang="en-US" dirty="0"/>
                  <a:t>Look at changes (year over year, month over month, etc.) which makes intuitive sense; e.g., how did the monthly change in the unemployment rate compare to the monthly change in prices for the industrial sector? </a:t>
                </a:r>
              </a:p>
              <a:p>
                <a:pPr lvl="1"/>
                <a:r>
                  <a:rPr lang="en-US" dirty="0"/>
                  <a:t>Simple return and log returns are variations on changes of a variable</a:t>
                </a:r>
                <a:br>
                  <a:rPr lang="en-US" dirty="0"/>
                </a:br>
                <a14:m>
                  <m:oMath xmlns:m="http://schemas.openxmlformats.org/officeDocument/2006/math">
                    <m:r>
                      <a:rPr lang="en-US" b="0" i="1" smtClean="0">
                        <a:latin typeface="Cambria Math" panose="02040503050406030204" pitchFamily="18" charset="0"/>
                      </a:rPr>
                      <m:t>𝑆𝑖𝑚𝑝𝑙𝑒</m:t>
                    </m:r>
                    <m:r>
                      <a:rPr lang="en-US" b="0" i="1" smtClean="0">
                        <a:latin typeface="Cambria Math" panose="02040503050406030204" pitchFamily="18" charset="0"/>
                      </a:rPr>
                      <m:t> </m:t>
                    </m:r>
                    <m:r>
                      <a:rPr lang="en-US" b="0" i="1" smtClean="0">
                        <a:latin typeface="Cambria Math" panose="02040503050406030204" pitchFamily="18" charset="0"/>
                      </a:rPr>
                      <m:t>𝑟𝑒𝑡𝑢𝑟𝑛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𝑃𝑟𝑖𝑐𝑒</m:t>
                            </m:r>
                          </m:e>
                          <m:sub>
                            <m:r>
                              <a:rPr lang="en-US" b="0" i="1" smtClean="0">
                                <a:latin typeface="Cambria Math" panose="02040503050406030204" pitchFamily="18" charset="0"/>
                              </a:rPr>
                              <m:t>𝑡</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𝑃𝑟𝑖𝑐𝑒</m:t>
                            </m:r>
                          </m:e>
                          <m:sub>
                            <m:r>
                              <a:rPr lang="en-US" b="0" i="1" smtClean="0">
                                <a:latin typeface="Cambria Math" panose="02040503050406030204" pitchFamily="18" charset="0"/>
                              </a:rPr>
                              <m:t>𝑡</m:t>
                            </m:r>
                            <m:r>
                              <a:rPr lang="en-US" b="0" i="1" smtClean="0">
                                <a:latin typeface="Cambria Math" panose="02040503050406030204" pitchFamily="18" charset="0"/>
                              </a:rPr>
                              <m:t>−1</m:t>
                            </m:r>
                          </m:sub>
                        </m:sSub>
                      </m:den>
                    </m:f>
                    <m:r>
                      <a:rPr lang="en-US" b="0" i="1" smtClean="0">
                        <a:latin typeface="Cambria Math" panose="02040503050406030204" pitchFamily="18" charset="0"/>
                      </a:rPr>
                      <m:t>−1</m:t>
                    </m:r>
                  </m:oMath>
                </a14:m>
                <a:br>
                  <a:rPr lang="en-US" b="0" dirty="0"/>
                </a:br>
                <a:br>
                  <a:rPr lang="en-US" b="0" dirty="0"/>
                </a:br>
                <a14:m>
                  <m:oMath xmlns:m="http://schemas.openxmlformats.org/officeDocument/2006/math">
                    <m:r>
                      <a:rPr lang="en-US" b="0" i="1" smtClean="0">
                        <a:latin typeface="Cambria Math" panose="02040503050406030204" pitchFamily="18" charset="0"/>
                      </a:rPr>
                      <m:t>𝐿𝑜𝑔</m:t>
                    </m:r>
                    <m:r>
                      <a:rPr lang="en-US" b="0" i="1" smtClean="0">
                        <a:latin typeface="Cambria Math" panose="02040503050406030204" pitchFamily="18" charset="0"/>
                      </a:rPr>
                      <m:t> </m:t>
                    </m:r>
                    <m:r>
                      <a:rPr lang="en-US" b="0" i="1" smtClean="0">
                        <a:latin typeface="Cambria Math" panose="02040503050406030204" pitchFamily="18" charset="0"/>
                      </a:rPr>
                      <m:t>𝑟𝑒𝑡𝑢𝑟𝑛</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𝑠𝑖𝑚𝑝𝑙𝑒</m:t>
                            </m:r>
                            <m:r>
                              <a:rPr lang="en-US" b="0" i="1" smtClean="0">
                                <a:latin typeface="Cambria Math" panose="02040503050406030204" pitchFamily="18" charset="0"/>
                              </a:rPr>
                              <m:t> </m:t>
                            </m:r>
                            <m:r>
                              <a:rPr lang="en-US" b="0" i="1" smtClean="0">
                                <a:latin typeface="Cambria Math" panose="02040503050406030204" pitchFamily="18" charset="0"/>
                              </a:rPr>
                              <m:t>𝑟𝑒𝑡𝑢𝑟𝑛</m:t>
                            </m:r>
                          </m:e>
                        </m:d>
                      </m:e>
                    </m:func>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b="0" i="0" smtClean="0">
                            <a:latin typeface="Cambria Math" panose="02040503050406030204" pitchFamily="18" charset="0"/>
                          </a:rPr>
                          <m:t>ln</m:t>
                        </m:r>
                        <m:r>
                          <a:rPr lang="en-US" b="0" i="1" smtClean="0">
                            <a:latin typeface="Cambria Math" panose="02040503050406030204" pitchFamily="18" charset="0"/>
                          </a:rPr>
                          <m:t>⁡(</m:t>
                        </m:r>
                        <m:r>
                          <a:rPr lang="en-US" i="1">
                            <a:latin typeface="Cambria Math" panose="02040503050406030204" pitchFamily="18" charset="0"/>
                          </a:rPr>
                          <m:t>𝑃𝑟𝑖𝑐𝑒</m:t>
                        </m:r>
                      </m:e>
                      <m:sub>
                        <m:r>
                          <a:rPr lang="en-US" i="1">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ln</m:t>
                    </m:r>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𝑃𝑟𝑖𝑐𝑒</m:t>
                        </m:r>
                      </m:e>
                      <m:sub>
                        <m:r>
                          <a:rPr lang="en-US" i="1">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492AEB57-F6BD-4918-BD2A-01A75602BFA1}"/>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831149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4110-B287-427E-9640-E16E33B091FA}"/>
              </a:ext>
            </a:extLst>
          </p:cNvPr>
          <p:cNvSpPr>
            <a:spLocks noGrp="1"/>
          </p:cNvSpPr>
          <p:nvPr>
            <p:ph type="title"/>
          </p:nvPr>
        </p:nvSpPr>
        <p:spPr/>
        <p:txBody>
          <a:bodyPr/>
          <a:lstStyle/>
          <a:p>
            <a:r>
              <a:rPr lang="en-US" dirty="0"/>
              <a:t>Transforming variables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C5A0A5-4568-46E8-99FB-2691BE6BD530}"/>
                  </a:ext>
                </a:extLst>
              </p:cNvPr>
              <p:cNvSpPr>
                <a:spLocks noGrp="1"/>
              </p:cNvSpPr>
              <p:nvPr>
                <p:ph idx="1"/>
              </p:nvPr>
            </p:nvSpPr>
            <p:spPr/>
            <p:txBody>
              <a:bodyPr/>
              <a:lstStyle/>
              <a:p>
                <a:pPr marL="457200" lvl="1" indent="0">
                  <a:buNone/>
                </a:pPr>
                <a:r>
                  <a:rPr lang="en-US" dirty="0"/>
                  <a:t>Other ways to transform numeric variables</a:t>
                </a:r>
                <a:r>
                  <a:rPr lang="en-US" b="1" dirty="0"/>
                  <a:t>:</a:t>
                </a:r>
              </a:p>
              <a:p>
                <a:pPr lvl="1"/>
                <a:r>
                  <a:rPr lang="en-US" b="1" dirty="0"/>
                  <a:t>Normalization</a:t>
                </a:r>
                <a:r>
                  <a:rPr lang="en-US" dirty="0"/>
                  <a:t>; e.g., Min-max scaling where values end up in range [0,1]: </a:t>
                </a:r>
              </a:p>
              <a:p>
                <a:pPr marL="457200" lvl="1" indent="0">
                  <a:buNone/>
                </a:pPr>
                <a:br>
                  <a:rPr lang="en-US"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𝑚𝑖𝑛</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𝑚𝑎𝑥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𝑚𝑖𝑛</m:t>
                              </m:r>
                            </m:sub>
                          </m:sSub>
                        </m:den>
                      </m:f>
                    </m:oMath>
                  </m:oMathPara>
                </a14:m>
                <a:endParaRPr lang="en-US" dirty="0"/>
              </a:p>
              <a:p>
                <a:pPr lvl="1"/>
                <a:endParaRPr lang="en-US" dirty="0"/>
              </a:p>
              <a:p>
                <a:pPr lvl="1"/>
                <a:r>
                  <a:rPr lang="en-US" b="1" dirty="0"/>
                  <a:t>Standardization</a:t>
                </a:r>
                <a:r>
                  <a:rPr lang="en-US" dirty="0"/>
                  <a:t>; e.g., z-score normalization: </a:t>
                </a:r>
                <a:br>
                  <a:rPr lang="en-US" b="0" i="1" dirty="0">
                    <a:latin typeface="Cambria Math" panose="02040503050406030204" pitchFamily="18" charset="0"/>
                  </a:rPr>
                </a:br>
                <a:br>
                  <a:rPr lang="en-US" b="0" i="1" dirty="0">
                    <a:latin typeface="Cambria Math" panose="02040503050406030204" pitchFamily="18" charset="0"/>
                  </a:rPr>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𝑎𝑣𝑔</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num>
                      <m:den>
                        <m:r>
                          <a:rPr lang="en-US" b="0" i="1" smtClean="0">
                            <a:latin typeface="Cambria Math" panose="02040503050406030204" pitchFamily="18" charset="0"/>
                          </a:rPr>
                          <m:t>𝑠𝑑</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den>
                    </m:f>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71C5A0A5-4568-46E8-99FB-2691BE6BD530}"/>
                  </a:ext>
                </a:extLst>
              </p:cNvPr>
              <p:cNvSpPr>
                <a:spLocks noGrp="1" noRot="1" noChangeAspect="1" noMove="1" noResize="1" noEditPoints="1" noAdjustHandles="1" noChangeArrowheads="1" noChangeShapeType="1" noTextEdit="1"/>
              </p:cNvSpPr>
              <p:nvPr>
                <p:ph idx="1"/>
              </p:nvPr>
            </p:nvSpPr>
            <p:spPr>
              <a:blipFill>
                <a:blip r:embed="rId2"/>
                <a:stretch>
                  <a:fillRect t="-1744"/>
                </a:stretch>
              </a:blipFill>
            </p:spPr>
            <p:txBody>
              <a:bodyPr/>
              <a:lstStyle/>
              <a:p>
                <a:r>
                  <a:rPr lang="en-US">
                    <a:noFill/>
                  </a:rPr>
                  <a:t> </a:t>
                </a:r>
              </a:p>
            </p:txBody>
          </p:sp>
        </mc:Fallback>
      </mc:AlternateContent>
    </p:spTree>
    <p:extLst>
      <p:ext uri="{BB962C8B-B14F-4D97-AF65-F5344CB8AC3E}">
        <p14:creationId xmlns:p14="http://schemas.microsoft.com/office/powerpoint/2010/main" val="377856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bstract blurred public library with bookshelves">
            <a:extLst>
              <a:ext uri="{FF2B5EF4-FFF2-40B4-BE49-F238E27FC236}">
                <a16:creationId xmlns:a16="http://schemas.microsoft.com/office/drawing/2014/main" id="{FE3AD65A-03DD-41B2-AE4D-31FC7F4EBB5D}"/>
              </a:ext>
            </a:extLst>
          </p:cNvPr>
          <p:cNvPicPr>
            <a:picLocks noChangeAspect="1"/>
          </p:cNvPicPr>
          <p:nvPr/>
        </p:nvPicPr>
        <p:blipFill rotWithShape="1">
          <a:blip r:embed="rId2">
            <a:alphaModFix amt="35000"/>
          </a:blip>
          <a:srcRect t="1310" b="14420"/>
          <a:stretch/>
        </p:blipFill>
        <p:spPr>
          <a:xfrm>
            <a:off x="20" y="1"/>
            <a:ext cx="12191980" cy="6857999"/>
          </a:xfrm>
          <a:prstGeom prst="rect">
            <a:avLst/>
          </a:prstGeom>
        </p:spPr>
      </p:pic>
      <p:sp>
        <p:nvSpPr>
          <p:cNvPr id="2" name="Title 1">
            <a:extLst>
              <a:ext uri="{FF2B5EF4-FFF2-40B4-BE49-F238E27FC236}">
                <a16:creationId xmlns:a16="http://schemas.microsoft.com/office/drawing/2014/main" id="{5BCB2642-84B8-48EB-A30A-1CA0A7783876}"/>
              </a:ext>
            </a:extLst>
          </p:cNvPr>
          <p:cNvSpPr>
            <a:spLocks noGrp="1"/>
          </p:cNvSpPr>
          <p:nvPr>
            <p:ph type="title"/>
          </p:nvPr>
        </p:nvSpPr>
        <p:spPr>
          <a:xfrm>
            <a:off x="838201" y="1065862"/>
            <a:ext cx="3313164" cy="4726276"/>
          </a:xfrm>
        </p:spPr>
        <p:txBody>
          <a:bodyPr>
            <a:normAutofit/>
          </a:bodyPr>
          <a:lstStyle/>
          <a:p>
            <a:pPr algn="r"/>
            <a:r>
              <a:rPr lang="en-US" sz="4000" dirty="0">
                <a:solidFill>
                  <a:srgbClr val="FFFFFF"/>
                </a:solidFill>
              </a:rPr>
              <a:t>Designing dashboards</a:t>
            </a:r>
          </a:p>
        </p:txBody>
      </p:sp>
      <p:cxnSp>
        <p:nvCxnSpPr>
          <p:cNvPr id="12" name="Straight Connector 11">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53EF7F6-185C-4ACE-B7B3-12A5F301FA08}"/>
              </a:ext>
            </a:extLst>
          </p:cNvPr>
          <p:cNvSpPr>
            <a:spLocks noGrp="1"/>
          </p:cNvSpPr>
          <p:nvPr>
            <p:ph idx="1"/>
          </p:nvPr>
        </p:nvSpPr>
        <p:spPr>
          <a:xfrm>
            <a:off x="5155379" y="1065862"/>
            <a:ext cx="5744685" cy="4726276"/>
          </a:xfrm>
        </p:spPr>
        <p:txBody>
          <a:bodyPr anchor="ctr">
            <a:normAutofit/>
          </a:bodyPr>
          <a:lstStyle/>
          <a:p>
            <a:pPr marL="0" indent="0">
              <a:buNone/>
            </a:pPr>
            <a:r>
              <a:rPr lang="en-US" sz="2000" dirty="0">
                <a:solidFill>
                  <a:srgbClr val="FFFFFF"/>
                </a:solidFill>
              </a:rPr>
              <a:t>Behind any dashboard design lies three primary design constraints:</a:t>
            </a:r>
          </a:p>
          <a:p>
            <a:r>
              <a:rPr lang="en-US" sz="2000" b="1" dirty="0">
                <a:solidFill>
                  <a:srgbClr val="FFFFFF"/>
                </a:solidFill>
              </a:rPr>
              <a:t>Objectives</a:t>
            </a:r>
          </a:p>
          <a:p>
            <a:pPr lvl="1"/>
            <a:r>
              <a:rPr lang="en-US" sz="2000" dirty="0">
                <a:solidFill>
                  <a:srgbClr val="FFFFFF"/>
                </a:solidFill>
              </a:rPr>
              <a:t>Is the dashboard for </a:t>
            </a:r>
            <a:r>
              <a:rPr lang="en-US" sz="2000" b="1" dirty="0">
                <a:solidFill>
                  <a:srgbClr val="FFFFFF"/>
                </a:solidFill>
              </a:rPr>
              <a:t>operational, analytical, or strategic</a:t>
            </a:r>
            <a:r>
              <a:rPr lang="en-US" sz="2000" dirty="0">
                <a:solidFill>
                  <a:srgbClr val="FFFFFF"/>
                </a:solidFill>
              </a:rPr>
              <a:t> use?</a:t>
            </a:r>
          </a:p>
          <a:p>
            <a:r>
              <a:rPr lang="en-US" sz="2000" b="1" dirty="0">
                <a:solidFill>
                  <a:srgbClr val="FFFFFF"/>
                </a:solidFill>
              </a:rPr>
              <a:t>Time requirements</a:t>
            </a:r>
          </a:p>
          <a:p>
            <a:pPr lvl="1"/>
            <a:r>
              <a:rPr lang="en-US" sz="2000" dirty="0">
                <a:solidFill>
                  <a:srgbClr val="FFFFFF"/>
                </a:solidFill>
              </a:rPr>
              <a:t>What is the attention level of the audience to process or view the information?</a:t>
            </a:r>
          </a:p>
          <a:p>
            <a:r>
              <a:rPr lang="en-US" sz="2000" b="1" dirty="0">
                <a:solidFill>
                  <a:srgbClr val="FFFFFF"/>
                </a:solidFill>
              </a:rPr>
              <a:t>Audience</a:t>
            </a:r>
          </a:p>
          <a:p>
            <a:pPr lvl="1"/>
            <a:r>
              <a:rPr lang="en-US" sz="2000" dirty="0">
                <a:solidFill>
                  <a:srgbClr val="FFFFFF"/>
                </a:solidFill>
              </a:rPr>
              <a:t>What understanding of the data or domain do they already have?</a:t>
            </a:r>
          </a:p>
          <a:p>
            <a:pPr lvl="1"/>
            <a:r>
              <a:rPr lang="en-US" sz="2000" dirty="0">
                <a:solidFill>
                  <a:srgbClr val="FFFFFF"/>
                </a:solidFill>
              </a:rPr>
              <a:t>Are there any accessibility constraints?</a:t>
            </a:r>
          </a:p>
          <a:p>
            <a:pPr lvl="1"/>
            <a:r>
              <a:rPr lang="en-US" sz="2000" dirty="0">
                <a:solidFill>
                  <a:srgbClr val="FFFFFF"/>
                </a:solidFill>
              </a:rPr>
              <a:t>What medium (print, digital, web, mobile, etc.) will they view this?</a:t>
            </a:r>
          </a:p>
          <a:p>
            <a:endParaRPr lang="en-US" sz="2000" dirty="0">
              <a:solidFill>
                <a:srgbClr val="FFFFFF"/>
              </a:solidFill>
            </a:endParaRPr>
          </a:p>
        </p:txBody>
      </p:sp>
    </p:spTree>
    <p:extLst>
      <p:ext uri="{BB962C8B-B14F-4D97-AF65-F5344CB8AC3E}">
        <p14:creationId xmlns:p14="http://schemas.microsoft.com/office/powerpoint/2010/main" val="179972673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Blurry image of a person's face&#10;&#10;Description automatically generated with low confidence">
            <a:extLst>
              <a:ext uri="{FF2B5EF4-FFF2-40B4-BE49-F238E27FC236}">
                <a16:creationId xmlns:a16="http://schemas.microsoft.com/office/drawing/2014/main" id="{F4875696-FE72-4486-81E4-E8FFE4CE4631}"/>
              </a:ext>
            </a:extLst>
          </p:cNvPr>
          <p:cNvPicPr>
            <a:picLocks noChangeAspect="1"/>
          </p:cNvPicPr>
          <p:nvPr/>
        </p:nvPicPr>
        <p:blipFill rotWithShape="1">
          <a:blip r:embed="rId2">
            <a:alphaModFix amt="35000"/>
          </a:blip>
          <a:srcRect t="985" b="14746"/>
          <a:stretch/>
        </p:blipFill>
        <p:spPr>
          <a:xfrm>
            <a:off x="20" y="1"/>
            <a:ext cx="12191980" cy="6857999"/>
          </a:xfrm>
          <a:prstGeom prst="rect">
            <a:avLst/>
          </a:prstGeom>
        </p:spPr>
      </p:pic>
      <p:sp>
        <p:nvSpPr>
          <p:cNvPr id="2" name="Title 1">
            <a:extLst>
              <a:ext uri="{FF2B5EF4-FFF2-40B4-BE49-F238E27FC236}">
                <a16:creationId xmlns:a16="http://schemas.microsoft.com/office/drawing/2014/main" id="{3C7C7174-643E-4328-AA1E-0047298D31E2}"/>
              </a:ext>
            </a:extLst>
          </p:cNvPr>
          <p:cNvSpPr>
            <a:spLocks noGrp="1"/>
          </p:cNvSpPr>
          <p:nvPr>
            <p:ph type="title"/>
          </p:nvPr>
        </p:nvSpPr>
        <p:spPr>
          <a:xfrm>
            <a:off x="838201" y="1065862"/>
            <a:ext cx="3313164" cy="4726276"/>
          </a:xfrm>
        </p:spPr>
        <p:txBody>
          <a:bodyPr>
            <a:normAutofit/>
          </a:bodyPr>
          <a:lstStyle/>
          <a:p>
            <a:pPr algn="r"/>
            <a:r>
              <a:rPr lang="en-US" sz="3700">
                <a:solidFill>
                  <a:srgbClr val="FFFFFF"/>
                </a:solidFill>
              </a:rPr>
              <a:t>Three Rules of Visual Communication</a:t>
            </a:r>
          </a:p>
        </p:txBody>
      </p:sp>
      <p:cxnSp>
        <p:nvCxnSpPr>
          <p:cNvPr id="15" name="Straight Connector 14">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6" name="Content Placeholder 2">
            <a:extLst>
              <a:ext uri="{FF2B5EF4-FFF2-40B4-BE49-F238E27FC236}">
                <a16:creationId xmlns:a16="http://schemas.microsoft.com/office/drawing/2014/main" id="{9EF1D497-0283-4ED1-B8B3-50B1BDCA9776}"/>
              </a:ext>
            </a:extLst>
          </p:cNvPr>
          <p:cNvGraphicFramePr>
            <a:graphicFrameLocks noGrp="1"/>
          </p:cNvGraphicFramePr>
          <p:nvPr>
            <p:ph idx="1"/>
            <p:extLst>
              <p:ext uri="{D42A27DB-BD31-4B8C-83A1-F6EECF244321}">
                <p14:modId xmlns:p14="http://schemas.microsoft.com/office/powerpoint/2010/main" val="2220630007"/>
              </p:ext>
            </p:extLst>
          </p:nvPr>
        </p:nvGraphicFramePr>
        <p:xfrm>
          <a:off x="5155379" y="1065862"/>
          <a:ext cx="5744685" cy="47262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96046478"/>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CED22-37C2-4FD2-972D-0B8CFE8B8F5A}"/>
              </a:ext>
            </a:extLst>
          </p:cNvPr>
          <p:cNvSpPr>
            <a:spLocks noGrp="1"/>
          </p:cNvSpPr>
          <p:nvPr>
            <p:ph type="title"/>
          </p:nvPr>
        </p:nvSpPr>
        <p:spPr>
          <a:xfrm>
            <a:off x="603938" y="640081"/>
            <a:ext cx="2608655" cy="5257799"/>
          </a:xfrm>
        </p:spPr>
        <p:txBody>
          <a:bodyPr vert="horz" lIns="91440" tIns="45720" rIns="91440" bIns="45720" rtlCol="0" anchor="ctr">
            <a:normAutofit/>
          </a:bodyPr>
          <a:lstStyle/>
          <a:p>
            <a:r>
              <a:rPr lang="en-US" sz="3600" dirty="0">
                <a:solidFill>
                  <a:srgbClr val="2C2C2C"/>
                </a:solidFill>
              </a:rPr>
              <a:t>Designing Dashboards</a:t>
            </a:r>
          </a:p>
        </p:txBody>
      </p:sp>
      <p:pic>
        <p:nvPicPr>
          <p:cNvPr id="1026" name="Picture 2">
            <a:extLst>
              <a:ext uri="{FF2B5EF4-FFF2-40B4-BE49-F238E27FC236}">
                <a16:creationId xmlns:a16="http://schemas.microsoft.com/office/drawing/2014/main" id="{9374F79F-0A89-48D5-8454-21E249A025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6" r="2283"/>
          <a:stretch/>
        </p:blipFill>
        <p:spPr bwMode="auto">
          <a:xfrm>
            <a:off x="3380797" y="495518"/>
            <a:ext cx="8527555" cy="57241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9853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B2642-84B8-48EB-A30A-1CA0A7783876}"/>
              </a:ext>
            </a:extLst>
          </p:cNvPr>
          <p:cNvSpPr>
            <a:spLocks noGrp="1"/>
          </p:cNvSpPr>
          <p:nvPr>
            <p:ph type="title"/>
          </p:nvPr>
        </p:nvSpPr>
        <p:spPr>
          <a:xfrm>
            <a:off x="648929" y="629266"/>
            <a:ext cx="4944152" cy="1622321"/>
          </a:xfrm>
        </p:spPr>
        <p:txBody>
          <a:bodyPr>
            <a:normAutofit/>
          </a:bodyPr>
          <a:lstStyle/>
          <a:p>
            <a:r>
              <a:rPr lang="en-US" dirty="0"/>
              <a:t>Focal staging</a:t>
            </a:r>
          </a:p>
        </p:txBody>
      </p:sp>
      <p:sp>
        <p:nvSpPr>
          <p:cNvPr id="3" name="Content Placeholder 2">
            <a:extLst>
              <a:ext uri="{FF2B5EF4-FFF2-40B4-BE49-F238E27FC236}">
                <a16:creationId xmlns:a16="http://schemas.microsoft.com/office/drawing/2014/main" id="{D53EF7F6-185C-4ACE-B7B3-12A5F301FA08}"/>
              </a:ext>
            </a:extLst>
          </p:cNvPr>
          <p:cNvSpPr>
            <a:spLocks noGrp="1"/>
          </p:cNvSpPr>
          <p:nvPr>
            <p:ph idx="1"/>
          </p:nvPr>
        </p:nvSpPr>
        <p:spPr>
          <a:xfrm>
            <a:off x="648930" y="2438400"/>
            <a:ext cx="4944151" cy="3785419"/>
          </a:xfrm>
        </p:spPr>
        <p:txBody>
          <a:bodyPr>
            <a:normAutofit/>
          </a:bodyPr>
          <a:lstStyle/>
          <a:p>
            <a:pPr marL="0" indent="0">
              <a:buNone/>
            </a:pPr>
            <a:r>
              <a:rPr lang="en-US" sz="2400" dirty="0"/>
              <a:t>Designing the layout and flow of information can also be thought of as a grammar of graphics problem where we map focus to meta-level aesthetics. </a:t>
            </a:r>
          </a:p>
        </p:txBody>
      </p:sp>
      <p:sp>
        <p:nvSpPr>
          <p:cNvPr id="7" name="Rectangle 6">
            <a:extLst>
              <a:ext uri="{FF2B5EF4-FFF2-40B4-BE49-F238E27FC236}">
                <a16:creationId xmlns:a16="http://schemas.microsoft.com/office/drawing/2014/main" id="{268E5F58-642D-4086-9808-5F297A7394F9}"/>
              </a:ext>
            </a:extLst>
          </p:cNvPr>
          <p:cNvSpPr/>
          <p:nvPr/>
        </p:nvSpPr>
        <p:spPr>
          <a:xfrm>
            <a:off x="6705601" y="3640197"/>
            <a:ext cx="4781550" cy="93345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Focal Group 3</a:t>
            </a:r>
          </a:p>
        </p:txBody>
      </p:sp>
      <p:sp>
        <p:nvSpPr>
          <p:cNvPr id="8" name="Rectangle 7">
            <a:extLst>
              <a:ext uri="{FF2B5EF4-FFF2-40B4-BE49-F238E27FC236}">
                <a16:creationId xmlns:a16="http://schemas.microsoft.com/office/drawing/2014/main" id="{0098F6B8-6CD8-4B1E-B5E2-3A7294ACD9A8}"/>
              </a:ext>
            </a:extLst>
          </p:cNvPr>
          <p:cNvSpPr/>
          <p:nvPr/>
        </p:nvSpPr>
        <p:spPr>
          <a:xfrm>
            <a:off x="7786689" y="3039328"/>
            <a:ext cx="2619375" cy="9326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Focal Group 2</a:t>
            </a:r>
          </a:p>
        </p:txBody>
      </p:sp>
      <p:sp>
        <p:nvSpPr>
          <p:cNvPr id="9" name="Rectangle 8">
            <a:extLst>
              <a:ext uri="{FF2B5EF4-FFF2-40B4-BE49-F238E27FC236}">
                <a16:creationId xmlns:a16="http://schemas.microsoft.com/office/drawing/2014/main" id="{E1C5E8F5-B61C-4757-A5B9-BD046BD77451}"/>
              </a:ext>
            </a:extLst>
          </p:cNvPr>
          <p:cNvSpPr/>
          <p:nvPr/>
        </p:nvSpPr>
        <p:spPr>
          <a:xfrm>
            <a:off x="7105652" y="1400233"/>
            <a:ext cx="3981450" cy="171450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Focal Group 1</a:t>
            </a:r>
          </a:p>
        </p:txBody>
      </p:sp>
    </p:spTree>
    <p:extLst>
      <p:ext uri="{BB962C8B-B14F-4D97-AF65-F5344CB8AC3E}">
        <p14:creationId xmlns:p14="http://schemas.microsoft.com/office/powerpoint/2010/main" val="3854464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B2642-84B8-48EB-A30A-1CA0A7783876}"/>
              </a:ext>
            </a:extLst>
          </p:cNvPr>
          <p:cNvSpPr>
            <a:spLocks noGrp="1"/>
          </p:cNvSpPr>
          <p:nvPr>
            <p:ph type="title"/>
          </p:nvPr>
        </p:nvSpPr>
        <p:spPr>
          <a:xfrm>
            <a:off x="648929" y="629266"/>
            <a:ext cx="4944152" cy="1622321"/>
          </a:xfrm>
        </p:spPr>
        <p:txBody>
          <a:bodyPr>
            <a:normAutofit/>
          </a:bodyPr>
          <a:lstStyle/>
          <a:p>
            <a:r>
              <a:rPr lang="en-US" dirty="0"/>
              <a:t>Focal staging</a:t>
            </a:r>
          </a:p>
        </p:txBody>
      </p:sp>
      <p:sp>
        <p:nvSpPr>
          <p:cNvPr id="7" name="Rectangle 6">
            <a:extLst>
              <a:ext uri="{FF2B5EF4-FFF2-40B4-BE49-F238E27FC236}">
                <a16:creationId xmlns:a16="http://schemas.microsoft.com/office/drawing/2014/main" id="{268E5F58-642D-4086-9808-5F297A7394F9}"/>
              </a:ext>
            </a:extLst>
          </p:cNvPr>
          <p:cNvSpPr/>
          <p:nvPr/>
        </p:nvSpPr>
        <p:spPr>
          <a:xfrm>
            <a:off x="6705601" y="3640197"/>
            <a:ext cx="4781550" cy="93345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Focal Group 3</a:t>
            </a:r>
          </a:p>
        </p:txBody>
      </p:sp>
      <p:sp>
        <p:nvSpPr>
          <p:cNvPr id="8" name="Rectangle 7">
            <a:extLst>
              <a:ext uri="{FF2B5EF4-FFF2-40B4-BE49-F238E27FC236}">
                <a16:creationId xmlns:a16="http://schemas.microsoft.com/office/drawing/2014/main" id="{0098F6B8-6CD8-4B1E-B5E2-3A7294ACD9A8}"/>
              </a:ext>
            </a:extLst>
          </p:cNvPr>
          <p:cNvSpPr/>
          <p:nvPr/>
        </p:nvSpPr>
        <p:spPr>
          <a:xfrm>
            <a:off x="7786689" y="3039328"/>
            <a:ext cx="2619375" cy="932656"/>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Focal Group 2</a:t>
            </a:r>
          </a:p>
        </p:txBody>
      </p:sp>
      <p:sp>
        <p:nvSpPr>
          <p:cNvPr id="9" name="Rectangle 8">
            <a:extLst>
              <a:ext uri="{FF2B5EF4-FFF2-40B4-BE49-F238E27FC236}">
                <a16:creationId xmlns:a16="http://schemas.microsoft.com/office/drawing/2014/main" id="{E1C5E8F5-B61C-4757-A5B9-BD046BD77451}"/>
              </a:ext>
            </a:extLst>
          </p:cNvPr>
          <p:cNvSpPr/>
          <p:nvPr/>
        </p:nvSpPr>
        <p:spPr>
          <a:xfrm>
            <a:off x="7105652" y="1400233"/>
            <a:ext cx="3981450" cy="1714500"/>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Focal Group 1</a:t>
            </a:r>
          </a:p>
        </p:txBody>
      </p:sp>
      <p:sp>
        <p:nvSpPr>
          <p:cNvPr id="11" name="Content Placeholder 2">
            <a:extLst>
              <a:ext uri="{FF2B5EF4-FFF2-40B4-BE49-F238E27FC236}">
                <a16:creationId xmlns:a16="http://schemas.microsoft.com/office/drawing/2014/main" id="{2FE7D62C-2308-475E-B481-9424353FA2BC}"/>
              </a:ext>
            </a:extLst>
          </p:cNvPr>
          <p:cNvSpPr txBox="1">
            <a:spLocks/>
          </p:cNvSpPr>
          <p:nvPr/>
        </p:nvSpPr>
        <p:spPr>
          <a:xfrm>
            <a:off x="838200" y="1825625"/>
            <a:ext cx="424815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The focal hierarchy is established in two scales.</a:t>
            </a:r>
          </a:p>
          <a:p>
            <a:r>
              <a:rPr lang="en-US"/>
              <a:t>The first scale maps size to importance</a:t>
            </a:r>
            <a:endParaRPr lang="en-US" dirty="0"/>
          </a:p>
        </p:txBody>
      </p:sp>
      <p:sp>
        <p:nvSpPr>
          <p:cNvPr id="12" name="Rectangle 11">
            <a:extLst>
              <a:ext uri="{FF2B5EF4-FFF2-40B4-BE49-F238E27FC236}">
                <a16:creationId xmlns:a16="http://schemas.microsoft.com/office/drawing/2014/main" id="{3070BFCA-39B2-41C9-9E0B-B2F94C64B288}"/>
              </a:ext>
            </a:extLst>
          </p:cNvPr>
          <p:cNvSpPr/>
          <p:nvPr/>
        </p:nvSpPr>
        <p:spPr>
          <a:xfrm>
            <a:off x="2862889" y="3947795"/>
            <a:ext cx="1188620" cy="1129504"/>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7CDFAB5-9057-4CDB-9355-88B473A872B6}"/>
              </a:ext>
            </a:extLst>
          </p:cNvPr>
          <p:cNvSpPr/>
          <p:nvPr/>
        </p:nvSpPr>
        <p:spPr>
          <a:xfrm>
            <a:off x="1443664" y="4281249"/>
            <a:ext cx="619125" cy="588333"/>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235E4453-2C91-415A-A0B9-908566706FC0}"/>
              </a:ext>
            </a:extLst>
          </p:cNvPr>
          <p:cNvSpPr txBox="1"/>
          <p:nvPr/>
        </p:nvSpPr>
        <p:spPr>
          <a:xfrm>
            <a:off x="1443664" y="5057338"/>
            <a:ext cx="2382191" cy="369332"/>
          </a:xfrm>
          <a:prstGeom prst="rect">
            <a:avLst/>
          </a:prstGeom>
          <a:noFill/>
        </p:spPr>
        <p:txBody>
          <a:bodyPr wrap="none" rtlCol="0">
            <a:spAutoFit/>
          </a:bodyPr>
          <a:lstStyle/>
          <a:p>
            <a:r>
              <a:rPr lang="en-US" dirty="0"/>
              <a:t>Increasing focal priority</a:t>
            </a:r>
          </a:p>
        </p:txBody>
      </p:sp>
      <p:cxnSp>
        <p:nvCxnSpPr>
          <p:cNvPr id="10" name="Straight Arrow Connector 9">
            <a:extLst>
              <a:ext uri="{FF2B5EF4-FFF2-40B4-BE49-F238E27FC236}">
                <a16:creationId xmlns:a16="http://schemas.microsoft.com/office/drawing/2014/main" id="{9310B611-3723-4010-A12A-2CE9CD2E8D9A}"/>
              </a:ext>
            </a:extLst>
          </p:cNvPr>
          <p:cNvCxnSpPr/>
          <p:nvPr/>
        </p:nvCxnSpPr>
        <p:spPr>
          <a:xfrm>
            <a:off x="1303699" y="5399510"/>
            <a:ext cx="2747810"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4121630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B2642-84B8-48EB-A30A-1CA0A7783876}"/>
              </a:ext>
            </a:extLst>
          </p:cNvPr>
          <p:cNvSpPr>
            <a:spLocks noGrp="1"/>
          </p:cNvSpPr>
          <p:nvPr>
            <p:ph type="title"/>
          </p:nvPr>
        </p:nvSpPr>
        <p:spPr>
          <a:xfrm>
            <a:off x="648929" y="629266"/>
            <a:ext cx="4944152" cy="1622321"/>
          </a:xfrm>
        </p:spPr>
        <p:txBody>
          <a:bodyPr>
            <a:normAutofit/>
          </a:bodyPr>
          <a:lstStyle/>
          <a:p>
            <a:r>
              <a:rPr lang="en-US" dirty="0"/>
              <a:t>Focal staging</a:t>
            </a:r>
          </a:p>
        </p:txBody>
      </p:sp>
      <p:sp>
        <p:nvSpPr>
          <p:cNvPr id="3" name="Content Placeholder 2">
            <a:extLst>
              <a:ext uri="{FF2B5EF4-FFF2-40B4-BE49-F238E27FC236}">
                <a16:creationId xmlns:a16="http://schemas.microsoft.com/office/drawing/2014/main" id="{D53EF7F6-185C-4ACE-B7B3-12A5F301FA08}"/>
              </a:ext>
            </a:extLst>
          </p:cNvPr>
          <p:cNvSpPr>
            <a:spLocks noGrp="1"/>
          </p:cNvSpPr>
          <p:nvPr>
            <p:ph idx="1"/>
          </p:nvPr>
        </p:nvSpPr>
        <p:spPr>
          <a:xfrm>
            <a:off x="648930" y="2438400"/>
            <a:ext cx="4944151" cy="3785419"/>
          </a:xfrm>
        </p:spPr>
        <p:txBody>
          <a:bodyPr>
            <a:normAutofit/>
          </a:bodyPr>
          <a:lstStyle/>
          <a:p>
            <a:r>
              <a:rPr lang="en-US" sz="2400" dirty="0"/>
              <a:t>The second scale maps position to secondary focal priority importance.</a:t>
            </a:r>
          </a:p>
        </p:txBody>
      </p:sp>
      <p:sp>
        <p:nvSpPr>
          <p:cNvPr id="7" name="Rectangle 6">
            <a:extLst>
              <a:ext uri="{FF2B5EF4-FFF2-40B4-BE49-F238E27FC236}">
                <a16:creationId xmlns:a16="http://schemas.microsoft.com/office/drawing/2014/main" id="{268E5F58-642D-4086-9808-5F297A7394F9}"/>
              </a:ext>
            </a:extLst>
          </p:cNvPr>
          <p:cNvSpPr/>
          <p:nvPr/>
        </p:nvSpPr>
        <p:spPr>
          <a:xfrm>
            <a:off x="6705601" y="3640197"/>
            <a:ext cx="4781550" cy="93345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Focal Group 3</a:t>
            </a:r>
          </a:p>
        </p:txBody>
      </p:sp>
      <p:sp>
        <p:nvSpPr>
          <p:cNvPr id="8" name="Rectangle 7">
            <a:extLst>
              <a:ext uri="{FF2B5EF4-FFF2-40B4-BE49-F238E27FC236}">
                <a16:creationId xmlns:a16="http://schemas.microsoft.com/office/drawing/2014/main" id="{0098F6B8-6CD8-4B1E-B5E2-3A7294ACD9A8}"/>
              </a:ext>
            </a:extLst>
          </p:cNvPr>
          <p:cNvSpPr/>
          <p:nvPr/>
        </p:nvSpPr>
        <p:spPr>
          <a:xfrm>
            <a:off x="7786689" y="3039328"/>
            <a:ext cx="2619375" cy="93265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Focal Group 2</a:t>
            </a:r>
          </a:p>
        </p:txBody>
      </p:sp>
      <p:sp>
        <p:nvSpPr>
          <p:cNvPr id="9" name="Rectangle 8">
            <a:extLst>
              <a:ext uri="{FF2B5EF4-FFF2-40B4-BE49-F238E27FC236}">
                <a16:creationId xmlns:a16="http://schemas.microsoft.com/office/drawing/2014/main" id="{E1C5E8F5-B61C-4757-A5B9-BD046BD77451}"/>
              </a:ext>
            </a:extLst>
          </p:cNvPr>
          <p:cNvSpPr/>
          <p:nvPr/>
        </p:nvSpPr>
        <p:spPr>
          <a:xfrm>
            <a:off x="7105652" y="1400233"/>
            <a:ext cx="3981450" cy="171450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Focal Group 1</a:t>
            </a:r>
          </a:p>
        </p:txBody>
      </p:sp>
      <p:sp>
        <p:nvSpPr>
          <p:cNvPr id="10" name="Arrow: Down 9">
            <a:extLst>
              <a:ext uri="{FF2B5EF4-FFF2-40B4-BE49-F238E27FC236}">
                <a16:creationId xmlns:a16="http://schemas.microsoft.com/office/drawing/2014/main" id="{1B7D8C30-9ADA-4C7E-A20D-7290DBC2920E}"/>
              </a:ext>
            </a:extLst>
          </p:cNvPr>
          <p:cNvSpPr/>
          <p:nvPr/>
        </p:nvSpPr>
        <p:spPr>
          <a:xfrm>
            <a:off x="9914383" y="1910768"/>
            <a:ext cx="976313" cy="2336800"/>
          </a:xfrm>
          <a:prstGeom prst="down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3176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8106D-4986-428D-8352-2449D8E0E55F}"/>
              </a:ext>
            </a:extLst>
          </p:cNvPr>
          <p:cNvSpPr>
            <a:spLocks noGrp="1"/>
          </p:cNvSpPr>
          <p:nvPr>
            <p:ph type="title"/>
          </p:nvPr>
        </p:nvSpPr>
        <p:spPr/>
        <p:txBody>
          <a:bodyPr/>
          <a:lstStyle/>
          <a:p>
            <a:endParaRPr lang="en-US" dirty="0"/>
          </a:p>
        </p:txBody>
      </p:sp>
      <p:sp>
        <p:nvSpPr>
          <p:cNvPr id="4" name="Content Placeholder 3">
            <a:extLst>
              <a:ext uri="{FF2B5EF4-FFF2-40B4-BE49-F238E27FC236}">
                <a16:creationId xmlns:a16="http://schemas.microsoft.com/office/drawing/2014/main" id="{FFCE18C1-C3CF-4FFF-8472-DF2B76AE7CBA}"/>
              </a:ext>
            </a:extLst>
          </p:cNvPr>
          <p:cNvSpPr>
            <a:spLocks noGrp="1"/>
          </p:cNvSpPr>
          <p:nvPr>
            <p:ph idx="1"/>
          </p:nvPr>
        </p:nvSpPr>
        <p:spPr/>
        <p:txBody>
          <a:bodyPr/>
          <a:lstStyle/>
          <a:p>
            <a:endParaRPr lang="en-US"/>
          </a:p>
        </p:txBody>
      </p:sp>
      <p:pic>
        <p:nvPicPr>
          <p:cNvPr id="1028" name="Picture 4">
            <a:extLst>
              <a:ext uri="{FF2B5EF4-FFF2-40B4-BE49-F238E27FC236}">
                <a16:creationId xmlns:a16="http://schemas.microsoft.com/office/drawing/2014/main" id="{CFFA85B8-B32A-48E1-98F3-A1D2BE1C3B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393" y="0"/>
            <a:ext cx="1122521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9EF87E1-8737-4467-A406-9E9735AA7D01}"/>
              </a:ext>
            </a:extLst>
          </p:cNvPr>
          <p:cNvSpPr txBox="1"/>
          <p:nvPr/>
        </p:nvSpPr>
        <p:spPr>
          <a:xfrm>
            <a:off x="2346350" y="5665569"/>
            <a:ext cx="7499297" cy="646331"/>
          </a:xfrm>
          <a:prstGeom prst="rect">
            <a:avLst/>
          </a:prstGeom>
          <a:noFill/>
        </p:spPr>
        <p:txBody>
          <a:bodyPr wrap="none" rtlCol="0">
            <a:spAutoFit/>
          </a:bodyPr>
          <a:lstStyle/>
          <a:p>
            <a:r>
              <a:rPr lang="en-US" sz="3600" dirty="0">
                <a:solidFill>
                  <a:schemeClr val="accent6">
                    <a:lumMod val="40000"/>
                    <a:lumOff val="60000"/>
                  </a:schemeClr>
                </a:solidFill>
              </a:rPr>
              <a:t>Can you identify the focal groups here?</a:t>
            </a:r>
          </a:p>
        </p:txBody>
      </p:sp>
    </p:spTree>
    <p:extLst>
      <p:ext uri="{BB962C8B-B14F-4D97-AF65-F5344CB8AC3E}">
        <p14:creationId xmlns:p14="http://schemas.microsoft.com/office/powerpoint/2010/main" val="2376246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B2642-84B8-48EB-A30A-1CA0A7783876}"/>
              </a:ext>
            </a:extLst>
          </p:cNvPr>
          <p:cNvSpPr>
            <a:spLocks noGrp="1"/>
          </p:cNvSpPr>
          <p:nvPr>
            <p:ph type="title"/>
          </p:nvPr>
        </p:nvSpPr>
        <p:spPr>
          <a:xfrm>
            <a:off x="648929" y="629266"/>
            <a:ext cx="4944152" cy="1622321"/>
          </a:xfrm>
        </p:spPr>
        <p:txBody>
          <a:bodyPr>
            <a:normAutofit/>
          </a:bodyPr>
          <a:lstStyle/>
          <a:p>
            <a:r>
              <a:rPr lang="en-US"/>
              <a:t>Poor layout and flow</a:t>
            </a:r>
          </a:p>
        </p:txBody>
      </p:sp>
      <p:sp>
        <p:nvSpPr>
          <p:cNvPr id="3" name="Content Placeholder 2">
            <a:extLst>
              <a:ext uri="{FF2B5EF4-FFF2-40B4-BE49-F238E27FC236}">
                <a16:creationId xmlns:a16="http://schemas.microsoft.com/office/drawing/2014/main" id="{D53EF7F6-185C-4ACE-B7B3-12A5F301FA08}"/>
              </a:ext>
            </a:extLst>
          </p:cNvPr>
          <p:cNvSpPr>
            <a:spLocks noGrp="1"/>
          </p:cNvSpPr>
          <p:nvPr>
            <p:ph idx="1"/>
          </p:nvPr>
        </p:nvSpPr>
        <p:spPr>
          <a:xfrm>
            <a:off x="648930" y="2438400"/>
            <a:ext cx="4944151" cy="3785419"/>
          </a:xfrm>
        </p:spPr>
        <p:txBody>
          <a:bodyPr>
            <a:normAutofit/>
          </a:bodyPr>
          <a:lstStyle/>
          <a:p>
            <a:pPr marL="0" indent="0">
              <a:buNone/>
            </a:pPr>
            <a:r>
              <a:rPr lang="en-US" sz="2400"/>
              <a:t>Poorly-made dashboards seemingly have no logic to the layout nor any understanding of the data properties or relationships. </a:t>
            </a:r>
          </a:p>
        </p:txBody>
      </p:sp>
      <p:pic>
        <p:nvPicPr>
          <p:cNvPr id="4098" name="Picture 2">
            <a:extLst>
              <a:ext uri="{FF2B5EF4-FFF2-40B4-BE49-F238E27FC236}">
                <a16:creationId xmlns:a16="http://schemas.microsoft.com/office/drawing/2014/main" id="{6081A790-F3A9-4CB9-B041-46F2E11E43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028" r="18028"/>
          <a:stretch/>
        </p:blipFill>
        <p:spPr bwMode="auto">
          <a:xfrm>
            <a:off x="6904709" y="1196402"/>
            <a:ext cx="4475531" cy="4461949"/>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7350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BA6E9-11AC-49C0-A69F-9A5C45A93CC5}"/>
              </a:ext>
            </a:extLst>
          </p:cNvPr>
          <p:cNvSpPr>
            <a:spLocks noGrp="1"/>
          </p:cNvSpPr>
          <p:nvPr>
            <p:ph type="title"/>
          </p:nvPr>
        </p:nvSpPr>
        <p:spPr>
          <a:xfrm>
            <a:off x="752475" y="1546225"/>
            <a:ext cx="1943100" cy="4178300"/>
          </a:xfrm>
        </p:spPr>
        <p:txBody>
          <a:bodyPr>
            <a:normAutofit/>
          </a:bodyPr>
          <a:lstStyle/>
          <a:p>
            <a:r>
              <a:rPr lang="en-US" sz="2400" dirty="0">
                <a:latin typeface="+mn-lt"/>
              </a:rPr>
              <a:t>What is the layout and flow here?</a:t>
            </a:r>
          </a:p>
        </p:txBody>
      </p:sp>
      <p:pic>
        <p:nvPicPr>
          <p:cNvPr id="5" name="Content Placeholder 4">
            <a:extLst>
              <a:ext uri="{FF2B5EF4-FFF2-40B4-BE49-F238E27FC236}">
                <a16:creationId xmlns:a16="http://schemas.microsoft.com/office/drawing/2014/main" id="{D5D519B3-3D47-43E9-A81A-FBF1B460FD58}"/>
              </a:ext>
            </a:extLst>
          </p:cNvPr>
          <p:cNvPicPr>
            <a:picLocks noGrp="1" noChangeAspect="1"/>
          </p:cNvPicPr>
          <p:nvPr>
            <p:ph idx="1"/>
          </p:nvPr>
        </p:nvPicPr>
        <p:blipFill>
          <a:blip r:embed="rId2"/>
          <a:stretch>
            <a:fillRect/>
          </a:stretch>
        </p:blipFill>
        <p:spPr>
          <a:xfrm>
            <a:off x="2776476" y="459581"/>
            <a:ext cx="8981371" cy="5938838"/>
          </a:xfrm>
        </p:spPr>
      </p:pic>
    </p:spTree>
    <p:extLst>
      <p:ext uri="{BB962C8B-B14F-4D97-AF65-F5344CB8AC3E}">
        <p14:creationId xmlns:p14="http://schemas.microsoft.com/office/powerpoint/2010/main" val="3594409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7F4DF1D-F762-47C7-B683-EF92852B2231}"/>
              </a:ext>
            </a:extLst>
          </p:cNvPr>
          <p:cNvSpPr/>
          <p:nvPr/>
        </p:nvSpPr>
        <p:spPr>
          <a:xfrm>
            <a:off x="6224587" y="1543051"/>
            <a:ext cx="2771775" cy="1371597"/>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Group 3</a:t>
            </a:r>
          </a:p>
        </p:txBody>
      </p:sp>
      <p:sp>
        <p:nvSpPr>
          <p:cNvPr id="2" name="Title 1">
            <a:extLst>
              <a:ext uri="{FF2B5EF4-FFF2-40B4-BE49-F238E27FC236}">
                <a16:creationId xmlns:a16="http://schemas.microsoft.com/office/drawing/2014/main" id="{E0463B71-320A-4A00-9E41-0B64D4F5506B}"/>
              </a:ext>
            </a:extLst>
          </p:cNvPr>
          <p:cNvSpPr>
            <a:spLocks noGrp="1"/>
          </p:cNvSpPr>
          <p:nvPr>
            <p:ph type="title"/>
          </p:nvPr>
        </p:nvSpPr>
        <p:spPr/>
        <p:txBody>
          <a:bodyPr/>
          <a:lstStyle/>
          <a:p>
            <a:r>
              <a:rPr lang="en-US" dirty="0"/>
              <a:t>Use wireframes for layout and flow</a:t>
            </a:r>
          </a:p>
        </p:txBody>
      </p:sp>
      <p:sp>
        <p:nvSpPr>
          <p:cNvPr id="3" name="Content Placeholder 2">
            <a:extLst>
              <a:ext uri="{FF2B5EF4-FFF2-40B4-BE49-F238E27FC236}">
                <a16:creationId xmlns:a16="http://schemas.microsoft.com/office/drawing/2014/main" id="{2BE61026-D60B-430C-A192-32CFF8FD2675}"/>
              </a:ext>
            </a:extLst>
          </p:cNvPr>
          <p:cNvSpPr>
            <a:spLocks noGrp="1"/>
          </p:cNvSpPr>
          <p:nvPr>
            <p:ph idx="1"/>
          </p:nvPr>
        </p:nvSpPr>
        <p:spPr>
          <a:xfrm>
            <a:off x="838200" y="1825625"/>
            <a:ext cx="4000500" cy="4351338"/>
          </a:xfrm>
        </p:spPr>
        <p:txBody>
          <a:bodyPr>
            <a:normAutofit/>
          </a:bodyPr>
          <a:lstStyle/>
          <a:p>
            <a:r>
              <a:rPr lang="en-US" dirty="0"/>
              <a:t>Wireframe mockups help to quickly design focal flow using simple shapes and layout arrangements.</a:t>
            </a:r>
          </a:p>
        </p:txBody>
      </p:sp>
      <p:sp>
        <p:nvSpPr>
          <p:cNvPr id="4" name="Rectangle 3">
            <a:extLst>
              <a:ext uri="{FF2B5EF4-FFF2-40B4-BE49-F238E27FC236}">
                <a16:creationId xmlns:a16="http://schemas.microsoft.com/office/drawing/2014/main" id="{50347412-B902-41C2-8521-9D16BB2D6CA3}"/>
              </a:ext>
            </a:extLst>
          </p:cNvPr>
          <p:cNvSpPr/>
          <p:nvPr/>
        </p:nvSpPr>
        <p:spPr>
          <a:xfrm>
            <a:off x="6229350" y="2914649"/>
            <a:ext cx="2771775" cy="3152775"/>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Group 2</a:t>
            </a:r>
          </a:p>
        </p:txBody>
      </p:sp>
      <p:sp>
        <p:nvSpPr>
          <p:cNvPr id="5" name="Rectangle 4">
            <a:extLst>
              <a:ext uri="{FF2B5EF4-FFF2-40B4-BE49-F238E27FC236}">
                <a16:creationId xmlns:a16="http://schemas.microsoft.com/office/drawing/2014/main" id="{13A3F088-7F9B-4D7B-9FB5-3BBB8FEBD5C3}"/>
              </a:ext>
            </a:extLst>
          </p:cNvPr>
          <p:cNvSpPr/>
          <p:nvPr/>
        </p:nvSpPr>
        <p:spPr>
          <a:xfrm>
            <a:off x="9001125" y="1543051"/>
            <a:ext cx="2771775" cy="4524374"/>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t>Group 1</a:t>
            </a:r>
          </a:p>
        </p:txBody>
      </p:sp>
      <p:sp>
        <p:nvSpPr>
          <p:cNvPr id="7" name="Arrow: Circular 6">
            <a:extLst>
              <a:ext uri="{FF2B5EF4-FFF2-40B4-BE49-F238E27FC236}">
                <a16:creationId xmlns:a16="http://schemas.microsoft.com/office/drawing/2014/main" id="{5BAC3033-BF7D-4C4C-AD67-A761C88B19A0}"/>
              </a:ext>
            </a:extLst>
          </p:cNvPr>
          <p:cNvSpPr/>
          <p:nvPr/>
        </p:nvSpPr>
        <p:spPr>
          <a:xfrm rot="12784034">
            <a:off x="7858109" y="1187198"/>
            <a:ext cx="2904166" cy="3798475"/>
          </a:xfrm>
          <a:prstGeom prst="circular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8297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94E84-5D61-49CC-9931-951447ED943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4B6AA62B-ECD2-4DCD-BC42-BB7627798F1C}"/>
              </a:ext>
            </a:extLst>
          </p:cNvPr>
          <p:cNvSpPr>
            <a:spLocks noGrp="1"/>
          </p:cNvSpPr>
          <p:nvPr>
            <p:ph idx="1"/>
          </p:nvPr>
        </p:nvSpPr>
        <p:spPr/>
        <p:txBody>
          <a:bodyPr/>
          <a:lstStyle/>
          <a:p>
            <a:r>
              <a:rPr lang="en-US" dirty="0"/>
              <a:t>Assignment 6 Comments</a:t>
            </a:r>
          </a:p>
          <a:p>
            <a:r>
              <a:rPr lang="en-US" b="1" dirty="0">
                <a:solidFill>
                  <a:schemeClr val="accent1">
                    <a:lumMod val="50000"/>
                  </a:schemeClr>
                </a:solidFill>
              </a:rPr>
              <a:t>Additional information on the final project and presentation</a:t>
            </a:r>
          </a:p>
          <a:p>
            <a:r>
              <a:rPr lang="en-US" dirty="0"/>
              <a:t>Story creation</a:t>
            </a:r>
          </a:p>
          <a:p>
            <a:r>
              <a:rPr lang="en-US" dirty="0"/>
              <a:t>Course topic review</a:t>
            </a:r>
          </a:p>
          <a:p>
            <a:r>
              <a:rPr lang="en-US" dirty="0"/>
              <a:t>Open forum</a:t>
            </a:r>
          </a:p>
        </p:txBody>
      </p:sp>
    </p:spTree>
    <p:extLst>
      <p:ext uri="{BB962C8B-B14F-4D97-AF65-F5344CB8AC3E}">
        <p14:creationId xmlns:p14="http://schemas.microsoft.com/office/powerpoint/2010/main" val="2844832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D0634-C53D-42D1-8F3B-285BBE676E54}"/>
              </a:ext>
            </a:extLst>
          </p:cNvPr>
          <p:cNvSpPr>
            <a:spLocks noGrp="1"/>
          </p:cNvSpPr>
          <p:nvPr>
            <p:ph type="title"/>
          </p:nvPr>
        </p:nvSpPr>
        <p:spPr/>
        <p:txBody>
          <a:bodyPr/>
          <a:lstStyle/>
          <a:p>
            <a:r>
              <a:rPr lang="en-US" dirty="0"/>
              <a:t>Project description</a:t>
            </a:r>
          </a:p>
        </p:txBody>
      </p:sp>
      <p:sp>
        <p:nvSpPr>
          <p:cNvPr id="3" name="Content Placeholder 2">
            <a:extLst>
              <a:ext uri="{FF2B5EF4-FFF2-40B4-BE49-F238E27FC236}">
                <a16:creationId xmlns:a16="http://schemas.microsoft.com/office/drawing/2014/main" id="{99E56202-B5EA-43D7-ACB8-80C23196570D}"/>
              </a:ext>
            </a:extLst>
          </p:cNvPr>
          <p:cNvSpPr>
            <a:spLocks noGrp="1"/>
          </p:cNvSpPr>
          <p:nvPr>
            <p:ph idx="1"/>
          </p:nvPr>
        </p:nvSpPr>
        <p:spPr/>
        <p:txBody>
          <a:bodyPr>
            <a:normAutofit fontScale="47500" lnSpcReduction="20000"/>
          </a:bodyPr>
          <a:lstStyle/>
          <a:p>
            <a:pPr marL="0" indent="0" algn="l">
              <a:lnSpc>
                <a:spcPct val="120000"/>
              </a:lnSpc>
              <a:buNone/>
            </a:pPr>
            <a:r>
              <a:rPr lang="en-US" b="1" i="0" dirty="0">
                <a:solidFill>
                  <a:srgbClr val="2D3B45"/>
                </a:solidFill>
                <a:effectLst/>
                <a:latin typeface="Helvetica" panose="020B0604020202020204" pitchFamily="34" charset="0"/>
              </a:rPr>
              <a:t>Instructions</a:t>
            </a:r>
            <a:r>
              <a:rPr lang="en-US" b="0" i="0" dirty="0">
                <a:solidFill>
                  <a:srgbClr val="2D3B45"/>
                </a:solidFill>
                <a:effectLst/>
                <a:latin typeface="Helvetica" panose="020B0604020202020204" pitchFamily="34" charset="0"/>
              </a:rPr>
              <a:t>: The objective is to direct the audience through a guided tour of the relative performance of the market defined by the S&amp;P 500 sectors and how they have moved over time relative to the overall economy. </a:t>
            </a:r>
          </a:p>
          <a:p>
            <a:pPr marL="0" indent="0" algn="l">
              <a:lnSpc>
                <a:spcPct val="120000"/>
              </a:lnSpc>
              <a:buNone/>
            </a:pPr>
            <a:r>
              <a:rPr lang="en-US" b="0" i="0" dirty="0">
                <a:solidFill>
                  <a:srgbClr val="2D3B45"/>
                </a:solidFill>
                <a:effectLst/>
                <a:latin typeface="Helvetica" panose="020B0604020202020204" pitchFamily="34" charset="0"/>
              </a:rPr>
              <a:t>Create a story showing the biggest gainers and losers in the financial markets. </a:t>
            </a:r>
            <a:r>
              <a:rPr lang="en-US" dirty="0">
                <a:solidFill>
                  <a:srgbClr val="2D3B45"/>
                </a:solidFill>
                <a:latin typeface="Helvetica" panose="020B0604020202020204" pitchFamily="34" charset="0"/>
              </a:rPr>
              <a:t>C</a:t>
            </a:r>
            <a:r>
              <a:rPr lang="en-US" b="0" i="0" dirty="0">
                <a:solidFill>
                  <a:srgbClr val="2D3B45"/>
                </a:solidFill>
                <a:effectLst/>
                <a:latin typeface="Helvetica" panose="020B0604020202020204" pitchFamily="34" charset="0"/>
              </a:rPr>
              <a:t>ompare those movements to any economic data you wish (as long as you can import the data into Tableau, you can use it). Select any historical year (2000, 2008, 2019, etc.), preferably one that has a complete dataset. Which of the economic data series (and transformations of those series) you choose is up to you. You will not make any causal connections between the data. Simply, you need to comment on what you observe and lead the viewer through a storytelling arc through the events of the year</a:t>
            </a:r>
            <a:r>
              <a:rPr lang="en-US" b="1" i="0" dirty="0">
                <a:solidFill>
                  <a:srgbClr val="2D3B45"/>
                </a:solidFill>
                <a:effectLst/>
                <a:latin typeface="Helvetica" panose="020B0604020202020204" pitchFamily="34" charset="0"/>
              </a:rPr>
              <a:t>. (I recommend comparing the year that you choose to the historical average of the data or with the previous year.)</a:t>
            </a:r>
          </a:p>
          <a:p>
            <a:pPr marL="0" indent="0" algn="l">
              <a:lnSpc>
                <a:spcPct val="120000"/>
              </a:lnSpc>
              <a:buNone/>
            </a:pPr>
            <a:r>
              <a:rPr lang="en-US" b="0" i="0" dirty="0">
                <a:solidFill>
                  <a:srgbClr val="2D3B45"/>
                </a:solidFill>
                <a:effectLst/>
                <a:latin typeface="Helvetica" panose="020B0604020202020204" pitchFamily="34" charset="0"/>
              </a:rPr>
              <a:t>Then, you will walk the viewer, step-by-step to describe what happened that year covering at least:</a:t>
            </a:r>
          </a:p>
          <a:p>
            <a:pPr algn="l">
              <a:lnSpc>
                <a:spcPct val="120000"/>
              </a:lnSpc>
              <a:buFont typeface="Arial" panose="020B0604020202020204" pitchFamily="34" charset="0"/>
              <a:buChar char="•"/>
            </a:pPr>
            <a:r>
              <a:rPr lang="en-US" b="0" i="0" dirty="0">
                <a:solidFill>
                  <a:srgbClr val="2D3B45"/>
                </a:solidFill>
                <a:effectLst/>
                <a:latin typeface="Helvetica" panose="020B0604020202020204" pitchFamily="34" charset="0"/>
              </a:rPr>
              <a:t>Changes in the market by S&amp;P 500 sector. Change should not be limited to price but at a minimum the change in the monthly return of the price series. You can look at the univariate or multivariate visualizations to notice any changes in the statistical properties or relationships. No change in their properties may be interesting as well if say the economic environment drastically changed. </a:t>
            </a:r>
          </a:p>
          <a:p>
            <a:pPr algn="l">
              <a:lnSpc>
                <a:spcPct val="120000"/>
              </a:lnSpc>
              <a:buFont typeface="Arial" panose="020B0604020202020204" pitchFamily="34" charset="0"/>
              <a:buChar char="•"/>
            </a:pPr>
            <a:r>
              <a:rPr lang="en-US" b="0" i="0" dirty="0">
                <a:solidFill>
                  <a:srgbClr val="2D3B45"/>
                </a:solidFill>
                <a:effectLst/>
                <a:latin typeface="Helvetica" panose="020B0604020202020204" pitchFamily="34" charset="0"/>
              </a:rPr>
              <a:t>Changes in the overall S&amp;P500</a:t>
            </a:r>
          </a:p>
          <a:p>
            <a:pPr algn="l">
              <a:lnSpc>
                <a:spcPct val="120000"/>
              </a:lnSpc>
              <a:buFont typeface="Arial" panose="020B0604020202020204" pitchFamily="34" charset="0"/>
              <a:buChar char="•"/>
            </a:pPr>
            <a:r>
              <a:rPr lang="en-US" b="0" i="0" dirty="0">
                <a:solidFill>
                  <a:srgbClr val="2D3B45"/>
                </a:solidFill>
                <a:effectLst/>
                <a:latin typeface="Helvetica" panose="020B0604020202020204" pitchFamily="34" charset="0"/>
              </a:rPr>
              <a:t>Time-dependent changes</a:t>
            </a:r>
          </a:p>
          <a:p>
            <a:pPr algn="l">
              <a:lnSpc>
                <a:spcPct val="120000"/>
              </a:lnSpc>
              <a:buFont typeface="Arial" panose="020B0604020202020204" pitchFamily="34" charset="0"/>
              <a:buChar char="•"/>
            </a:pPr>
            <a:r>
              <a:rPr lang="en-US" b="0" i="0" dirty="0">
                <a:solidFill>
                  <a:srgbClr val="2D3B45"/>
                </a:solidFill>
                <a:effectLst/>
                <a:latin typeface="Helvetica" panose="020B0604020202020204" pitchFamily="34" charset="0"/>
              </a:rPr>
              <a:t>Relationships between market components</a:t>
            </a:r>
          </a:p>
          <a:p>
            <a:pPr algn="l">
              <a:lnSpc>
                <a:spcPct val="120000"/>
              </a:lnSpc>
              <a:buFont typeface="Arial" panose="020B0604020202020204" pitchFamily="34" charset="0"/>
              <a:buChar char="•"/>
            </a:pPr>
            <a:r>
              <a:rPr lang="en-US" b="0" i="0" dirty="0">
                <a:solidFill>
                  <a:srgbClr val="2D3B45"/>
                </a:solidFill>
                <a:effectLst/>
                <a:latin typeface="Helvetica" panose="020B0604020202020204" pitchFamily="34" charset="0"/>
              </a:rPr>
              <a:t>Changes to any macroeconomic variables and their relationships to the market </a:t>
            </a:r>
          </a:p>
          <a:p>
            <a:pPr>
              <a:lnSpc>
                <a:spcPct val="120000"/>
              </a:lnSpc>
            </a:pPr>
            <a:endParaRPr lang="en-US" dirty="0"/>
          </a:p>
        </p:txBody>
      </p:sp>
    </p:spTree>
    <p:extLst>
      <p:ext uri="{BB962C8B-B14F-4D97-AF65-F5344CB8AC3E}">
        <p14:creationId xmlns:p14="http://schemas.microsoft.com/office/powerpoint/2010/main" val="1747527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564D2-39E9-4D5D-BCC5-8444F5B757B9}"/>
              </a:ext>
            </a:extLst>
          </p:cNvPr>
          <p:cNvSpPr>
            <a:spLocks noGrp="1"/>
          </p:cNvSpPr>
          <p:nvPr>
            <p:ph type="title"/>
          </p:nvPr>
        </p:nvSpPr>
        <p:spPr/>
        <p:txBody>
          <a:bodyPr/>
          <a:lstStyle/>
          <a:p>
            <a:r>
              <a:rPr lang="en-US" dirty="0"/>
              <a:t>Final Project and Presentation Info</a:t>
            </a:r>
          </a:p>
        </p:txBody>
      </p:sp>
      <p:sp>
        <p:nvSpPr>
          <p:cNvPr id="3" name="Content Placeholder 2">
            <a:extLst>
              <a:ext uri="{FF2B5EF4-FFF2-40B4-BE49-F238E27FC236}">
                <a16:creationId xmlns:a16="http://schemas.microsoft.com/office/drawing/2014/main" id="{3B10D5EB-EFBD-41CF-A4F8-5FB47483C825}"/>
              </a:ext>
            </a:extLst>
          </p:cNvPr>
          <p:cNvSpPr>
            <a:spLocks noGrp="1"/>
          </p:cNvSpPr>
          <p:nvPr>
            <p:ph idx="1"/>
          </p:nvPr>
        </p:nvSpPr>
        <p:spPr/>
        <p:txBody>
          <a:bodyPr/>
          <a:lstStyle/>
          <a:p>
            <a:r>
              <a:rPr lang="en-US" b="0" i="0" dirty="0">
                <a:solidFill>
                  <a:srgbClr val="2D3B45"/>
                </a:solidFill>
                <a:effectLst/>
                <a:latin typeface="Helvetica" panose="020B0604020202020204" pitchFamily="34" charset="0"/>
              </a:rPr>
              <a:t>The simplest approach is to:</a:t>
            </a:r>
          </a:p>
          <a:p>
            <a:pPr lvl="1"/>
            <a:r>
              <a:rPr lang="en-US" dirty="0">
                <a:solidFill>
                  <a:srgbClr val="2D3B45"/>
                </a:solidFill>
                <a:latin typeface="Helvetica" panose="020B0604020202020204" pitchFamily="34" charset="0"/>
              </a:rPr>
              <a:t>E</a:t>
            </a:r>
            <a:r>
              <a:rPr lang="en-US" b="0" i="0" dirty="0">
                <a:solidFill>
                  <a:srgbClr val="2D3B45"/>
                </a:solidFill>
                <a:effectLst/>
                <a:latin typeface="Helvetica" panose="020B0604020202020204" pitchFamily="34" charset="0"/>
              </a:rPr>
              <a:t>xpand your dashboard into individual charts</a:t>
            </a:r>
          </a:p>
          <a:p>
            <a:pPr lvl="1"/>
            <a:r>
              <a:rPr lang="en-US" dirty="0">
                <a:solidFill>
                  <a:srgbClr val="2D3B45"/>
                </a:solidFill>
                <a:latin typeface="Helvetica" panose="020B0604020202020204" pitchFamily="34" charset="0"/>
              </a:rPr>
              <a:t>H</a:t>
            </a:r>
            <a:r>
              <a:rPr lang="en-US" b="0" i="0" dirty="0">
                <a:solidFill>
                  <a:srgbClr val="2D3B45"/>
                </a:solidFill>
                <a:effectLst/>
                <a:latin typeface="Helvetica" panose="020B0604020202020204" pitchFamily="34" charset="0"/>
              </a:rPr>
              <a:t>ighlight and annotate the important points</a:t>
            </a:r>
          </a:p>
          <a:p>
            <a:pPr lvl="1"/>
            <a:r>
              <a:rPr lang="en-US" b="0" i="0" dirty="0">
                <a:solidFill>
                  <a:srgbClr val="2D3B45"/>
                </a:solidFill>
                <a:effectLst/>
                <a:latin typeface="Helvetica" panose="020B0604020202020204" pitchFamily="34" charset="0"/>
              </a:rPr>
              <a:t>Organize the sequence into a narrative </a:t>
            </a:r>
          </a:p>
        </p:txBody>
      </p:sp>
    </p:spTree>
    <p:extLst>
      <p:ext uri="{BB962C8B-B14F-4D97-AF65-F5344CB8AC3E}">
        <p14:creationId xmlns:p14="http://schemas.microsoft.com/office/powerpoint/2010/main" val="2595545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D446C-F9F8-4A17-B0EA-4EA32D2F1B16}"/>
              </a:ext>
            </a:extLst>
          </p:cNvPr>
          <p:cNvSpPr>
            <a:spLocks noGrp="1"/>
          </p:cNvSpPr>
          <p:nvPr>
            <p:ph type="title"/>
          </p:nvPr>
        </p:nvSpPr>
        <p:spPr>
          <a:xfrm>
            <a:off x="648929" y="629266"/>
            <a:ext cx="3505495" cy="1622321"/>
          </a:xfrm>
        </p:spPr>
        <p:txBody>
          <a:bodyPr>
            <a:normAutofit/>
          </a:bodyPr>
          <a:lstStyle/>
          <a:p>
            <a:r>
              <a:rPr lang="en-US" dirty="0"/>
              <a:t>Starting with the dashboard</a:t>
            </a:r>
          </a:p>
        </p:txBody>
      </p:sp>
      <p:sp>
        <p:nvSpPr>
          <p:cNvPr id="8" name="Content Placeholder 7">
            <a:extLst>
              <a:ext uri="{FF2B5EF4-FFF2-40B4-BE49-F238E27FC236}">
                <a16:creationId xmlns:a16="http://schemas.microsoft.com/office/drawing/2014/main" id="{81414741-EC8D-43C6-85FC-CFFD5F25859B}"/>
              </a:ext>
            </a:extLst>
          </p:cNvPr>
          <p:cNvSpPr>
            <a:spLocks noGrp="1"/>
          </p:cNvSpPr>
          <p:nvPr>
            <p:ph idx="1"/>
          </p:nvPr>
        </p:nvSpPr>
        <p:spPr>
          <a:xfrm>
            <a:off x="648931" y="2438400"/>
            <a:ext cx="3505494" cy="3785419"/>
          </a:xfrm>
        </p:spPr>
        <p:txBody>
          <a:bodyPr>
            <a:normAutofit/>
          </a:bodyPr>
          <a:lstStyle/>
          <a:p>
            <a:pPr lvl="0"/>
            <a:r>
              <a:rPr lang="en-US" sz="2000" b="1" dirty="0"/>
              <a:t>Have</a:t>
            </a:r>
            <a:r>
              <a:rPr lang="en-US" sz="2000" dirty="0"/>
              <a:t> a clear purpose for the story. For each chart:</a:t>
            </a:r>
          </a:p>
          <a:p>
            <a:pPr lvl="1"/>
            <a:r>
              <a:rPr lang="en-US" sz="1800" dirty="0"/>
              <a:t>Why do you need a visualization?</a:t>
            </a:r>
          </a:p>
          <a:p>
            <a:pPr lvl="1"/>
            <a:r>
              <a:rPr lang="en-US" sz="1800" dirty="0"/>
              <a:t>What evidence supports the story?</a:t>
            </a:r>
          </a:p>
          <a:p>
            <a:r>
              <a:rPr lang="en-US" sz="2200" dirty="0"/>
              <a:t>Select the charts that support your narrative (abductive reasoning)</a:t>
            </a:r>
          </a:p>
        </p:txBody>
      </p:sp>
      <p:sp>
        <p:nvSpPr>
          <p:cNvPr id="11" name="Rectangle 1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Graphical user interface&#10;&#10;Description automatically generated">
            <a:extLst>
              <a:ext uri="{FF2B5EF4-FFF2-40B4-BE49-F238E27FC236}">
                <a16:creationId xmlns:a16="http://schemas.microsoft.com/office/drawing/2014/main" id="{BF9FA741-E903-4A51-BB40-ED5DD4514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5862" y="1155080"/>
            <a:ext cx="6019331" cy="4544594"/>
          </a:xfrm>
          <a:prstGeom prst="rect">
            <a:avLst/>
          </a:prstGeom>
          <a:effectLst/>
        </p:spPr>
      </p:pic>
    </p:spTree>
    <p:extLst>
      <p:ext uri="{BB962C8B-B14F-4D97-AF65-F5344CB8AC3E}">
        <p14:creationId xmlns:p14="http://schemas.microsoft.com/office/powerpoint/2010/main" val="433769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D446C-F9F8-4A17-B0EA-4EA32D2F1B16}"/>
              </a:ext>
            </a:extLst>
          </p:cNvPr>
          <p:cNvSpPr>
            <a:spLocks noGrp="1"/>
          </p:cNvSpPr>
          <p:nvPr>
            <p:ph type="title"/>
          </p:nvPr>
        </p:nvSpPr>
        <p:spPr>
          <a:xfrm>
            <a:off x="648929" y="629266"/>
            <a:ext cx="3505495" cy="1622321"/>
          </a:xfrm>
        </p:spPr>
        <p:txBody>
          <a:bodyPr>
            <a:normAutofit/>
          </a:bodyPr>
          <a:lstStyle/>
          <a:p>
            <a:r>
              <a:rPr lang="en-US" dirty="0"/>
              <a:t>Extract the headline data</a:t>
            </a:r>
          </a:p>
        </p:txBody>
      </p:sp>
      <p:sp>
        <p:nvSpPr>
          <p:cNvPr id="8" name="Content Placeholder 7">
            <a:extLst>
              <a:ext uri="{FF2B5EF4-FFF2-40B4-BE49-F238E27FC236}">
                <a16:creationId xmlns:a16="http://schemas.microsoft.com/office/drawing/2014/main" id="{81414741-EC8D-43C6-85FC-CFFD5F25859B}"/>
              </a:ext>
            </a:extLst>
          </p:cNvPr>
          <p:cNvSpPr>
            <a:spLocks noGrp="1"/>
          </p:cNvSpPr>
          <p:nvPr>
            <p:ph idx="1"/>
          </p:nvPr>
        </p:nvSpPr>
        <p:spPr>
          <a:xfrm>
            <a:off x="648931" y="2438400"/>
            <a:ext cx="3505494" cy="3785419"/>
          </a:xfrm>
        </p:spPr>
        <p:txBody>
          <a:bodyPr>
            <a:normAutofit/>
          </a:bodyPr>
          <a:lstStyle/>
          <a:p>
            <a:pPr lvl="0"/>
            <a:r>
              <a:rPr lang="en-US" sz="2400" b="1" dirty="0"/>
              <a:t>Show</a:t>
            </a:r>
            <a:r>
              <a:rPr lang="en-US" sz="2400" dirty="0"/>
              <a:t> the data clearly</a:t>
            </a:r>
          </a:p>
          <a:p>
            <a:pPr lvl="1"/>
            <a:r>
              <a:rPr lang="en-US" sz="2000" dirty="0"/>
              <a:t>Do not misrepresent data</a:t>
            </a:r>
          </a:p>
          <a:p>
            <a:pPr lvl="1"/>
            <a:r>
              <a:rPr lang="en-US" sz="2000" dirty="0"/>
              <a:t>Choose the correct graph type</a:t>
            </a:r>
          </a:p>
          <a:p>
            <a:pPr lvl="1"/>
            <a:r>
              <a:rPr lang="en-US" sz="2000" dirty="0"/>
              <a:t>Choose the correct scaling, mappings, and aesthetics</a:t>
            </a:r>
          </a:p>
          <a:p>
            <a:pPr lvl="1"/>
            <a:r>
              <a:rPr lang="en-US" sz="2000" dirty="0"/>
              <a:t>Make sure the information is clearly labeled to indicate dates, events, categories, etc.</a:t>
            </a:r>
          </a:p>
        </p:txBody>
      </p:sp>
      <p:sp>
        <p:nvSpPr>
          <p:cNvPr id="11" name="Rectangle 1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4">
            <a:extLst>
              <a:ext uri="{FF2B5EF4-FFF2-40B4-BE49-F238E27FC236}">
                <a16:creationId xmlns:a16="http://schemas.microsoft.com/office/drawing/2014/main" id="{25694588-C9B3-4B37-A3A4-CD8E071D9A19}"/>
              </a:ext>
            </a:extLst>
          </p:cNvPr>
          <p:cNvPicPr>
            <a:picLocks noChangeAspect="1"/>
          </p:cNvPicPr>
          <p:nvPr/>
        </p:nvPicPr>
        <p:blipFill>
          <a:blip r:embed="rId2"/>
          <a:stretch>
            <a:fillRect/>
          </a:stretch>
        </p:blipFill>
        <p:spPr>
          <a:xfrm>
            <a:off x="5300319" y="2889078"/>
            <a:ext cx="6230417" cy="538299"/>
          </a:xfrm>
          <a:prstGeom prst="rect">
            <a:avLst/>
          </a:prstGeom>
        </p:spPr>
      </p:pic>
    </p:spTree>
    <p:extLst>
      <p:ext uri="{BB962C8B-B14F-4D97-AF65-F5344CB8AC3E}">
        <p14:creationId xmlns:p14="http://schemas.microsoft.com/office/powerpoint/2010/main" val="3560009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AB69-6FB7-4A4F-BE3D-C459E0F58F42}"/>
              </a:ext>
            </a:extLst>
          </p:cNvPr>
          <p:cNvSpPr>
            <a:spLocks noGrp="1"/>
          </p:cNvSpPr>
          <p:nvPr>
            <p:ph type="title"/>
          </p:nvPr>
        </p:nvSpPr>
        <p:spPr>
          <a:xfrm>
            <a:off x="648929" y="629266"/>
            <a:ext cx="3505495" cy="1622321"/>
          </a:xfrm>
        </p:spPr>
        <p:txBody>
          <a:bodyPr>
            <a:noAutofit/>
          </a:bodyPr>
          <a:lstStyle/>
          <a:p>
            <a:r>
              <a:rPr lang="en-US" sz="3600" dirty="0"/>
              <a:t>Extract and hone visualizations that drive your point</a:t>
            </a:r>
          </a:p>
        </p:txBody>
      </p:sp>
      <p:sp>
        <p:nvSpPr>
          <p:cNvPr id="7" name="Content Placeholder 6">
            <a:extLst>
              <a:ext uri="{FF2B5EF4-FFF2-40B4-BE49-F238E27FC236}">
                <a16:creationId xmlns:a16="http://schemas.microsoft.com/office/drawing/2014/main" id="{B0CCBB18-D53A-4F64-8D95-837126F7F079}"/>
              </a:ext>
            </a:extLst>
          </p:cNvPr>
          <p:cNvSpPr>
            <a:spLocks noGrp="1"/>
          </p:cNvSpPr>
          <p:nvPr>
            <p:ph idx="1"/>
          </p:nvPr>
        </p:nvSpPr>
        <p:spPr>
          <a:xfrm>
            <a:off x="648931" y="2438400"/>
            <a:ext cx="3505494" cy="3785419"/>
          </a:xfrm>
        </p:spPr>
        <p:txBody>
          <a:bodyPr>
            <a:normAutofit/>
          </a:bodyPr>
          <a:lstStyle/>
          <a:p>
            <a:pPr lvl="0"/>
            <a:r>
              <a:rPr lang="en-US" sz="2400" b="1" dirty="0"/>
              <a:t>Make</a:t>
            </a:r>
            <a:r>
              <a:rPr lang="en-US" sz="2400" dirty="0"/>
              <a:t> the message obvious</a:t>
            </a:r>
          </a:p>
          <a:p>
            <a:pPr lvl="1"/>
            <a:r>
              <a:rPr lang="en-US" sz="2000" dirty="0"/>
              <a:t>Be conscious of your color and design decisions</a:t>
            </a:r>
          </a:p>
          <a:p>
            <a:pPr lvl="1"/>
            <a:r>
              <a:rPr lang="en-US" sz="2000" dirty="0"/>
              <a:t>Focus attention to the important areas</a:t>
            </a:r>
          </a:p>
          <a:p>
            <a:pPr lvl="1"/>
            <a:r>
              <a:rPr lang="en-US" sz="2000" dirty="0"/>
              <a:t>Eliminate clutter</a:t>
            </a:r>
          </a:p>
          <a:p>
            <a:endParaRPr lang="en-US" sz="2000" dirty="0"/>
          </a:p>
        </p:txBody>
      </p:sp>
      <p:sp>
        <p:nvSpPr>
          <p:cNvPr id="14" name="Rectangle 13">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BA0B5F3-B4A0-40E2-81E5-7DDE65FBAED6}"/>
              </a:ext>
            </a:extLst>
          </p:cNvPr>
          <p:cNvPicPr>
            <a:picLocks noChangeAspect="1"/>
          </p:cNvPicPr>
          <p:nvPr/>
        </p:nvPicPr>
        <p:blipFill>
          <a:blip r:embed="rId3"/>
          <a:stretch>
            <a:fillRect/>
          </a:stretch>
        </p:blipFill>
        <p:spPr>
          <a:xfrm>
            <a:off x="5405862" y="1561384"/>
            <a:ext cx="6019331" cy="3731985"/>
          </a:xfrm>
          <a:prstGeom prst="rect">
            <a:avLst/>
          </a:prstGeom>
          <a:effectLst/>
        </p:spPr>
      </p:pic>
    </p:spTree>
    <p:extLst>
      <p:ext uri="{BB962C8B-B14F-4D97-AF65-F5344CB8AC3E}">
        <p14:creationId xmlns:p14="http://schemas.microsoft.com/office/powerpoint/2010/main" val="3237649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018EF-3D0E-4B52-998D-C4620402F858}"/>
              </a:ext>
            </a:extLst>
          </p:cNvPr>
          <p:cNvSpPr>
            <a:spLocks noGrp="1"/>
          </p:cNvSpPr>
          <p:nvPr>
            <p:ph type="title"/>
          </p:nvPr>
        </p:nvSpPr>
        <p:spPr>
          <a:xfrm>
            <a:off x="648929" y="629266"/>
            <a:ext cx="3505495" cy="1622321"/>
          </a:xfrm>
        </p:spPr>
        <p:txBody>
          <a:bodyPr>
            <a:normAutofit fontScale="90000"/>
          </a:bodyPr>
          <a:lstStyle/>
          <a:p>
            <a:r>
              <a:rPr lang="en-US" dirty="0"/>
              <a:t>Provide detail and supporting evidence</a:t>
            </a:r>
          </a:p>
        </p:txBody>
      </p:sp>
      <p:sp>
        <p:nvSpPr>
          <p:cNvPr id="3" name="Content Placeholder 2">
            <a:extLst>
              <a:ext uri="{FF2B5EF4-FFF2-40B4-BE49-F238E27FC236}">
                <a16:creationId xmlns:a16="http://schemas.microsoft.com/office/drawing/2014/main" id="{C8E2B10C-28C3-4724-B45D-F516724A658E}"/>
              </a:ext>
            </a:extLst>
          </p:cNvPr>
          <p:cNvSpPr>
            <a:spLocks noGrp="1"/>
          </p:cNvSpPr>
          <p:nvPr>
            <p:ph idx="1"/>
          </p:nvPr>
        </p:nvSpPr>
        <p:spPr>
          <a:xfrm>
            <a:off x="648931" y="2438400"/>
            <a:ext cx="3505494" cy="3785419"/>
          </a:xfrm>
        </p:spPr>
        <p:txBody>
          <a:bodyPr>
            <a:normAutofit/>
          </a:bodyPr>
          <a:lstStyle/>
          <a:p>
            <a:r>
              <a:rPr lang="en-US" sz="2000" dirty="0"/>
              <a:t>Optimize data-ink-ratio to add as much information as possible with the least amount of visual noise</a:t>
            </a:r>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95D86B3-8F87-4F8E-A5F3-E41C2F51985F}"/>
              </a:ext>
            </a:extLst>
          </p:cNvPr>
          <p:cNvPicPr>
            <a:picLocks noChangeAspect="1"/>
          </p:cNvPicPr>
          <p:nvPr/>
        </p:nvPicPr>
        <p:blipFill>
          <a:blip r:embed="rId2"/>
          <a:stretch>
            <a:fillRect/>
          </a:stretch>
        </p:blipFill>
        <p:spPr>
          <a:xfrm>
            <a:off x="5405862" y="2456760"/>
            <a:ext cx="6019331" cy="1941233"/>
          </a:xfrm>
          <a:prstGeom prst="rect">
            <a:avLst/>
          </a:prstGeom>
          <a:effectLst/>
        </p:spPr>
      </p:pic>
    </p:spTree>
    <p:extLst>
      <p:ext uri="{BB962C8B-B14F-4D97-AF65-F5344CB8AC3E}">
        <p14:creationId xmlns:p14="http://schemas.microsoft.com/office/powerpoint/2010/main" val="1733886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08318-E2E8-4DEB-A2E1-FBDF51F79020}"/>
              </a:ext>
            </a:extLst>
          </p:cNvPr>
          <p:cNvSpPr>
            <a:spLocks noGrp="1"/>
          </p:cNvSpPr>
          <p:nvPr>
            <p:ph type="title"/>
          </p:nvPr>
        </p:nvSpPr>
        <p:spPr>
          <a:xfrm>
            <a:off x="648929" y="629266"/>
            <a:ext cx="3505495" cy="1622321"/>
          </a:xfrm>
        </p:spPr>
        <p:txBody>
          <a:bodyPr>
            <a:normAutofit/>
          </a:bodyPr>
          <a:lstStyle/>
          <a:p>
            <a:r>
              <a:rPr lang="en-US" dirty="0"/>
              <a:t>Annotate the story</a:t>
            </a:r>
          </a:p>
        </p:txBody>
      </p:sp>
      <p:sp>
        <p:nvSpPr>
          <p:cNvPr id="3" name="Content Placeholder 2">
            <a:extLst>
              <a:ext uri="{FF2B5EF4-FFF2-40B4-BE49-F238E27FC236}">
                <a16:creationId xmlns:a16="http://schemas.microsoft.com/office/drawing/2014/main" id="{967EDC13-3C90-494D-97EF-80D5A9C3D30D}"/>
              </a:ext>
            </a:extLst>
          </p:cNvPr>
          <p:cNvSpPr>
            <a:spLocks noGrp="1"/>
          </p:cNvSpPr>
          <p:nvPr>
            <p:ph idx="1"/>
          </p:nvPr>
        </p:nvSpPr>
        <p:spPr>
          <a:xfrm>
            <a:off x="648931" y="2438400"/>
            <a:ext cx="3505494" cy="3785419"/>
          </a:xfrm>
        </p:spPr>
        <p:txBody>
          <a:bodyPr>
            <a:normAutofit/>
          </a:bodyPr>
          <a:lstStyle/>
          <a:p>
            <a:r>
              <a:rPr lang="en-US" sz="2000" dirty="0"/>
              <a:t>Direct the audience focus to the key data points and guide them linearly through the story</a:t>
            </a:r>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E92824E-4964-45CF-8F70-A02FD102B960}"/>
              </a:ext>
            </a:extLst>
          </p:cNvPr>
          <p:cNvPicPr>
            <a:picLocks noChangeAspect="1"/>
          </p:cNvPicPr>
          <p:nvPr/>
        </p:nvPicPr>
        <p:blipFill>
          <a:blip r:embed="rId2"/>
          <a:stretch>
            <a:fillRect/>
          </a:stretch>
        </p:blipFill>
        <p:spPr>
          <a:xfrm>
            <a:off x="5327485" y="838499"/>
            <a:ext cx="6019331" cy="2182007"/>
          </a:xfrm>
          <a:prstGeom prst="rect">
            <a:avLst/>
          </a:prstGeom>
          <a:effectLst/>
        </p:spPr>
      </p:pic>
      <p:pic>
        <p:nvPicPr>
          <p:cNvPr id="8" name="Content Placeholder 4">
            <a:extLst>
              <a:ext uri="{FF2B5EF4-FFF2-40B4-BE49-F238E27FC236}">
                <a16:creationId xmlns:a16="http://schemas.microsoft.com/office/drawing/2014/main" id="{F234C396-C178-4B2B-AE44-601449BA21A3}"/>
              </a:ext>
            </a:extLst>
          </p:cNvPr>
          <p:cNvPicPr>
            <a:picLocks noChangeAspect="1"/>
          </p:cNvPicPr>
          <p:nvPr/>
        </p:nvPicPr>
        <p:blipFill>
          <a:blip r:embed="rId3"/>
          <a:stretch>
            <a:fillRect/>
          </a:stretch>
        </p:blipFill>
        <p:spPr>
          <a:xfrm>
            <a:off x="5327484" y="3427377"/>
            <a:ext cx="6019331" cy="2347538"/>
          </a:xfrm>
          <a:prstGeom prst="rect">
            <a:avLst/>
          </a:prstGeom>
          <a:effectLst/>
        </p:spPr>
      </p:pic>
    </p:spTree>
    <p:extLst>
      <p:ext uri="{BB962C8B-B14F-4D97-AF65-F5344CB8AC3E}">
        <p14:creationId xmlns:p14="http://schemas.microsoft.com/office/powerpoint/2010/main" val="1381323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53ACD-4A53-4358-AA87-7B018DEF1FE0}"/>
              </a:ext>
            </a:extLst>
          </p:cNvPr>
          <p:cNvSpPr>
            <a:spLocks noGrp="1"/>
          </p:cNvSpPr>
          <p:nvPr>
            <p:ph type="title"/>
          </p:nvPr>
        </p:nvSpPr>
        <p:spPr>
          <a:xfrm>
            <a:off x="648929" y="629266"/>
            <a:ext cx="3505495" cy="1622321"/>
          </a:xfrm>
        </p:spPr>
        <p:txBody>
          <a:bodyPr>
            <a:normAutofit/>
          </a:bodyPr>
          <a:lstStyle/>
          <a:p>
            <a:r>
              <a:rPr lang="en-US" dirty="0"/>
              <a:t>Structure the narrative</a:t>
            </a:r>
          </a:p>
        </p:txBody>
      </p:sp>
      <p:sp>
        <p:nvSpPr>
          <p:cNvPr id="9" name="Content Placeholder 8">
            <a:extLst>
              <a:ext uri="{FF2B5EF4-FFF2-40B4-BE49-F238E27FC236}">
                <a16:creationId xmlns:a16="http://schemas.microsoft.com/office/drawing/2014/main" id="{B5B0AF51-5777-4CB8-85FF-1B1E73BE3000}"/>
              </a:ext>
            </a:extLst>
          </p:cNvPr>
          <p:cNvSpPr>
            <a:spLocks noGrp="1"/>
          </p:cNvSpPr>
          <p:nvPr>
            <p:ph idx="1"/>
          </p:nvPr>
        </p:nvSpPr>
        <p:spPr>
          <a:xfrm>
            <a:off x="648931" y="2438400"/>
            <a:ext cx="3505494" cy="3785419"/>
          </a:xfrm>
        </p:spPr>
        <p:txBody>
          <a:bodyPr>
            <a:normAutofit/>
          </a:bodyPr>
          <a:lstStyle/>
          <a:p>
            <a:r>
              <a:rPr lang="en-US" sz="2000" dirty="0"/>
              <a:t>Every well-constructed analytics story will answer at a minimum:</a:t>
            </a:r>
          </a:p>
          <a:p>
            <a:pPr lvl="1"/>
            <a:r>
              <a:rPr lang="en-US" sz="1600" dirty="0"/>
              <a:t>What happened</a:t>
            </a:r>
          </a:p>
          <a:p>
            <a:pPr lvl="1"/>
            <a:r>
              <a:rPr lang="en-US" sz="1600" dirty="0"/>
              <a:t>Why it happened</a:t>
            </a:r>
          </a:p>
          <a:p>
            <a:pPr lvl="1"/>
            <a:r>
              <a:rPr lang="en-US" sz="1600" dirty="0"/>
              <a:t>Why it matters</a:t>
            </a:r>
          </a:p>
        </p:txBody>
      </p:sp>
      <p:sp>
        <p:nvSpPr>
          <p:cNvPr id="19" name="Rectangle 18">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Graphical user interface, application&#10;&#10;Description automatically generated">
            <a:extLst>
              <a:ext uri="{FF2B5EF4-FFF2-40B4-BE49-F238E27FC236}">
                <a16:creationId xmlns:a16="http://schemas.microsoft.com/office/drawing/2014/main" id="{541AC764-29A5-412C-9288-0EC3EB014314}"/>
              </a:ext>
            </a:extLst>
          </p:cNvPr>
          <p:cNvPicPr>
            <a:picLocks noChangeAspect="1"/>
          </p:cNvPicPr>
          <p:nvPr/>
        </p:nvPicPr>
        <p:blipFill>
          <a:blip r:embed="rId2"/>
          <a:stretch>
            <a:fillRect/>
          </a:stretch>
        </p:blipFill>
        <p:spPr>
          <a:xfrm>
            <a:off x="5405862" y="1162604"/>
            <a:ext cx="6019331" cy="4529546"/>
          </a:xfrm>
          <a:prstGeom prst="rect">
            <a:avLst/>
          </a:prstGeom>
          <a:effectLst/>
        </p:spPr>
      </p:pic>
    </p:spTree>
    <p:extLst>
      <p:ext uri="{BB962C8B-B14F-4D97-AF65-F5344CB8AC3E}">
        <p14:creationId xmlns:p14="http://schemas.microsoft.com/office/powerpoint/2010/main" val="2533984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EFC57-F118-41A9-825B-940CE7D04F6C}"/>
              </a:ext>
            </a:extLst>
          </p:cNvPr>
          <p:cNvSpPr>
            <a:spLocks noGrp="1"/>
          </p:cNvSpPr>
          <p:nvPr>
            <p:ph type="title"/>
          </p:nvPr>
        </p:nvSpPr>
        <p:spPr/>
        <p:txBody>
          <a:bodyPr/>
          <a:lstStyle/>
          <a:p>
            <a:r>
              <a:rPr lang="en-US" dirty="0"/>
              <a:t>Final Project and Presentation Info</a:t>
            </a:r>
          </a:p>
        </p:txBody>
      </p:sp>
      <p:sp>
        <p:nvSpPr>
          <p:cNvPr id="3" name="Content Placeholder 2">
            <a:extLst>
              <a:ext uri="{FF2B5EF4-FFF2-40B4-BE49-F238E27FC236}">
                <a16:creationId xmlns:a16="http://schemas.microsoft.com/office/drawing/2014/main" id="{A0BF6FD2-ED34-4AFB-AA80-7610CDA39262}"/>
              </a:ext>
            </a:extLst>
          </p:cNvPr>
          <p:cNvSpPr>
            <a:spLocks noGrp="1"/>
          </p:cNvSpPr>
          <p:nvPr>
            <p:ph idx="1"/>
          </p:nvPr>
        </p:nvSpPr>
        <p:spPr/>
        <p:txBody>
          <a:bodyPr>
            <a:normAutofit fontScale="92500" lnSpcReduction="20000"/>
          </a:bodyPr>
          <a:lstStyle/>
          <a:p>
            <a:r>
              <a:rPr lang="en-US" dirty="0"/>
              <a:t>Tools</a:t>
            </a:r>
          </a:p>
          <a:p>
            <a:pPr lvl="1"/>
            <a:r>
              <a:rPr lang="en-US" dirty="0"/>
              <a:t>Excel (Inspecting, cleansing, and possibly pre-calculating data)</a:t>
            </a:r>
          </a:p>
          <a:p>
            <a:pPr lvl="1"/>
            <a:r>
              <a:rPr lang="en-US" dirty="0"/>
              <a:t>Tableau</a:t>
            </a:r>
          </a:p>
          <a:p>
            <a:pPr lvl="1"/>
            <a:r>
              <a:rPr lang="en-US" dirty="0"/>
              <a:t>Visualization design:</a:t>
            </a:r>
          </a:p>
          <a:p>
            <a:pPr lvl="2"/>
            <a:r>
              <a:rPr lang="en-US" dirty="0"/>
              <a:t>Tableau, Illustrator, Inkscape, Photoshop, Gimp, or After Effects (!)</a:t>
            </a:r>
          </a:p>
          <a:p>
            <a:pPr lvl="1"/>
            <a:r>
              <a:rPr lang="en-US" dirty="0"/>
              <a:t>Presentation:</a:t>
            </a:r>
          </a:p>
          <a:p>
            <a:pPr lvl="2"/>
            <a:r>
              <a:rPr lang="en-US" dirty="0"/>
              <a:t>Tableau, PowerPoint, Google Slides, or Keynote </a:t>
            </a:r>
          </a:p>
          <a:p>
            <a:r>
              <a:rPr lang="en-US" dirty="0"/>
              <a:t>Final format for capstone project can be either:</a:t>
            </a:r>
          </a:p>
          <a:p>
            <a:pPr lvl="1"/>
            <a:r>
              <a:rPr lang="en-US" dirty="0"/>
              <a:t>Published story on Tableau Public or uploaded packaged workbook.</a:t>
            </a:r>
          </a:p>
          <a:p>
            <a:pPr lvl="1"/>
            <a:r>
              <a:rPr lang="en-US" dirty="0"/>
              <a:t>PDF file</a:t>
            </a:r>
          </a:p>
          <a:p>
            <a:pPr lvl="1"/>
            <a:r>
              <a:rPr lang="en-US" dirty="0"/>
              <a:t>Presentation file (</a:t>
            </a:r>
            <a:r>
              <a:rPr lang="en-US" dirty="0" err="1"/>
              <a:t>Powerpoint</a:t>
            </a:r>
            <a:r>
              <a:rPr lang="en-US" dirty="0"/>
              <a:t>, Keynote, or Slides)</a:t>
            </a:r>
          </a:p>
          <a:p>
            <a:r>
              <a:rPr lang="en-US" dirty="0"/>
              <a:t>Final format for capstone project presentation can be:</a:t>
            </a:r>
          </a:p>
          <a:p>
            <a:pPr lvl="1"/>
            <a:r>
              <a:rPr lang="en-US" dirty="0"/>
              <a:t>Narrated recording of </a:t>
            </a:r>
            <a:r>
              <a:rPr lang="en-US" dirty="0" err="1"/>
              <a:t>Powerpoint</a:t>
            </a:r>
            <a:r>
              <a:rPr lang="en-US" dirty="0"/>
              <a:t>, Keynote, or Google Slides</a:t>
            </a:r>
          </a:p>
        </p:txBody>
      </p:sp>
    </p:spTree>
    <p:extLst>
      <p:ext uri="{BB962C8B-B14F-4D97-AF65-F5344CB8AC3E}">
        <p14:creationId xmlns:p14="http://schemas.microsoft.com/office/powerpoint/2010/main" val="3400971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18">
            <a:extLst>
              <a:ext uri="{FF2B5EF4-FFF2-40B4-BE49-F238E27FC236}">
                <a16:creationId xmlns:a16="http://schemas.microsoft.com/office/drawing/2014/main" id="{6D6CDB20-394C-4D51-9C5B-8751E2133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Rounded Rectangle 3">
            <a:extLst>
              <a:ext uri="{FF2B5EF4-FFF2-40B4-BE49-F238E27FC236}">
                <a16:creationId xmlns:a16="http://schemas.microsoft.com/office/drawing/2014/main" id="{46DFD1E0-DCA7-47E6-B78B-6ECDDF873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chemeClr val="tx1">
                <a:lumMod val="50000"/>
                <a:lumOff val="50000"/>
              </a:schemeClr>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2">
            <a:extLst>
              <a:ext uri="{FF2B5EF4-FFF2-40B4-BE49-F238E27FC236}">
                <a16:creationId xmlns:a16="http://schemas.microsoft.com/office/drawing/2014/main" id="{8AAB0B1E-BB97-40E0-8DCD-D1197A0E1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FC9879-117E-4959-8CA7-25B695DC73EE}"/>
              </a:ext>
            </a:extLst>
          </p:cNvPr>
          <p:cNvSpPr>
            <a:spLocks noGrp="1"/>
          </p:cNvSpPr>
          <p:nvPr>
            <p:ph type="title"/>
          </p:nvPr>
        </p:nvSpPr>
        <p:spPr>
          <a:xfrm>
            <a:off x="1288064" y="1369938"/>
            <a:ext cx="4114800" cy="4114800"/>
          </a:xfrm>
        </p:spPr>
        <p:txBody>
          <a:bodyPr vert="horz" lIns="91440" tIns="45720" rIns="91440" bIns="45720" rtlCol="0">
            <a:normAutofit/>
          </a:bodyPr>
          <a:lstStyle/>
          <a:p>
            <a:pPr algn="r"/>
            <a:r>
              <a:rPr lang="en-US" sz="4800" kern="1200">
                <a:latin typeface="+mj-lt"/>
                <a:ea typeface="+mj-ea"/>
                <a:cs typeface="+mj-cs"/>
              </a:rPr>
              <a:t>From Tableau to Illustrator</a:t>
            </a:r>
          </a:p>
        </p:txBody>
      </p:sp>
      <p:cxnSp>
        <p:nvCxnSpPr>
          <p:cNvPr id="30" name="Straight Connector 24">
            <a:extLst>
              <a:ext uri="{FF2B5EF4-FFF2-40B4-BE49-F238E27FC236}">
                <a16:creationId xmlns:a16="http://schemas.microsoft.com/office/drawing/2014/main" id="{F492F8DF-EE34-4FC5-9FFE-76EB2E3BBA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4072564" y="3429000"/>
            <a:ext cx="32004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FDF5C7-9001-431D-9F05-604743D8B72D}"/>
              </a:ext>
            </a:extLst>
          </p:cNvPr>
          <p:cNvSpPr>
            <a:spLocks noGrp="1"/>
          </p:cNvSpPr>
          <p:nvPr>
            <p:ph idx="1"/>
          </p:nvPr>
        </p:nvSpPr>
        <p:spPr>
          <a:xfrm>
            <a:off x="5934456" y="1371600"/>
            <a:ext cx="4969480" cy="4114800"/>
          </a:xfrm>
        </p:spPr>
        <p:txBody>
          <a:bodyPr vert="horz" lIns="91440" tIns="45720" rIns="91440" bIns="45720" rtlCol="0" anchor="ctr">
            <a:normAutofit/>
          </a:bodyPr>
          <a:lstStyle/>
          <a:p>
            <a:pPr marL="0" indent="0">
              <a:buNone/>
            </a:pPr>
            <a:r>
              <a:rPr lang="en-US" sz="2200" kern="1200" dirty="0">
                <a:latin typeface="+mn-lt"/>
                <a:ea typeface="+mn-ea"/>
                <a:cs typeface="+mn-cs"/>
              </a:rPr>
              <a:t>Optional design tool route</a:t>
            </a:r>
          </a:p>
        </p:txBody>
      </p:sp>
    </p:spTree>
    <p:extLst>
      <p:ext uri="{BB962C8B-B14F-4D97-AF65-F5344CB8AC3E}">
        <p14:creationId xmlns:p14="http://schemas.microsoft.com/office/powerpoint/2010/main" val="1867698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552F-752F-48E3-BEE8-14584C57C7C7}"/>
              </a:ext>
            </a:extLst>
          </p:cNvPr>
          <p:cNvSpPr>
            <a:spLocks noGrp="1"/>
          </p:cNvSpPr>
          <p:nvPr>
            <p:ph type="title"/>
          </p:nvPr>
        </p:nvSpPr>
        <p:spPr>
          <a:xfrm>
            <a:off x="648929" y="629266"/>
            <a:ext cx="3505495" cy="1622321"/>
          </a:xfrm>
        </p:spPr>
        <p:txBody>
          <a:bodyPr>
            <a:normAutofit/>
          </a:bodyPr>
          <a:lstStyle/>
          <a:p>
            <a:r>
              <a:rPr lang="en-US" dirty="0"/>
              <a:t>Step 1:</a:t>
            </a:r>
          </a:p>
        </p:txBody>
      </p:sp>
      <p:sp>
        <p:nvSpPr>
          <p:cNvPr id="3" name="Content Placeholder 2">
            <a:extLst>
              <a:ext uri="{FF2B5EF4-FFF2-40B4-BE49-F238E27FC236}">
                <a16:creationId xmlns:a16="http://schemas.microsoft.com/office/drawing/2014/main" id="{0757A8E3-8930-4F06-8938-53D9B8A9D5CA}"/>
              </a:ext>
            </a:extLst>
          </p:cNvPr>
          <p:cNvSpPr>
            <a:spLocks noGrp="1"/>
          </p:cNvSpPr>
          <p:nvPr>
            <p:ph idx="1"/>
          </p:nvPr>
        </p:nvSpPr>
        <p:spPr>
          <a:xfrm>
            <a:off x="648931" y="2438400"/>
            <a:ext cx="3505494" cy="3785419"/>
          </a:xfrm>
        </p:spPr>
        <p:txBody>
          <a:bodyPr>
            <a:normAutofit/>
          </a:bodyPr>
          <a:lstStyle/>
          <a:p>
            <a:r>
              <a:rPr lang="en-US" sz="2000" dirty="0"/>
              <a:t>Print the worksheet to PDF format</a:t>
            </a:r>
          </a:p>
          <a:p>
            <a:r>
              <a:rPr lang="en-US" sz="2000" dirty="0"/>
              <a:t>This creates editable SVG graphics</a:t>
            </a:r>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7A0919C-10D1-4FF4-A18E-879D32DD0F7E}"/>
              </a:ext>
            </a:extLst>
          </p:cNvPr>
          <p:cNvPicPr>
            <a:picLocks noChangeAspect="1"/>
          </p:cNvPicPr>
          <p:nvPr/>
        </p:nvPicPr>
        <p:blipFill>
          <a:blip r:embed="rId2"/>
          <a:stretch>
            <a:fillRect/>
          </a:stretch>
        </p:blipFill>
        <p:spPr>
          <a:xfrm>
            <a:off x="5405862" y="1583957"/>
            <a:ext cx="6019331" cy="3686840"/>
          </a:xfrm>
          <a:prstGeom prst="rect">
            <a:avLst/>
          </a:prstGeom>
          <a:effectLst/>
        </p:spPr>
      </p:pic>
    </p:spTree>
    <p:extLst>
      <p:ext uri="{BB962C8B-B14F-4D97-AF65-F5344CB8AC3E}">
        <p14:creationId xmlns:p14="http://schemas.microsoft.com/office/powerpoint/2010/main" val="3066575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CB045-342B-4BEC-AEA6-A0F3F47535C1}"/>
              </a:ext>
            </a:extLst>
          </p:cNvPr>
          <p:cNvSpPr>
            <a:spLocks noGrp="1"/>
          </p:cNvSpPr>
          <p:nvPr>
            <p:ph type="title"/>
          </p:nvPr>
        </p:nvSpPr>
        <p:spPr>
          <a:xfrm>
            <a:off x="648929" y="629266"/>
            <a:ext cx="3505495" cy="1622321"/>
          </a:xfrm>
        </p:spPr>
        <p:txBody>
          <a:bodyPr>
            <a:normAutofit/>
          </a:bodyPr>
          <a:lstStyle/>
          <a:p>
            <a:r>
              <a:rPr lang="en-US" dirty="0"/>
              <a:t>Step 2:</a:t>
            </a:r>
          </a:p>
        </p:txBody>
      </p:sp>
      <p:sp>
        <p:nvSpPr>
          <p:cNvPr id="3" name="Content Placeholder 2">
            <a:extLst>
              <a:ext uri="{FF2B5EF4-FFF2-40B4-BE49-F238E27FC236}">
                <a16:creationId xmlns:a16="http://schemas.microsoft.com/office/drawing/2014/main" id="{1143602D-985F-49EB-B984-447571CABE99}"/>
              </a:ext>
            </a:extLst>
          </p:cNvPr>
          <p:cNvSpPr>
            <a:spLocks noGrp="1"/>
          </p:cNvSpPr>
          <p:nvPr>
            <p:ph idx="1"/>
          </p:nvPr>
        </p:nvSpPr>
        <p:spPr>
          <a:xfrm>
            <a:off x="648931" y="2438400"/>
            <a:ext cx="3505494" cy="3785419"/>
          </a:xfrm>
        </p:spPr>
        <p:txBody>
          <a:bodyPr>
            <a:normAutofit/>
          </a:bodyPr>
          <a:lstStyle/>
          <a:p>
            <a:r>
              <a:rPr lang="en-US" sz="2000" dirty="0"/>
              <a:t>In Adobe Illustrator, open the saved .pdf file</a:t>
            </a:r>
          </a:p>
          <a:p>
            <a:r>
              <a:rPr lang="en-US" sz="2000" dirty="0"/>
              <a:t>Ignore any missing font warnings</a:t>
            </a:r>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A579708-5D4F-43B5-B02C-4BA0447226AF}"/>
              </a:ext>
            </a:extLst>
          </p:cNvPr>
          <p:cNvPicPr>
            <a:picLocks noChangeAspect="1"/>
          </p:cNvPicPr>
          <p:nvPr/>
        </p:nvPicPr>
        <p:blipFill>
          <a:blip r:embed="rId2"/>
          <a:stretch>
            <a:fillRect/>
          </a:stretch>
        </p:blipFill>
        <p:spPr>
          <a:xfrm>
            <a:off x="6712668" y="807593"/>
            <a:ext cx="3405718" cy="5239568"/>
          </a:xfrm>
          <a:prstGeom prst="rect">
            <a:avLst/>
          </a:prstGeom>
          <a:effectLst/>
        </p:spPr>
      </p:pic>
    </p:spTree>
    <p:extLst>
      <p:ext uri="{BB962C8B-B14F-4D97-AF65-F5344CB8AC3E}">
        <p14:creationId xmlns:p14="http://schemas.microsoft.com/office/powerpoint/2010/main" val="2896835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B8E33-89E5-4A93-B88F-98ED9AED0E93}"/>
              </a:ext>
            </a:extLst>
          </p:cNvPr>
          <p:cNvSpPr>
            <a:spLocks noGrp="1"/>
          </p:cNvSpPr>
          <p:nvPr>
            <p:ph type="title"/>
          </p:nvPr>
        </p:nvSpPr>
        <p:spPr>
          <a:xfrm>
            <a:off x="648928" y="338328"/>
            <a:ext cx="3685032" cy="1608328"/>
          </a:xfrm>
        </p:spPr>
        <p:txBody>
          <a:bodyPr>
            <a:normAutofit/>
          </a:bodyPr>
          <a:lstStyle/>
          <a:p>
            <a:r>
              <a:rPr lang="en-US" sz="3600"/>
              <a:t>Step 3:</a:t>
            </a:r>
          </a:p>
        </p:txBody>
      </p:sp>
      <p:sp>
        <p:nvSpPr>
          <p:cNvPr id="3" name="Content Placeholder 2">
            <a:extLst>
              <a:ext uri="{FF2B5EF4-FFF2-40B4-BE49-F238E27FC236}">
                <a16:creationId xmlns:a16="http://schemas.microsoft.com/office/drawing/2014/main" id="{A1D92FC9-5517-4AEA-9AF5-64D2572DFC86}"/>
              </a:ext>
            </a:extLst>
          </p:cNvPr>
          <p:cNvSpPr>
            <a:spLocks noGrp="1"/>
          </p:cNvSpPr>
          <p:nvPr>
            <p:ph idx="1"/>
          </p:nvPr>
        </p:nvSpPr>
        <p:spPr>
          <a:xfrm>
            <a:off x="4864100" y="338328"/>
            <a:ext cx="6675627" cy="1605083"/>
          </a:xfrm>
        </p:spPr>
        <p:txBody>
          <a:bodyPr anchor="ctr">
            <a:normAutofit/>
          </a:bodyPr>
          <a:lstStyle/>
          <a:p>
            <a:r>
              <a:rPr lang="en-US" sz="2000"/>
              <a:t>Each chart element can be styled like any other vector graphics element.</a:t>
            </a:r>
            <a:endParaRPr lang="en-US" sz="2000" dirty="0"/>
          </a:p>
        </p:txBody>
      </p:sp>
      <p:sp>
        <p:nvSpPr>
          <p:cNvPr id="20" name="Rectangle 11">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211010"/>
            <a:ext cx="12192002" cy="464699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ounded Rectangle 26">
            <a:extLst>
              <a:ext uri="{FF2B5EF4-FFF2-40B4-BE49-F238E27FC236}">
                <a16:creationId xmlns:a16="http://schemas.microsoft.com/office/drawing/2014/main" id="{1B10F861-B8F1-49C7-BD58-EAB20CEE7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F64C670-9E3F-474D-90D1-95E8E856EBC9}"/>
              </a:ext>
            </a:extLst>
          </p:cNvPr>
          <p:cNvPicPr>
            <a:picLocks noChangeAspect="1"/>
          </p:cNvPicPr>
          <p:nvPr/>
        </p:nvPicPr>
        <p:blipFill>
          <a:blip r:embed="rId2"/>
          <a:stretch>
            <a:fillRect/>
          </a:stretch>
        </p:blipFill>
        <p:spPr>
          <a:xfrm>
            <a:off x="641180" y="3206912"/>
            <a:ext cx="4974336" cy="2362809"/>
          </a:xfrm>
          <a:prstGeom prst="rect">
            <a:avLst/>
          </a:prstGeom>
        </p:spPr>
      </p:pic>
      <p:sp>
        <p:nvSpPr>
          <p:cNvPr id="22" name="Rounded Rectangle 16">
            <a:extLst>
              <a:ext uri="{FF2B5EF4-FFF2-40B4-BE49-F238E27FC236}">
                <a16:creationId xmlns:a16="http://schemas.microsoft.com/office/drawing/2014/main" id="{61F6E425-22AB-4DA2-8FAC-58ADB58E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8E8A16A-C0E0-4AF9-BDAC-DB308B12A714}"/>
              </a:ext>
            </a:extLst>
          </p:cNvPr>
          <p:cNvPicPr>
            <a:picLocks noChangeAspect="1"/>
          </p:cNvPicPr>
          <p:nvPr/>
        </p:nvPicPr>
        <p:blipFill>
          <a:blip r:embed="rId3"/>
          <a:stretch>
            <a:fillRect/>
          </a:stretch>
        </p:blipFill>
        <p:spPr>
          <a:xfrm>
            <a:off x="6576484" y="3213130"/>
            <a:ext cx="4974336" cy="2350373"/>
          </a:xfrm>
          <a:prstGeom prst="rect">
            <a:avLst/>
          </a:prstGeom>
        </p:spPr>
      </p:pic>
    </p:spTree>
    <p:extLst>
      <p:ext uri="{BB962C8B-B14F-4D97-AF65-F5344CB8AC3E}">
        <p14:creationId xmlns:p14="http://schemas.microsoft.com/office/powerpoint/2010/main" val="996579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D47B-0681-4623-9388-246A964F760B}"/>
              </a:ext>
            </a:extLst>
          </p:cNvPr>
          <p:cNvSpPr>
            <a:spLocks noGrp="1"/>
          </p:cNvSpPr>
          <p:nvPr>
            <p:ph type="title"/>
          </p:nvPr>
        </p:nvSpPr>
        <p:spPr>
          <a:xfrm>
            <a:off x="648929" y="629266"/>
            <a:ext cx="3505495" cy="1622321"/>
          </a:xfrm>
        </p:spPr>
        <p:txBody>
          <a:bodyPr>
            <a:normAutofit/>
          </a:bodyPr>
          <a:lstStyle/>
          <a:p>
            <a:r>
              <a:rPr lang="en-US" dirty="0"/>
              <a:t>Comments</a:t>
            </a:r>
          </a:p>
        </p:txBody>
      </p:sp>
      <p:sp>
        <p:nvSpPr>
          <p:cNvPr id="3" name="Content Placeholder 2">
            <a:extLst>
              <a:ext uri="{FF2B5EF4-FFF2-40B4-BE49-F238E27FC236}">
                <a16:creationId xmlns:a16="http://schemas.microsoft.com/office/drawing/2014/main" id="{81EA3BBC-AC58-4BFC-9684-8826DB322DB8}"/>
              </a:ext>
            </a:extLst>
          </p:cNvPr>
          <p:cNvSpPr>
            <a:spLocks noGrp="1"/>
          </p:cNvSpPr>
          <p:nvPr>
            <p:ph idx="1"/>
          </p:nvPr>
        </p:nvSpPr>
        <p:spPr>
          <a:xfrm>
            <a:off x="648931" y="2438400"/>
            <a:ext cx="3505494" cy="3785419"/>
          </a:xfrm>
        </p:spPr>
        <p:txBody>
          <a:bodyPr>
            <a:normAutofit/>
          </a:bodyPr>
          <a:lstStyle/>
          <a:p>
            <a:r>
              <a:rPr lang="en-US" sz="2000" dirty="0"/>
              <a:t>Inkscape (</a:t>
            </a:r>
            <a:r>
              <a:rPr lang="en-US" sz="2000" dirty="0">
                <a:hlinkClick r:id="rId2"/>
              </a:rPr>
              <a:t>https://inkscape.org/</a:t>
            </a:r>
            <a:r>
              <a:rPr lang="en-US" sz="2000" dirty="0"/>
              <a:t>) is a free alternative to Illustrator</a:t>
            </a:r>
          </a:p>
          <a:p>
            <a:r>
              <a:rPr lang="en-US" sz="2000" dirty="0"/>
              <a:t>If the dataset is small and only a simple graph is needed, Illustrator’s Graph tool can be used for native visualizations</a:t>
            </a:r>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Graph Tool eBook Guide For Adobe Illustrator - Dataviz Catalogue Blog">
            <a:extLst>
              <a:ext uri="{FF2B5EF4-FFF2-40B4-BE49-F238E27FC236}">
                <a16:creationId xmlns:a16="http://schemas.microsoft.com/office/drawing/2014/main" id="{227CCC8B-D7D0-4F62-A0AF-4A8A5D76A79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05862" y="985403"/>
            <a:ext cx="6019331" cy="4883948"/>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364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7">
            <a:extLst>
              <a:ext uri="{FF2B5EF4-FFF2-40B4-BE49-F238E27FC236}">
                <a16:creationId xmlns:a16="http://schemas.microsoft.com/office/drawing/2014/main" id="{D8386171-E87D-46AB-8718-4CE2A8874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26">
            <a:extLst>
              <a:ext uri="{FF2B5EF4-FFF2-40B4-BE49-F238E27FC236}">
                <a16:creationId xmlns:a16="http://schemas.microsoft.com/office/drawing/2014/main" id="{207CB456-8849-413C-8210-B663779A3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E513936D-D1EB-4E42-A97F-942BA1F3D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32B8DB-76B7-4D64-8688-E952154C8293}"/>
              </a:ext>
            </a:extLst>
          </p:cNvPr>
          <p:cNvSpPr>
            <a:spLocks noGrp="1"/>
          </p:cNvSpPr>
          <p:nvPr>
            <p:ph type="title"/>
          </p:nvPr>
        </p:nvSpPr>
        <p:spPr>
          <a:xfrm>
            <a:off x="1499616" y="2127363"/>
            <a:ext cx="6181344" cy="2603274"/>
          </a:xfrm>
        </p:spPr>
        <p:txBody>
          <a:bodyPr vert="horz" lIns="91440" tIns="45720" rIns="91440" bIns="45720" rtlCol="0" anchor="ctr">
            <a:normAutofit/>
          </a:bodyPr>
          <a:lstStyle/>
          <a:p>
            <a:pPr algn="r"/>
            <a:r>
              <a:rPr lang="en-US" sz="5400" kern="1200">
                <a:solidFill>
                  <a:schemeClr val="tx1"/>
                </a:solidFill>
                <a:latin typeface="+mj-lt"/>
                <a:ea typeface="+mj-ea"/>
                <a:cs typeface="+mj-cs"/>
              </a:rPr>
              <a:t>From Tableau to Photoshop</a:t>
            </a:r>
          </a:p>
        </p:txBody>
      </p:sp>
      <p:sp>
        <p:nvSpPr>
          <p:cNvPr id="3" name="Content Placeholder 2">
            <a:extLst>
              <a:ext uri="{FF2B5EF4-FFF2-40B4-BE49-F238E27FC236}">
                <a16:creationId xmlns:a16="http://schemas.microsoft.com/office/drawing/2014/main" id="{05967EAC-6FFF-4B0B-A7F4-C90218C4D5A7}"/>
              </a:ext>
            </a:extLst>
          </p:cNvPr>
          <p:cNvSpPr>
            <a:spLocks noGrp="1"/>
          </p:cNvSpPr>
          <p:nvPr>
            <p:ph idx="1"/>
          </p:nvPr>
        </p:nvSpPr>
        <p:spPr>
          <a:xfrm>
            <a:off x="8049768" y="2127363"/>
            <a:ext cx="2642616" cy="2603274"/>
          </a:xfrm>
        </p:spPr>
        <p:txBody>
          <a:bodyPr vert="horz" lIns="91440" tIns="45720" rIns="91440" bIns="45720" rtlCol="0" anchor="ctr">
            <a:normAutofit/>
          </a:bodyPr>
          <a:lstStyle/>
          <a:p>
            <a:pPr marL="0" indent="0">
              <a:buNone/>
            </a:pPr>
            <a:r>
              <a:rPr lang="en-US" sz="2400" kern="1200" dirty="0">
                <a:solidFill>
                  <a:schemeClr val="tx1"/>
                </a:solidFill>
                <a:latin typeface="+mn-lt"/>
                <a:ea typeface="+mn-ea"/>
                <a:cs typeface="+mn-cs"/>
              </a:rPr>
              <a:t>Optional design </a:t>
            </a:r>
            <a:r>
              <a:rPr lang="en-US" sz="2400" dirty="0"/>
              <a:t>t</a:t>
            </a:r>
            <a:r>
              <a:rPr lang="en-US" sz="2400" kern="1200" dirty="0">
                <a:solidFill>
                  <a:schemeClr val="tx1"/>
                </a:solidFill>
                <a:latin typeface="+mn-lt"/>
                <a:ea typeface="+mn-ea"/>
                <a:cs typeface="+mn-cs"/>
              </a:rPr>
              <a:t>ool </a:t>
            </a:r>
            <a:r>
              <a:rPr lang="en-US" sz="2400" dirty="0"/>
              <a:t>r</a:t>
            </a:r>
            <a:r>
              <a:rPr lang="en-US" sz="2400" kern="1200" dirty="0">
                <a:solidFill>
                  <a:schemeClr val="tx1"/>
                </a:solidFill>
                <a:latin typeface="+mn-lt"/>
                <a:ea typeface="+mn-ea"/>
                <a:cs typeface="+mn-cs"/>
              </a:rPr>
              <a:t>oute</a:t>
            </a:r>
          </a:p>
        </p:txBody>
      </p:sp>
      <p:cxnSp>
        <p:nvCxnSpPr>
          <p:cNvPr id="19" name="Straight Connector 13">
            <a:extLst>
              <a:ext uri="{FF2B5EF4-FFF2-40B4-BE49-F238E27FC236}">
                <a16:creationId xmlns:a16="http://schemas.microsoft.com/office/drawing/2014/main" id="{07112B77-14CB-4EA4-AC83-BAC0FD4985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016" y="2057399"/>
            <a:ext cx="0" cy="274320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76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610B62-EEF8-4526-A7B2-4E91F131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624BB3-A609-42B4-A2AE-A539D5C09AF9}"/>
              </a:ext>
            </a:extLst>
          </p:cNvPr>
          <p:cNvSpPr>
            <a:spLocks noGrp="1"/>
          </p:cNvSpPr>
          <p:nvPr>
            <p:ph type="title"/>
          </p:nvPr>
        </p:nvSpPr>
        <p:spPr>
          <a:xfrm>
            <a:off x="645859" y="640081"/>
            <a:ext cx="3494341" cy="3793488"/>
          </a:xfrm>
          <a:noFill/>
        </p:spPr>
        <p:txBody>
          <a:bodyPr vert="horz" lIns="91440" tIns="45720" rIns="91440" bIns="45720" rtlCol="0" anchor="b">
            <a:normAutofit/>
          </a:bodyPr>
          <a:lstStyle/>
          <a:p>
            <a:r>
              <a:rPr lang="en-US" sz="4600"/>
              <a:t>Step 1:</a:t>
            </a:r>
          </a:p>
        </p:txBody>
      </p:sp>
      <p:sp>
        <p:nvSpPr>
          <p:cNvPr id="3" name="Content Placeholder 2">
            <a:extLst>
              <a:ext uri="{FF2B5EF4-FFF2-40B4-BE49-F238E27FC236}">
                <a16:creationId xmlns:a16="http://schemas.microsoft.com/office/drawing/2014/main" id="{4D6E5FA8-879F-4262-8D3A-5CD714DB8EDB}"/>
              </a:ext>
            </a:extLst>
          </p:cNvPr>
          <p:cNvSpPr>
            <a:spLocks noGrp="1"/>
          </p:cNvSpPr>
          <p:nvPr>
            <p:ph idx="1"/>
          </p:nvPr>
        </p:nvSpPr>
        <p:spPr>
          <a:xfrm>
            <a:off x="645858" y="4571999"/>
            <a:ext cx="3494342" cy="1645921"/>
          </a:xfrm>
          <a:noFill/>
        </p:spPr>
        <p:txBody>
          <a:bodyPr vert="horz" lIns="91440" tIns="45720" rIns="91440" bIns="45720" rtlCol="0">
            <a:normAutofit/>
          </a:bodyPr>
          <a:lstStyle/>
          <a:p>
            <a:pPr marL="0" indent="0">
              <a:buNone/>
            </a:pPr>
            <a:r>
              <a:rPr lang="en-US" sz="2400"/>
              <a:t>Export the worksheet as an image</a:t>
            </a:r>
          </a:p>
        </p:txBody>
      </p:sp>
      <p:sp>
        <p:nvSpPr>
          <p:cNvPr id="19" name="Rectangle 18">
            <a:extLst>
              <a:ext uri="{FF2B5EF4-FFF2-40B4-BE49-F238E27FC236}">
                <a16:creationId xmlns:a16="http://schemas.microsoft.com/office/drawing/2014/main" id="{71FC7D98-7B8B-402A-90FC-F027482F2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926" y="0"/>
            <a:ext cx="756607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8">
            <a:extLst>
              <a:ext uri="{FF2B5EF4-FFF2-40B4-BE49-F238E27FC236}">
                <a16:creationId xmlns:a16="http://schemas.microsoft.com/office/drawing/2014/main" id="{AD7356EA-285B-4E5D-8FEC-104659A4F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5903" y="640091"/>
            <a:ext cx="6266120"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CFF1099-E67C-4F29-87E4-DE1B71991141}"/>
              </a:ext>
            </a:extLst>
          </p:cNvPr>
          <p:cNvPicPr>
            <a:picLocks noChangeAspect="1"/>
          </p:cNvPicPr>
          <p:nvPr/>
        </p:nvPicPr>
        <p:blipFill rotWithShape="1">
          <a:blip r:embed="rId2"/>
          <a:srcRect l="26535" r="7321" b="-1"/>
          <a:stretch/>
        </p:blipFill>
        <p:spPr>
          <a:xfrm>
            <a:off x="5441735" y="804672"/>
            <a:ext cx="5934456" cy="5248656"/>
          </a:xfrm>
          <a:prstGeom prst="rect">
            <a:avLst/>
          </a:prstGeom>
          <a:effectLst/>
        </p:spPr>
      </p:pic>
    </p:spTree>
    <p:extLst>
      <p:ext uri="{BB962C8B-B14F-4D97-AF65-F5344CB8AC3E}">
        <p14:creationId xmlns:p14="http://schemas.microsoft.com/office/powerpoint/2010/main" val="18230353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F63FF5A-B9E2-4989-825C-C62CD37CBB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F8BDC5-05D8-4430-A62E-104562159477}"/>
              </a:ext>
            </a:extLst>
          </p:cNvPr>
          <p:cNvSpPr>
            <a:spLocks noGrp="1"/>
          </p:cNvSpPr>
          <p:nvPr>
            <p:ph type="title"/>
          </p:nvPr>
        </p:nvSpPr>
        <p:spPr>
          <a:xfrm>
            <a:off x="648930" y="629266"/>
            <a:ext cx="3605572" cy="1676603"/>
          </a:xfrm>
        </p:spPr>
        <p:txBody>
          <a:bodyPr>
            <a:normAutofit/>
          </a:bodyPr>
          <a:lstStyle/>
          <a:p>
            <a:r>
              <a:rPr lang="en-US" sz="4000"/>
              <a:t>Step 2:</a:t>
            </a:r>
          </a:p>
        </p:txBody>
      </p:sp>
      <p:sp>
        <p:nvSpPr>
          <p:cNvPr id="3" name="Content Placeholder 2">
            <a:extLst>
              <a:ext uri="{FF2B5EF4-FFF2-40B4-BE49-F238E27FC236}">
                <a16:creationId xmlns:a16="http://schemas.microsoft.com/office/drawing/2014/main" id="{649FBDF3-E837-4E41-AE39-A9B11968A15C}"/>
              </a:ext>
            </a:extLst>
          </p:cNvPr>
          <p:cNvSpPr>
            <a:spLocks noGrp="1"/>
          </p:cNvSpPr>
          <p:nvPr>
            <p:ph idx="1"/>
          </p:nvPr>
        </p:nvSpPr>
        <p:spPr>
          <a:xfrm>
            <a:off x="648931" y="2438401"/>
            <a:ext cx="3605571" cy="3779520"/>
          </a:xfrm>
        </p:spPr>
        <p:txBody>
          <a:bodyPr>
            <a:normAutofit/>
          </a:bodyPr>
          <a:lstStyle/>
          <a:p>
            <a:r>
              <a:rPr lang="en-US" sz="1800"/>
              <a:t>Choose the export options</a:t>
            </a:r>
          </a:p>
          <a:p>
            <a:pPr marL="0" indent="0">
              <a:buNone/>
            </a:pPr>
            <a:endParaRPr lang="en-US" sz="1800"/>
          </a:p>
        </p:txBody>
      </p:sp>
      <p:sp>
        <p:nvSpPr>
          <p:cNvPr id="19" name="Rectangle 18">
            <a:extLst>
              <a:ext uri="{FF2B5EF4-FFF2-40B4-BE49-F238E27FC236}">
                <a16:creationId xmlns:a16="http://schemas.microsoft.com/office/drawing/2014/main" id="{577D1452-F0B7-431E-9A24-D3F7103D8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A660F4F9-5DF5-4F15-BE6A-CD8648BB1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8267" y="559407"/>
            <a:ext cx="6594522"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D7FD28E-02C7-46FE-9A1B-4317D9F9D363}"/>
              </a:ext>
            </a:extLst>
          </p:cNvPr>
          <p:cNvPicPr>
            <a:picLocks noChangeAspect="1"/>
          </p:cNvPicPr>
          <p:nvPr/>
        </p:nvPicPr>
        <p:blipFill rotWithShape="1">
          <a:blip r:embed="rId2"/>
          <a:srcRect l="30" r="17413"/>
          <a:stretch/>
        </p:blipFill>
        <p:spPr>
          <a:xfrm>
            <a:off x="5283708" y="722376"/>
            <a:ext cx="6263640" cy="5413248"/>
          </a:xfrm>
          <a:prstGeom prst="rect">
            <a:avLst/>
          </a:prstGeom>
          <a:effectLst/>
        </p:spPr>
      </p:pic>
    </p:spTree>
    <p:extLst>
      <p:ext uri="{BB962C8B-B14F-4D97-AF65-F5344CB8AC3E}">
        <p14:creationId xmlns:p14="http://schemas.microsoft.com/office/powerpoint/2010/main" val="2118208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8BDC5-05D8-4430-A62E-104562159477}"/>
              </a:ext>
            </a:extLst>
          </p:cNvPr>
          <p:cNvSpPr>
            <a:spLocks noGrp="1"/>
          </p:cNvSpPr>
          <p:nvPr>
            <p:ph type="title"/>
          </p:nvPr>
        </p:nvSpPr>
        <p:spPr>
          <a:xfrm>
            <a:off x="648928" y="4675886"/>
            <a:ext cx="3685032" cy="1608328"/>
          </a:xfrm>
        </p:spPr>
        <p:txBody>
          <a:bodyPr>
            <a:normAutofit/>
          </a:bodyPr>
          <a:lstStyle/>
          <a:p>
            <a:r>
              <a:rPr lang="en-US" sz="3600"/>
              <a:t>Step 3:</a:t>
            </a:r>
          </a:p>
        </p:txBody>
      </p:sp>
      <p:sp>
        <p:nvSpPr>
          <p:cNvPr id="12" name="Rectangle 11">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1"/>
            <a:ext cx="12192002" cy="4489449"/>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ounded Rectangle 28">
            <a:extLst>
              <a:ext uri="{FF2B5EF4-FFF2-40B4-BE49-F238E27FC236}">
                <a16:creationId xmlns:a16="http://schemas.microsoft.com/office/drawing/2014/main" id="{07A0C51E-5464-4470-855E-CA530A59BF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59557" y="640091"/>
            <a:ext cx="8072887" cy="3550909"/>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5BCBD085-2957-47F3-815A-91C02720DBC3}"/>
              </a:ext>
            </a:extLst>
          </p:cNvPr>
          <p:cNvPicPr>
            <a:picLocks noChangeAspect="1"/>
          </p:cNvPicPr>
          <p:nvPr/>
        </p:nvPicPr>
        <p:blipFill>
          <a:blip r:embed="rId2"/>
          <a:stretch>
            <a:fillRect/>
          </a:stretch>
        </p:blipFill>
        <p:spPr>
          <a:xfrm>
            <a:off x="2292699" y="915162"/>
            <a:ext cx="7606599" cy="3000766"/>
          </a:xfrm>
          <a:prstGeom prst="rect">
            <a:avLst/>
          </a:prstGeom>
        </p:spPr>
      </p:pic>
      <p:sp>
        <p:nvSpPr>
          <p:cNvPr id="3" name="Content Placeholder 2">
            <a:extLst>
              <a:ext uri="{FF2B5EF4-FFF2-40B4-BE49-F238E27FC236}">
                <a16:creationId xmlns:a16="http://schemas.microsoft.com/office/drawing/2014/main" id="{649FBDF3-E837-4E41-AE39-A9B11968A15C}"/>
              </a:ext>
            </a:extLst>
          </p:cNvPr>
          <p:cNvSpPr>
            <a:spLocks noGrp="1"/>
          </p:cNvSpPr>
          <p:nvPr>
            <p:ph idx="1"/>
          </p:nvPr>
        </p:nvSpPr>
        <p:spPr>
          <a:xfrm>
            <a:off x="4864100" y="4675886"/>
            <a:ext cx="6675627" cy="1605083"/>
          </a:xfrm>
        </p:spPr>
        <p:txBody>
          <a:bodyPr anchor="ctr">
            <a:normAutofit/>
          </a:bodyPr>
          <a:lstStyle/>
          <a:p>
            <a:r>
              <a:rPr lang="en-US" sz="2000" dirty="0"/>
              <a:t>Export as .</a:t>
            </a:r>
            <a:r>
              <a:rPr lang="en-US" sz="2000"/>
              <a:t>png</a:t>
            </a:r>
            <a:r>
              <a:rPr lang="en-US" sz="2000" dirty="0"/>
              <a:t> file and save the file</a:t>
            </a:r>
          </a:p>
          <a:p>
            <a:pPr marL="0" indent="0">
              <a:buNone/>
            </a:pPr>
            <a:endParaRPr lang="en-US" sz="2000" dirty="0"/>
          </a:p>
        </p:txBody>
      </p:sp>
    </p:spTree>
    <p:extLst>
      <p:ext uri="{BB962C8B-B14F-4D97-AF65-F5344CB8AC3E}">
        <p14:creationId xmlns:p14="http://schemas.microsoft.com/office/powerpoint/2010/main" val="28008734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B3648-8177-49BE-BFB2-863D3767F028}"/>
              </a:ext>
            </a:extLst>
          </p:cNvPr>
          <p:cNvSpPr>
            <a:spLocks noGrp="1"/>
          </p:cNvSpPr>
          <p:nvPr>
            <p:ph type="title"/>
          </p:nvPr>
        </p:nvSpPr>
        <p:spPr>
          <a:xfrm>
            <a:off x="648929" y="629266"/>
            <a:ext cx="3505495" cy="1622321"/>
          </a:xfrm>
        </p:spPr>
        <p:txBody>
          <a:bodyPr>
            <a:normAutofit/>
          </a:bodyPr>
          <a:lstStyle/>
          <a:p>
            <a:r>
              <a:rPr lang="en-US"/>
              <a:t>Step 4:</a:t>
            </a:r>
          </a:p>
        </p:txBody>
      </p:sp>
      <p:sp>
        <p:nvSpPr>
          <p:cNvPr id="3" name="Content Placeholder 2">
            <a:extLst>
              <a:ext uri="{FF2B5EF4-FFF2-40B4-BE49-F238E27FC236}">
                <a16:creationId xmlns:a16="http://schemas.microsoft.com/office/drawing/2014/main" id="{DFD5E2FE-7486-460A-A919-CC9F4B20926E}"/>
              </a:ext>
            </a:extLst>
          </p:cNvPr>
          <p:cNvSpPr>
            <a:spLocks noGrp="1"/>
          </p:cNvSpPr>
          <p:nvPr>
            <p:ph idx="1"/>
          </p:nvPr>
        </p:nvSpPr>
        <p:spPr>
          <a:xfrm>
            <a:off x="648931" y="2438400"/>
            <a:ext cx="3505494" cy="3785419"/>
          </a:xfrm>
        </p:spPr>
        <p:txBody>
          <a:bodyPr>
            <a:normAutofit/>
          </a:bodyPr>
          <a:lstStyle/>
          <a:p>
            <a:r>
              <a:rPr lang="en-US" sz="2000"/>
              <a:t>Open the file in Photoshop</a:t>
            </a:r>
          </a:p>
          <a:p>
            <a:r>
              <a:rPr lang="en-US" sz="2000"/>
              <a:t>Manipulate the elements and layers to achieve the desired style</a:t>
            </a:r>
          </a:p>
          <a:p>
            <a:endParaRPr lang="en-US" sz="2000"/>
          </a:p>
        </p:txBody>
      </p:sp>
      <p:sp>
        <p:nvSpPr>
          <p:cNvPr id="19" name="Rectangle 18">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video game&#10;&#10;Description automatically generated with medium confidence">
            <a:extLst>
              <a:ext uri="{FF2B5EF4-FFF2-40B4-BE49-F238E27FC236}">
                <a16:creationId xmlns:a16="http://schemas.microsoft.com/office/drawing/2014/main" id="{93441770-BEFD-4E5E-9A15-8DBB1001D299}"/>
              </a:ext>
            </a:extLst>
          </p:cNvPr>
          <p:cNvPicPr>
            <a:picLocks noChangeAspect="1"/>
          </p:cNvPicPr>
          <p:nvPr/>
        </p:nvPicPr>
        <p:blipFill rotWithShape="1">
          <a:blip r:embed="rId2"/>
          <a:srcRect l="10906" r="18801" b="1"/>
          <a:stretch/>
        </p:blipFill>
        <p:spPr>
          <a:xfrm>
            <a:off x="5405862" y="826332"/>
            <a:ext cx="6019331" cy="5202090"/>
          </a:xfrm>
          <a:prstGeom prst="rect">
            <a:avLst/>
          </a:prstGeom>
          <a:effectLst/>
        </p:spPr>
      </p:pic>
      <p:sp>
        <p:nvSpPr>
          <p:cNvPr id="6" name="TextBox 5">
            <a:extLst>
              <a:ext uri="{FF2B5EF4-FFF2-40B4-BE49-F238E27FC236}">
                <a16:creationId xmlns:a16="http://schemas.microsoft.com/office/drawing/2014/main" id="{4B999DEE-49C2-4529-BF5B-C4D43FC04D0E}"/>
              </a:ext>
            </a:extLst>
          </p:cNvPr>
          <p:cNvSpPr txBox="1"/>
          <p:nvPr/>
        </p:nvSpPr>
        <p:spPr>
          <a:xfrm>
            <a:off x="5189148" y="6028422"/>
            <a:ext cx="6649577" cy="261610"/>
          </a:xfrm>
          <a:prstGeom prst="rect">
            <a:avLst/>
          </a:prstGeom>
          <a:noFill/>
        </p:spPr>
        <p:txBody>
          <a:bodyPr wrap="none" rtlCol="0">
            <a:spAutoFit/>
          </a:bodyPr>
          <a:lstStyle/>
          <a:p>
            <a:r>
              <a:rPr lang="en-US" sz="1100" dirty="0"/>
              <a:t>This is a horrendous chart and is what can go wrong if you muck with every element in Photoshop without design</a:t>
            </a:r>
          </a:p>
        </p:txBody>
      </p:sp>
    </p:spTree>
    <p:extLst>
      <p:ext uri="{BB962C8B-B14F-4D97-AF65-F5344CB8AC3E}">
        <p14:creationId xmlns:p14="http://schemas.microsoft.com/office/powerpoint/2010/main" val="1021295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AFA9-D17D-42E6-B87D-56394934D265}"/>
              </a:ext>
            </a:extLst>
          </p:cNvPr>
          <p:cNvSpPr>
            <a:spLocks noGrp="1"/>
          </p:cNvSpPr>
          <p:nvPr>
            <p:ph type="title"/>
          </p:nvPr>
        </p:nvSpPr>
        <p:spPr/>
        <p:txBody>
          <a:bodyPr/>
          <a:lstStyle/>
          <a:p>
            <a:r>
              <a:rPr lang="en-US" dirty="0"/>
              <a:t>Comments</a:t>
            </a:r>
          </a:p>
        </p:txBody>
      </p:sp>
      <p:sp>
        <p:nvSpPr>
          <p:cNvPr id="3" name="Content Placeholder 2">
            <a:extLst>
              <a:ext uri="{FF2B5EF4-FFF2-40B4-BE49-F238E27FC236}">
                <a16:creationId xmlns:a16="http://schemas.microsoft.com/office/drawing/2014/main" id="{5B0E0ABA-9436-4A7A-96DC-8FD6FEBD875B}"/>
              </a:ext>
            </a:extLst>
          </p:cNvPr>
          <p:cNvSpPr>
            <a:spLocks noGrp="1"/>
          </p:cNvSpPr>
          <p:nvPr>
            <p:ph idx="1"/>
          </p:nvPr>
        </p:nvSpPr>
        <p:spPr/>
        <p:txBody>
          <a:bodyPr/>
          <a:lstStyle/>
          <a:p>
            <a:r>
              <a:rPr lang="en-US" dirty="0"/>
              <a:t>Gimp (</a:t>
            </a:r>
            <a:r>
              <a:rPr lang="en-US" dirty="0">
                <a:hlinkClick r:id="rId2"/>
              </a:rPr>
              <a:t>https://www.gimp.org/</a:t>
            </a:r>
            <a:r>
              <a:rPr lang="en-US" dirty="0"/>
              <a:t>) is a free alternative to Photoshop</a:t>
            </a:r>
          </a:p>
          <a:p>
            <a:r>
              <a:rPr lang="en-US" dirty="0"/>
              <a:t>Image editing approach is not nearly as flexible as using scalable graphics like in Illustrator</a:t>
            </a:r>
          </a:p>
        </p:txBody>
      </p:sp>
    </p:spTree>
    <p:extLst>
      <p:ext uri="{BB962C8B-B14F-4D97-AF65-F5344CB8AC3E}">
        <p14:creationId xmlns:p14="http://schemas.microsoft.com/office/powerpoint/2010/main" val="35746071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26681</TotalTime>
  <Words>1319</Words>
  <Application>Microsoft Macintosh PowerPoint</Application>
  <PresentationFormat>Widescreen</PresentationFormat>
  <Paragraphs>163</Paragraphs>
  <Slides>34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Calibri Light</vt:lpstr>
      <vt:lpstr>Cambria Math</vt:lpstr>
      <vt:lpstr>Helvetica</vt:lpstr>
      <vt:lpstr>Roboto</vt:lpstr>
      <vt:lpstr>Office Theme</vt:lpstr>
      <vt:lpstr>Virtual Session 7</vt:lpstr>
      <vt:lpstr>Comparing variables</vt:lpstr>
      <vt:lpstr>Transforming variables </vt:lpstr>
      <vt:lpstr>Designing dashboards</vt:lpstr>
      <vt:lpstr>Three Rules of Visual Communication</vt:lpstr>
      <vt:lpstr>Designing Dashboards</vt:lpstr>
      <vt:lpstr>Focal staging</vt:lpstr>
      <vt:lpstr>Focal staging</vt:lpstr>
      <vt:lpstr>Focal staging</vt:lpstr>
      <vt:lpstr>PowerPoint Presentation</vt:lpstr>
      <vt:lpstr>Poor layout and flow</vt:lpstr>
      <vt:lpstr>What is the layout and flow here?</vt:lpstr>
      <vt:lpstr>Use wireframes for layout and flow</vt:lpstr>
      <vt:lpstr>Agenda</vt:lpstr>
      <vt:lpstr>Project description</vt:lpstr>
      <vt:lpstr>Final Project and Presentation Info</vt:lpstr>
      <vt:lpstr>Starting with the dashboard</vt:lpstr>
      <vt:lpstr>Extract the headline data</vt:lpstr>
      <vt:lpstr>Extract and hone visualizations that drive your point</vt:lpstr>
      <vt:lpstr>Provide detail and supporting evidence</vt:lpstr>
      <vt:lpstr>Annotate the story</vt:lpstr>
      <vt:lpstr>Structure the narrative</vt:lpstr>
      <vt:lpstr>Final Project and Presentation Info</vt:lpstr>
      <vt:lpstr>From Tableau to Illustrator</vt:lpstr>
      <vt:lpstr>Step 1:</vt:lpstr>
      <vt:lpstr>Step 2:</vt:lpstr>
      <vt:lpstr>Step 3:</vt:lpstr>
      <vt:lpstr>Comments</vt:lpstr>
      <vt:lpstr>From Tableau to Photoshop</vt:lpstr>
      <vt:lpstr>Step 1:</vt:lpstr>
      <vt:lpstr>Step 2:</vt:lpstr>
      <vt:lpstr>Step 3:</vt:lpstr>
      <vt:lpstr>Step 4:</vt:lpstr>
      <vt:lpstr>Comments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Visualization</dc:title>
  <dc:creator>James Yang</dc:creator>
  <cp:lastModifiedBy>Yu Zhang</cp:lastModifiedBy>
  <cp:revision>777</cp:revision>
  <dcterms:created xsi:type="dcterms:W3CDTF">2021-04-13T18:02:33Z</dcterms:created>
  <dcterms:modified xsi:type="dcterms:W3CDTF">2026-07-25T01:43:40Z</dcterms:modified>
</cp:coreProperties>
</file>