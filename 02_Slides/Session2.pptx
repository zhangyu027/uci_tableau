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700" r:id="rId2"/>
    <p:sldId id="257" r:id="rId3"/>
    <p:sldId id="709" r:id="rId4"/>
    <p:sldId id="715" r:id="rId5"/>
    <p:sldId id="712" r:id="rId6"/>
    <p:sldId id="713" r:id="rId7"/>
    <p:sldId id="720" r:id="rId8"/>
    <p:sldId id="719" r:id="rId9"/>
    <p:sldId id="718" r:id="rId10"/>
    <p:sldId id="708" r:id="rId11"/>
    <p:sldId id="716" r:id="rId12"/>
    <p:sldId id="717" r:id="rId13"/>
    <p:sldId id="711" r:id="rId14"/>
    <p:sldId id="707" r:id="rId15"/>
    <p:sldId id="710" r:id="rId16"/>
    <p:sldId id="706" r:id="rId17"/>
    <p:sldId id="721" r:id="rId18"/>
    <p:sldId id="722" r:id="rId19"/>
    <p:sldId id="723" r:id="rId20"/>
    <p:sldId id="701" r:id="rId21"/>
    <p:sldId id="702" r:id="rId22"/>
    <p:sldId id="703" r:id="rId23"/>
    <p:sldId id="704" r:id="rId24"/>
    <p:sldId id="705" r:id="rId25"/>
    <p:sldId id="724" r:id="rId26"/>
    <p:sldId id="725" r:id="rId27"/>
    <p:sldId id="726" r:id="rId28"/>
    <p:sldId id="727" r:id="rId29"/>
    <p:sldId id="73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Yang" initials="JY" lastIdx="1" clrIdx="0">
    <p:extLst>
      <p:ext uri="{19B8F6BF-5375-455C-9EA6-DF929625EA0E}">
        <p15:presenceInfo xmlns:p15="http://schemas.microsoft.com/office/powerpoint/2012/main" userId="ad9827a8d1333f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85629"/>
  </p:normalViewPr>
  <p:slideViewPr>
    <p:cSldViewPr snapToGrid="0">
      <p:cViewPr varScale="1">
        <p:scale>
          <a:sx n="85" d="100"/>
          <a:sy n="85" d="100"/>
        </p:scale>
        <p:origin x="1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71BE76-E5E3-495E-8918-94447CA0A24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70EB7D2-B0FF-4638-B9AF-AF302BB7C168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Introduction and Environment Setup</a:t>
          </a:r>
        </a:p>
      </dgm:t>
    </dgm:pt>
    <dgm:pt modelId="{DDC6CEBD-E028-41B2-8A70-F2D4143FC811}" type="parTrans" cxnId="{FEDF9D62-B44F-4AA5-88C3-F4C1C7FBE2FF}">
      <dgm:prSet/>
      <dgm:spPr/>
      <dgm:t>
        <a:bodyPr/>
        <a:lstStyle/>
        <a:p>
          <a:endParaRPr lang="en-US"/>
        </a:p>
      </dgm:t>
    </dgm:pt>
    <dgm:pt modelId="{302B8A97-C736-418B-A1FD-CE3351A89AE7}" type="sibTrans" cxnId="{FEDF9D62-B44F-4AA5-88C3-F4C1C7FBE2FF}">
      <dgm:prSet/>
      <dgm:spPr/>
      <dgm:t>
        <a:bodyPr/>
        <a:lstStyle/>
        <a:p>
          <a:endParaRPr lang="en-US"/>
        </a:p>
      </dgm:t>
    </dgm:pt>
    <dgm:pt modelId="{B94BBFE3-607A-40B7-9C65-47A0870AA02B}">
      <dgm:prSet/>
      <dgm:spPr>
        <a:effectLst>
          <a:innerShdw blurRad="114300">
            <a:prstClr val="black"/>
          </a:innerShdw>
        </a:effectLst>
      </dgm:spPr>
      <dgm:t>
        <a:bodyPr/>
        <a:lstStyle/>
        <a:p>
          <a:r>
            <a:rPr lang="en-US" dirty="0"/>
            <a:t>Univariate Analysis/Descriptive Analytics</a:t>
          </a:r>
        </a:p>
      </dgm:t>
    </dgm:pt>
    <dgm:pt modelId="{0A4EF674-AFD7-4532-A6C7-F686D272CAB2}" type="parTrans" cxnId="{CFF9AF98-6BAD-4141-A9DA-06796329DBE0}">
      <dgm:prSet/>
      <dgm:spPr/>
      <dgm:t>
        <a:bodyPr/>
        <a:lstStyle/>
        <a:p>
          <a:endParaRPr lang="en-US"/>
        </a:p>
      </dgm:t>
    </dgm:pt>
    <dgm:pt modelId="{917F6BCF-53F3-4ABB-893A-711DDDA02674}" type="sibTrans" cxnId="{CFF9AF98-6BAD-4141-A9DA-06796329DBE0}">
      <dgm:prSet/>
      <dgm:spPr/>
      <dgm:t>
        <a:bodyPr/>
        <a:lstStyle/>
        <a:p>
          <a:endParaRPr lang="en-US"/>
        </a:p>
      </dgm:t>
    </dgm:pt>
    <dgm:pt modelId="{B0C9C85E-72FF-49A1-B302-C63A0C8FC25F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dirty="0"/>
            <a:t>Multivariate Analysis/Diagnostic Analytics</a:t>
          </a:r>
        </a:p>
      </dgm:t>
    </dgm:pt>
    <dgm:pt modelId="{8671ADC0-15D2-49C5-886C-3FACB03E68B5}" type="parTrans" cxnId="{19A73352-8138-43EE-84F8-99993BF6E7D3}">
      <dgm:prSet/>
      <dgm:spPr/>
      <dgm:t>
        <a:bodyPr/>
        <a:lstStyle/>
        <a:p>
          <a:endParaRPr lang="en-US"/>
        </a:p>
      </dgm:t>
    </dgm:pt>
    <dgm:pt modelId="{185AC366-AB4F-4E2B-A787-442B586F4F2F}" type="sibTrans" cxnId="{19A73352-8138-43EE-84F8-99993BF6E7D3}">
      <dgm:prSet/>
      <dgm:spPr/>
      <dgm:t>
        <a:bodyPr/>
        <a:lstStyle/>
        <a:p>
          <a:endParaRPr lang="en-US"/>
        </a:p>
      </dgm:t>
    </dgm:pt>
    <dgm:pt modelId="{A48BA986-6468-447E-842D-041D32B3F66F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dirty="0"/>
            <a:t>Networks and Spatial Analytics/Descriptive + Diagnostic Analytics</a:t>
          </a:r>
        </a:p>
      </dgm:t>
    </dgm:pt>
    <dgm:pt modelId="{CDF4D36E-BF42-4566-824D-9A595F606486}" type="parTrans" cxnId="{F2A725A3-011E-4263-9501-EC032F634730}">
      <dgm:prSet/>
      <dgm:spPr/>
      <dgm:t>
        <a:bodyPr/>
        <a:lstStyle/>
        <a:p>
          <a:endParaRPr lang="en-US"/>
        </a:p>
      </dgm:t>
    </dgm:pt>
    <dgm:pt modelId="{B8EDD083-F44C-41E6-BA44-258854AA85C7}" type="sibTrans" cxnId="{F2A725A3-011E-4263-9501-EC032F634730}">
      <dgm:prSet/>
      <dgm:spPr/>
      <dgm:t>
        <a:bodyPr/>
        <a:lstStyle/>
        <a:p>
          <a:endParaRPr lang="en-US"/>
        </a:p>
      </dgm:t>
    </dgm:pt>
    <dgm:pt modelId="{8F6776E0-BFFC-48BB-910A-93F2A487F96A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dirty="0"/>
            <a:t>Time Series Analysis</a:t>
          </a:r>
        </a:p>
      </dgm:t>
    </dgm:pt>
    <dgm:pt modelId="{4B473B22-E3BB-44D5-A382-D2D38803737F}" type="parTrans" cxnId="{47A2B71D-13CE-4836-8079-3FCDC8F27B83}">
      <dgm:prSet/>
      <dgm:spPr/>
      <dgm:t>
        <a:bodyPr/>
        <a:lstStyle/>
        <a:p>
          <a:endParaRPr lang="en-US"/>
        </a:p>
      </dgm:t>
    </dgm:pt>
    <dgm:pt modelId="{D1034894-A5C6-4196-B8B1-47ED14B4E7DA}" type="sibTrans" cxnId="{47A2B71D-13CE-4836-8079-3FCDC8F27B83}">
      <dgm:prSet/>
      <dgm:spPr/>
      <dgm:t>
        <a:bodyPr/>
        <a:lstStyle/>
        <a:p>
          <a:endParaRPr lang="en-US"/>
        </a:p>
      </dgm:t>
    </dgm:pt>
    <dgm:pt modelId="{10881B5B-0AF0-45B9-8107-74C8839E931E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Interactive Visual Analytics</a:t>
          </a:r>
        </a:p>
      </dgm:t>
    </dgm:pt>
    <dgm:pt modelId="{0CEB5599-5B54-4A46-AF79-03B68905038A}" type="parTrans" cxnId="{A41AA8AA-9460-4D9A-9AE0-5620A11E5E9A}">
      <dgm:prSet/>
      <dgm:spPr/>
      <dgm:t>
        <a:bodyPr/>
        <a:lstStyle/>
        <a:p>
          <a:endParaRPr lang="en-US"/>
        </a:p>
      </dgm:t>
    </dgm:pt>
    <dgm:pt modelId="{6F0D2EED-7A28-4A19-AD1D-0FE889F44A0B}" type="sibTrans" cxnId="{A41AA8AA-9460-4D9A-9AE0-5620A11E5E9A}">
      <dgm:prSet/>
      <dgm:spPr/>
      <dgm:t>
        <a:bodyPr/>
        <a:lstStyle/>
        <a:p>
          <a:endParaRPr lang="en-US"/>
        </a:p>
      </dgm:t>
    </dgm:pt>
    <dgm:pt modelId="{B681D000-3439-47ED-97A6-9DEF69577639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dirty="0"/>
            <a:t>Storytelling + Prescriptive Analytics</a:t>
          </a:r>
        </a:p>
      </dgm:t>
    </dgm:pt>
    <dgm:pt modelId="{74275B59-144C-43ED-BC39-B8BECCB50CF8}" type="parTrans" cxnId="{F24CE34D-FAAE-43BB-ABC9-0A1469610A4B}">
      <dgm:prSet/>
      <dgm:spPr/>
      <dgm:t>
        <a:bodyPr/>
        <a:lstStyle/>
        <a:p>
          <a:endParaRPr lang="en-US"/>
        </a:p>
      </dgm:t>
    </dgm:pt>
    <dgm:pt modelId="{59ADFF8A-D3E6-480E-8CE0-87DCDABF99E8}" type="sibTrans" cxnId="{F24CE34D-FAAE-43BB-ABC9-0A1469610A4B}">
      <dgm:prSet/>
      <dgm:spPr/>
      <dgm:t>
        <a:bodyPr/>
        <a:lstStyle/>
        <a:p>
          <a:endParaRPr lang="en-US"/>
        </a:p>
      </dgm:t>
    </dgm:pt>
    <dgm:pt modelId="{3C2B21B7-FC51-4B7D-91EF-152089FADBAB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Advanced Topics</a:t>
          </a:r>
        </a:p>
      </dgm:t>
    </dgm:pt>
    <dgm:pt modelId="{2A5C75DE-D5CF-4770-AD6D-E14F58BEE34F}" type="parTrans" cxnId="{6087FA29-2ADD-4F98-9D92-6A508ED198BC}">
      <dgm:prSet/>
      <dgm:spPr/>
      <dgm:t>
        <a:bodyPr/>
        <a:lstStyle/>
        <a:p>
          <a:endParaRPr lang="en-US"/>
        </a:p>
      </dgm:t>
    </dgm:pt>
    <dgm:pt modelId="{B05941A4-8352-4C39-A886-5EFFC577A4A1}" type="sibTrans" cxnId="{6087FA29-2ADD-4F98-9D92-6A508ED198BC}">
      <dgm:prSet/>
      <dgm:spPr/>
      <dgm:t>
        <a:bodyPr/>
        <a:lstStyle/>
        <a:p>
          <a:endParaRPr lang="en-US"/>
        </a:p>
      </dgm:t>
    </dgm:pt>
    <dgm:pt modelId="{41805969-4587-47BD-B3C2-A05E04014D64}" type="pres">
      <dgm:prSet presAssocID="{7371BE76-E5E3-495E-8918-94447CA0A245}" presName="Name0" presStyleCnt="0">
        <dgm:presLayoutVars>
          <dgm:dir/>
          <dgm:resizeHandles val="exact"/>
        </dgm:presLayoutVars>
      </dgm:prSet>
      <dgm:spPr/>
    </dgm:pt>
    <dgm:pt modelId="{24486862-8B72-481D-BD6F-019944B01B09}" type="pres">
      <dgm:prSet presAssocID="{070EB7D2-B0FF-4638-B9AF-AF302BB7C168}" presName="node" presStyleLbl="node1" presStyleIdx="0" presStyleCnt="8" custLinFactNeighborX="607">
        <dgm:presLayoutVars>
          <dgm:bulletEnabled val="1"/>
        </dgm:presLayoutVars>
      </dgm:prSet>
      <dgm:spPr/>
    </dgm:pt>
    <dgm:pt modelId="{F118C0A4-CDB6-409E-8DF6-F002CF8143EC}" type="pres">
      <dgm:prSet presAssocID="{302B8A97-C736-418B-A1FD-CE3351A89AE7}" presName="sibTrans" presStyleLbl="sibTrans1D1" presStyleIdx="0" presStyleCnt="7"/>
      <dgm:spPr/>
    </dgm:pt>
    <dgm:pt modelId="{B4710AE6-6B33-4F8B-B553-688DCB74F57C}" type="pres">
      <dgm:prSet presAssocID="{302B8A97-C736-418B-A1FD-CE3351A89AE7}" presName="connectorText" presStyleLbl="sibTrans1D1" presStyleIdx="0" presStyleCnt="7"/>
      <dgm:spPr/>
    </dgm:pt>
    <dgm:pt modelId="{D8C2E31A-7146-494A-A9FB-A2DE0634FD2A}" type="pres">
      <dgm:prSet presAssocID="{B94BBFE3-607A-40B7-9C65-47A0870AA02B}" presName="node" presStyleLbl="node1" presStyleIdx="1" presStyleCnt="8" custLinFactNeighborX="607">
        <dgm:presLayoutVars>
          <dgm:bulletEnabled val="1"/>
        </dgm:presLayoutVars>
      </dgm:prSet>
      <dgm:spPr/>
    </dgm:pt>
    <dgm:pt modelId="{FFDE22AD-4DAC-4E98-8543-A1830F42F9D0}" type="pres">
      <dgm:prSet presAssocID="{917F6BCF-53F3-4ABB-893A-711DDDA02674}" presName="sibTrans" presStyleLbl="sibTrans1D1" presStyleIdx="1" presStyleCnt="7"/>
      <dgm:spPr/>
    </dgm:pt>
    <dgm:pt modelId="{F51D916A-0739-4256-9E33-89C4DEFDCF2C}" type="pres">
      <dgm:prSet presAssocID="{917F6BCF-53F3-4ABB-893A-711DDDA02674}" presName="connectorText" presStyleLbl="sibTrans1D1" presStyleIdx="1" presStyleCnt="7"/>
      <dgm:spPr/>
    </dgm:pt>
    <dgm:pt modelId="{50CCF83E-03C3-4E3B-AC6A-ABF26BAB2CC8}" type="pres">
      <dgm:prSet presAssocID="{B0C9C85E-72FF-49A1-B302-C63A0C8FC25F}" presName="node" presStyleLbl="node1" presStyleIdx="2" presStyleCnt="8" custLinFactNeighborX="607">
        <dgm:presLayoutVars>
          <dgm:bulletEnabled val="1"/>
        </dgm:presLayoutVars>
      </dgm:prSet>
      <dgm:spPr/>
    </dgm:pt>
    <dgm:pt modelId="{1676D500-3407-4775-B8D4-0B589B6A633B}" type="pres">
      <dgm:prSet presAssocID="{185AC366-AB4F-4E2B-A787-442B586F4F2F}" presName="sibTrans" presStyleLbl="sibTrans1D1" presStyleIdx="2" presStyleCnt="7"/>
      <dgm:spPr/>
    </dgm:pt>
    <dgm:pt modelId="{6C037529-2816-43D5-9E0F-00356BA0B2FD}" type="pres">
      <dgm:prSet presAssocID="{185AC366-AB4F-4E2B-A787-442B586F4F2F}" presName="connectorText" presStyleLbl="sibTrans1D1" presStyleIdx="2" presStyleCnt="7"/>
      <dgm:spPr/>
    </dgm:pt>
    <dgm:pt modelId="{4DFE5A2D-CFC4-40E9-A091-01DD3B7BE30E}" type="pres">
      <dgm:prSet presAssocID="{A48BA986-6468-447E-842D-041D32B3F66F}" presName="node" presStyleLbl="node1" presStyleIdx="3" presStyleCnt="8" custLinFactNeighborX="607">
        <dgm:presLayoutVars>
          <dgm:bulletEnabled val="1"/>
        </dgm:presLayoutVars>
      </dgm:prSet>
      <dgm:spPr/>
    </dgm:pt>
    <dgm:pt modelId="{3DDA95C1-0014-41BE-859B-AC738EBCFF49}" type="pres">
      <dgm:prSet presAssocID="{B8EDD083-F44C-41E6-BA44-258854AA85C7}" presName="sibTrans" presStyleLbl="sibTrans1D1" presStyleIdx="3" presStyleCnt="7"/>
      <dgm:spPr/>
    </dgm:pt>
    <dgm:pt modelId="{8F451400-2DDB-44DD-A2AA-387D7BCC0D30}" type="pres">
      <dgm:prSet presAssocID="{B8EDD083-F44C-41E6-BA44-258854AA85C7}" presName="connectorText" presStyleLbl="sibTrans1D1" presStyleIdx="3" presStyleCnt="7"/>
      <dgm:spPr/>
    </dgm:pt>
    <dgm:pt modelId="{DED66163-0896-4DAF-8302-9E80B3EE7CC3}" type="pres">
      <dgm:prSet presAssocID="{8F6776E0-BFFC-48BB-910A-93F2A487F96A}" presName="node" presStyleLbl="node1" presStyleIdx="4" presStyleCnt="8" custLinFactNeighborX="607">
        <dgm:presLayoutVars>
          <dgm:bulletEnabled val="1"/>
        </dgm:presLayoutVars>
      </dgm:prSet>
      <dgm:spPr/>
    </dgm:pt>
    <dgm:pt modelId="{2BA9B027-1487-4986-9542-011C268A9362}" type="pres">
      <dgm:prSet presAssocID="{D1034894-A5C6-4196-B8B1-47ED14B4E7DA}" presName="sibTrans" presStyleLbl="sibTrans1D1" presStyleIdx="4" presStyleCnt="7"/>
      <dgm:spPr/>
    </dgm:pt>
    <dgm:pt modelId="{68409E67-47A8-4671-A40E-A2E1F024E8E7}" type="pres">
      <dgm:prSet presAssocID="{D1034894-A5C6-4196-B8B1-47ED14B4E7DA}" presName="connectorText" presStyleLbl="sibTrans1D1" presStyleIdx="4" presStyleCnt="7"/>
      <dgm:spPr/>
    </dgm:pt>
    <dgm:pt modelId="{CCCDA745-F379-4EA4-B443-903D2D7361AC}" type="pres">
      <dgm:prSet presAssocID="{10881B5B-0AF0-45B9-8107-74C8839E931E}" presName="node" presStyleLbl="node1" presStyleIdx="5" presStyleCnt="8">
        <dgm:presLayoutVars>
          <dgm:bulletEnabled val="1"/>
        </dgm:presLayoutVars>
      </dgm:prSet>
      <dgm:spPr/>
    </dgm:pt>
    <dgm:pt modelId="{9B7F617D-DB8F-4CCD-B446-C935691119D1}" type="pres">
      <dgm:prSet presAssocID="{6F0D2EED-7A28-4A19-AD1D-0FE889F44A0B}" presName="sibTrans" presStyleLbl="sibTrans1D1" presStyleIdx="5" presStyleCnt="7"/>
      <dgm:spPr/>
    </dgm:pt>
    <dgm:pt modelId="{014365C2-9E8F-439D-97CF-CA8C6F4B0133}" type="pres">
      <dgm:prSet presAssocID="{6F0D2EED-7A28-4A19-AD1D-0FE889F44A0B}" presName="connectorText" presStyleLbl="sibTrans1D1" presStyleIdx="5" presStyleCnt="7"/>
      <dgm:spPr/>
    </dgm:pt>
    <dgm:pt modelId="{0E9122EA-85B7-4733-858C-E80481AB5B42}" type="pres">
      <dgm:prSet presAssocID="{B681D000-3439-47ED-97A6-9DEF69577639}" presName="node" presStyleLbl="node1" presStyleIdx="6" presStyleCnt="8">
        <dgm:presLayoutVars>
          <dgm:bulletEnabled val="1"/>
        </dgm:presLayoutVars>
      </dgm:prSet>
      <dgm:spPr/>
    </dgm:pt>
    <dgm:pt modelId="{7E73BBEF-9A18-4C1F-AB86-3CE02DB9B4A4}" type="pres">
      <dgm:prSet presAssocID="{59ADFF8A-D3E6-480E-8CE0-87DCDABF99E8}" presName="sibTrans" presStyleLbl="sibTrans1D1" presStyleIdx="6" presStyleCnt="7"/>
      <dgm:spPr/>
    </dgm:pt>
    <dgm:pt modelId="{A4E97108-D16B-481D-A492-88603F2AE0DE}" type="pres">
      <dgm:prSet presAssocID="{59ADFF8A-D3E6-480E-8CE0-87DCDABF99E8}" presName="connectorText" presStyleLbl="sibTrans1D1" presStyleIdx="6" presStyleCnt="7"/>
      <dgm:spPr/>
    </dgm:pt>
    <dgm:pt modelId="{7670E739-0C93-4B89-9BC4-6CBB11C83F39}" type="pres">
      <dgm:prSet presAssocID="{3C2B21B7-FC51-4B7D-91EF-152089FADBAB}" presName="node" presStyleLbl="node1" presStyleIdx="7" presStyleCnt="8">
        <dgm:presLayoutVars>
          <dgm:bulletEnabled val="1"/>
        </dgm:presLayoutVars>
      </dgm:prSet>
      <dgm:spPr/>
    </dgm:pt>
  </dgm:ptLst>
  <dgm:cxnLst>
    <dgm:cxn modelId="{8092B400-34D3-401D-9A43-7CB593148E32}" type="presOf" srcId="{59ADFF8A-D3E6-480E-8CE0-87DCDABF99E8}" destId="{A4E97108-D16B-481D-A492-88603F2AE0DE}" srcOrd="1" destOrd="0" presId="urn:microsoft.com/office/officeart/2016/7/layout/RepeatingBendingProcessNew"/>
    <dgm:cxn modelId="{9DE48310-FED4-4106-BFEA-B13A715282C4}" type="presOf" srcId="{B8EDD083-F44C-41E6-BA44-258854AA85C7}" destId="{8F451400-2DDB-44DD-A2AA-387D7BCC0D30}" srcOrd="1" destOrd="0" presId="urn:microsoft.com/office/officeart/2016/7/layout/RepeatingBendingProcessNew"/>
    <dgm:cxn modelId="{2BE3CE10-7D07-4F33-BF51-5C15ED21298E}" type="presOf" srcId="{917F6BCF-53F3-4ABB-893A-711DDDA02674}" destId="{F51D916A-0739-4256-9E33-89C4DEFDCF2C}" srcOrd="1" destOrd="0" presId="urn:microsoft.com/office/officeart/2016/7/layout/RepeatingBendingProcessNew"/>
    <dgm:cxn modelId="{47A2B71D-13CE-4836-8079-3FCDC8F27B83}" srcId="{7371BE76-E5E3-495E-8918-94447CA0A245}" destId="{8F6776E0-BFFC-48BB-910A-93F2A487F96A}" srcOrd="4" destOrd="0" parTransId="{4B473B22-E3BB-44D5-A382-D2D38803737F}" sibTransId="{D1034894-A5C6-4196-B8B1-47ED14B4E7DA}"/>
    <dgm:cxn modelId="{6087FA29-2ADD-4F98-9D92-6A508ED198BC}" srcId="{7371BE76-E5E3-495E-8918-94447CA0A245}" destId="{3C2B21B7-FC51-4B7D-91EF-152089FADBAB}" srcOrd="7" destOrd="0" parTransId="{2A5C75DE-D5CF-4770-AD6D-E14F58BEE34F}" sibTransId="{B05941A4-8352-4C39-A886-5EFFC577A4A1}"/>
    <dgm:cxn modelId="{E3BC9D2F-34DC-4844-A266-E2A5238C6418}" type="presOf" srcId="{8F6776E0-BFFC-48BB-910A-93F2A487F96A}" destId="{DED66163-0896-4DAF-8302-9E80B3EE7CC3}" srcOrd="0" destOrd="0" presId="urn:microsoft.com/office/officeart/2016/7/layout/RepeatingBendingProcessNew"/>
    <dgm:cxn modelId="{0C90BB30-4F7B-4B9C-863C-0992B85E35F4}" type="presOf" srcId="{302B8A97-C736-418B-A1FD-CE3351A89AE7}" destId="{F118C0A4-CDB6-409E-8DF6-F002CF8143EC}" srcOrd="0" destOrd="0" presId="urn:microsoft.com/office/officeart/2016/7/layout/RepeatingBendingProcessNew"/>
    <dgm:cxn modelId="{6762E638-F77F-4D95-802F-CFB29754F050}" type="presOf" srcId="{070EB7D2-B0FF-4638-B9AF-AF302BB7C168}" destId="{24486862-8B72-481D-BD6F-019944B01B09}" srcOrd="0" destOrd="0" presId="urn:microsoft.com/office/officeart/2016/7/layout/RepeatingBendingProcessNew"/>
    <dgm:cxn modelId="{F24CE34D-FAAE-43BB-ABC9-0A1469610A4B}" srcId="{7371BE76-E5E3-495E-8918-94447CA0A245}" destId="{B681D000-3439-47ED-97A6-9DEF69577639}" srcOrd="6" destOrd="0" parTransId="{74275B59-144C-43ED-BC39-B8BECCB50CF8}" sibTransId="{59ADFF8A-D3E6-480E-8CE0-87DCDABF99E8}"/>
    <dgm:cxn modelId="{19A73352-8138-43EE-84F8-99993BF6E7D3}" srcId="{7371BE76-E5E3-495E-8918-94447CA0A245}" destId="{B0C9C85E-72FF-49A1-B302-C63A0C8FC25F}" srcOrd="2" destOrd="0" parTransId="{8671ADC0-15D2-49C5-886C-3FACB03E68B5}" sibTransId="{185AC366-AB4F-4E2B-A787-442B586F4F2F}"/>
    <dgm:cxn modelId="{AA1FF755-D5BC-4295-A237-33BD57FE5158}" type="presOf" srcId="{185AC366-AB4F-4E2B-A787-442B586F4F2F}" destId="{1676D500-3407-4775-B8D4-0B589B6A633B}" srcOrd="0" destOrd="0" presId="urn:microsoft.com/office/officeart/2016/7/layout/RepeatingBendingProcessNew"/>
    <dgm:cxn modelId="{FEDF9D62-B44F-4AA5-88C3-F4C1C7FBE2FF}" srcId="{7371BE76-E5E3-495E-8918-94447CA0A245}" destId="{070EB7D2-B0FF-4638-B9AF-AF302BB7C168}" srcOrd="0" destOrd="0" parTransId="{DDC6CEBD-E028-41B2-8A70-F2D4143FC811}" sibTransId="{302B8A97-C736-418B-A1FD-CE3351A89AE7}"/>
    <dgm:cxn modelId="{194CF462-2BA3-4594-8C1D-4B985B7C8E09}" type="presOf" srcId="{6F0D2EED-7A28-4A19-AD1D-0FE889F44A0B}" destId="{9B7F617D-DB8F-4CCD-B446-C935691119D1}" srcOrd="0" destOrd="0" presId="urn:microsoft.com/office/officeart/2016/7/layout/RepeatingBendingProcessNew"/>
    <dgm:cxn modelId="{FEDB7065-D08F-4932-B36C-101B3CA6C6E9}" type="presOf" srcId="{10881B5B-0AF0-45B9-8107-74C8839E931E}" destId="{CCCDA745-F379-4EA4-B443-903D2D7361AC}" srcOrd="0" destOrd="0" presId="urn:microsoft.com/office/officeart/2016/7/layout/RepeatingBendingProcessNew"/>
    <dgm:cxn modelId="{D2FDFE76-4E5D-4BD2-84F5-651AF1291B6B}" type="presOf" srcId="{D1034894-A5C6-4196-B8B1-47ED14B4E7DA}" destId="{2BA9B027-1487-4986-9542-011C268A9362}" srcOrd="0" destOrd="0" presId="urn:microsoft.com/office/officeart/2016/7/layout/RepeatingBendingProcessNew"/>
    <dgm:cxn modelId="{232E5177-8D04-424D-BB25-AB47D4036FF5}" type="presOf" srcId="{185AC366-AB4F-4E2B-A787-442B586F4F2F}" destId="{6C037529-2816-43D5-9E0F-00356BA0B2FD}" srcOrd="1" destOrd="0" presId="urn:microsoft.com/office/officeart/2016/7/layout/RepeatingBendingProcessNew"/>
    <dgm:cxn modelId="{7A98B97B-C13F-483B-8028-99FD30ED4DFA}" type="presOf" srcId="{302B8A97-C736-418B-A1FD-CE3351A89AE7}" destId="{B4710AE6-6B33-4F8B-B553-688DCB74F57C}" srcOrd="1" destOrd="0" presId="urn:microsoft.com/office/officeart/2016/7/layout/RepeatingBendingProcessNew"/>
    <dgm:cxn modelId="{604D757E-1713-4BD3-B789-C19FFA65749D}" type="presOf" srcId="{B681D000-3439-47ED-97A6-9DEF69577639}" destId="{0E9122EA-85B7-4733-858C-E80481AB5B42}" srcOrd="0" destOrd="0" presId="urn:microsoft.com/office/officeart/2016/7/layout/RepeatingBendingProcessNew"/>
    <dgm:cxn modelId="{582EB887-D261-4048-8FE8-C3901FD1DC36}" type="presOf" srcId="{D1034894-A5C6-4196-B8B1-47ED14B4E7DA}" destId="{68409E67-47A8-4671-A40E-A2E1F024E8E7}" srcOrd="1" destOrd="0" presId="urn:microsoft.com/office/officeart/2016/7/layout/RepeatingBendingProcessNew"/>
    <dgm:cxn modelId="{1081C988-4BEF-4F56-A5E2-E333538A662A}" type="presOf" srcId="{917F6BCF-53F3-4ABB-893A-711DDDA02674}" destId="{FFDE22AD-4DAC-4E98-8543-A1830F42F9D0}" srcOrd="0" destOrd="0" presId="urn:microsoft.com/office/officeart/2016/7/layout/RepeatingBendingProcessNew"/>
    <dgm:cxn modelId="{CFF9AF98-6BAD-4141-A9DA-06796329DBE0}" srcId="{7371BE76-E5E3-495E-8918-94447CA0A245}" destId="{B94BBFE3-607A-40B7-9C65-47A0870AA02B}" srcOrd="1" destOrd="0" parTransId="{0A4EF674-AFD7-4532-A6C7-F686D272CAB2}" sibTransId="{917F6BCF-53F3-4ABB-893A-711DDDA02674}"/>
    <dgm:cxn modelId="{D2344FA0-4928-49AF-9D61-CF02455169D7}" type="presOf" srcId="{59ADFF8A-D3E6-480E-8CE0-87DCDABF99E8}" destId="{7E73BBEF-9A18-4C1F-AB86-3CE02DB9B4A4}" srcOrd="0" destOrd="0" presId="urn:microsoft.com/office/officeart/2016/7/layout/RepeatingBendingProcessNew"/>
    <dgm:cxn modelId="{F2A725A3-011E-4263-9501-EC032F634730}" srcId="{7371BE76-E5E3-495E-8918-94447CA0A245}" destId="{A48BA986-6468-447E-842D-041D32B3F66F}" srcOrd="3" destOrd="0" parTransId="{CDF4D36E-BF42-4566-824D-9A595F606486}" sibTransId="{B8EDD083-F44C-41E6-BA44-258854AA85C7}"/>
    <dgm:cxn modelId="{A41AA8AA-9460-4D9A-9AE0-5620A11E5E9A}" srcId="{7371BE76-E5E3-495E-8918-94447CA0A245}" destId="{10881B5B-0AF0-45B9-8107-74C8839E931E}" srcOrd="5" destOrd="0" parTransId="{0CEB5599-5B54-4A46-AF79-03B68905038A}" sibTransId="{6F0D2EED-7A28-4A19-AD1D-0FE889F44A0B}"/>
    <dgm:cxn modelId="{644163BF-250D-4853-A561-BB352BC886A6}" type="presOf" srcId="{7371BE76-E5E3-495E-8918-94447CA0A245}" destId="{41805969-4587-47BD-B3C2-A05E04014D64}" srcOrd="0" destOrd="0" presId="urn:microsoft.com/office/officeart/2016/7/layout/RepeatingBendingProcessNew"/>
    <dgm:cxn modelId="{49E989D4-B76F-4D3F-A3B2-E1AF11AF473B}" type="presOf" srcId="{3C2B21B7-FC51-4B7D-91EF-152089FADBAB}" destId="{7670E739-0C93-4B89-9BC4-6CBB11C83F39}" srcOrd="0" destOrd="0" presId="urn:microsoft.com/office/officeart/2016/7/layout/RepeatingBendingProcessNew"/>
    <dgm:cxn modelId="{C941C2D5-FCC8-4AE5-9C90-113912F82F93}" type="presOf" srcId="{B8EDD083-F44C-41E6-BA44-258854AA85C7}" destId="{3DDA95C1-0014-41BE-859B-AC738EBCFF49}" srcOrd="0" destOrd="0" presId="urn:microsoft.com/office/officeart/2016/7/layout/RepeatingBendingProcessNew"/>
    <dgm:cxn modelId="{D30F06E0-16F7-48EB-AE3E-2405D9DEE14B}" type="presOf" srcId="{B94BBFE3-607A-40B7-9C65-47A0870AA02B}" destId="{D8C2E31A-7146-494A-A9FB-A2DE0634FD2A}" srcOrd="0" destOrd="0" presId="urn:microsoft.com/office/officeart/2016/7/layout/RepeatingBendingProcessNew"/>
    <dgm:cxn modelId="{40B6ECE3-B284-40E6-BC0D-C5A889400B1A}" type="presOf" srcId="{6F0D2EED-7A28-4A19-AD1D-0FE889F44A0B}" destId="{014365C2-9E8F-439D-97CF-CA8C6F4B0133}" srcOrd="1" destOrd="0" presId="urn:microsoft.com/office/officeart/2016/7/layout/RepeatingBendingProcessNew"/>
    <dgm:cxn modelId="{F1ED99F0-0F5E-41FF-A222-2851A7011A31}" type="presOf" srcId="{B0C9C85E-72FF-49A1-B302-C63A0C8FC25F}" destId="{50CCF83E-03C3-4E3B-AC6A-ABF26BAB2CC8}" srcOrd="0" destOrd="0" presId="urn:microsoft.com/office/officeart/2016/7/layout/RepeatingBendingProcessNew"/>
    <dgm:cxn modelId="{4EA9CFF4-495A-4DC1-BC15-32488C79EF7F}" type="presOf" srcId="{A48BA986-6468-447E-842D-041D32B3F66F}" destId="{4DFE5A2D-CFC4-40E9-A091-01DD3B7BE30E}" srcOrd="0" destOrd="0" presId="urn:microsoft.com/office/officeart/2016/7/layout/RepeatingBendingProcessNew"/>
    <dgm:cxn modelId="{14A5241B-17F6-4B84-A203-CD9B96DE7DDC}" type="presParOf" srcId="{41805969-4587-47BD-B3C2-A05E04014D64}" destId="{24486862-8B72-481D-BD6F-019944B01B09}" srcOrd="0" destOrd="0" presId="urn:microsoft.com/office/officeart/2016/7/layout/RepeatingBendingProcessNew"/>
    <dgm:cxn modelId="{9208E1CD-3C09-409D-ABB0-09145A59F937}" type="presParOf" srcId="{41805969-4587-47BD-B3C2-A05E04014D64}" destId="{F118C0A4-CDB6-409E-8DF6-F002CF8143EC}" srcOrd="1" destOrd="0" presId="urn:microsoft.com/office/officeart/2016/7/layout/RepeatingBendingProcessNew"/>
    <dgm:cxn modelId="{C7464603-20CB-4C4F-9134-033BDBE7D4F1}" type="presParOf" srcId="{F118C0A4-CDB6-409E-8DF6-F002CF8143EC}" destId="{B4710AE6-6B33-4F8B-B553-688DCB74F57C}" srcOrd="0" destOrd="0" presId="urn:microsoft.com/office/officeart/2016/7/layout/RepeatingBendingProcessNew"/>
    <dgm:cxn modelId="{EDB0B287-826A-4C12-BE10-4D314D3ECBBF}" type="presParOf" srcId="{41805969-4587-47BD-B3C2-A05E04014D64}" destId="{D8C2E31A-7146-494A-A9FB-A2DE0634FD2A}" srcOrd="2" destOrd="0" presId="urn:microsoft.com/office/officeart/2016/7/layout/RepeatingBendingProcessNew"/>
    <dgm:cxn modelId="{A750E520-820B-4B4A-82A5-BB75DA9C81DF}" type="presParOf" srcId="{41805969-4587-47BD-B3C2-A05E04014D64}" destId="{FFDE22AD-4DAC-4E98-8543-A1830F42F9D0}" srcOrd="3" destOrd="0" presId="urn:microsoft.com/office/officeart/2016/7/layout/RepeatingBendingProcessNew"/>
    <dgm:cxn modelId="{AC460703-DB51-43B0-964B-94BFE479612E}" type="presParOf" srcId="{FFDE22AD-4DAC-4E98-8543-A1830F42F9D0}" destId="{F51D916A-0739-4256-9E33-89C4DEFDCF2C}" srcOrd="0" destOrd="0" presId="urn:microsoft.com/office/officeart/2016/7/layout/RepeatingBendingProcessNew"/>
    <dgm:cxn modelId="{F0315099-C7F4-4612-BBEF-449D1DC8CBE2}" type="presParOf" srcId="{41805969-4587-47BD-B3C2-A05E04014D64}" destId="{50CCF83E-03C3-4E3B-AC6A-ABF26BAB2CC8}" srcOrd="4" destOrd="0" presId="urn:microsoft.com/office/officeart/2016/7/layout/RepeatingBendingProcessNew"/>
    <dgm:cxn modelId="{AB5EA13E-1D71-477C-810E-D019660D1DC0}" type="presParOf" srcId="{41805969-4587-47BD-B3C2-A05E04014D64}" destId="{1676D500-3407-4775-B8D4-0B589B6A633B}" srcOrd="5" destOrd="0" presId="urn:microsoft.com/office/officeart/2016/7/layout/RepeatingBendingProcessNew"/>
    <dgm:cxn modelId="{6632DFAF-1A27-4C89-9BE0-3F828E990126}" type="presParOf" srcId="{1676D500-3407-4775-B8D4-0B589B6A633B}" destId="{6C037529-2816-43D5-9E0F-00356BA0B2FD}" srcOrd="0" destOrd="0" presId="urn:microsoft.com/office/officeart/2016/7/layout/RepeatingBendingProcessNew"/>
    <dgm:cxn modelId="{D3FB0455-EEAF-4567-9ECA-D82C139233E8}" type="presParOf" srcId="{41805969-4587-47BD-B3C2-A05E04014D64}" destId="{4DFE5A2D-CFC4-40E9-A091-01DD3B7BE30E}" srcOrd="6" destOrd="0" presId="urn:microsoft.com/office/officeart/2016/7/layout/RepeatingBendingProcessNew"/>
    <dgm:cxn modelId="{C4356625-7E02-4675-BBD4-6273DC2A53CD}" type="presParOf" srcId="{41805969-4587-47BD-B3C2-A05E04014D64}" destId="{3DDA95C1-0014-41BE-859B-AC738EBCFF49}" srcOrd="7" destOrd="0" presId="urn:microsoft.com/office/officeart/2016/7/layout/RepeatingBendingProcessNew"/>
    <dgm:cxn modelId="{E23EC312-7364-4B55-9683-4CFFF87BB334}" type="presParOf" srcId="{3DDA95C1-0014-41BE-859B-AC738EBCFF49}" destId="{8F451400-2DDB-44DD-A2AA-387D7BCC0D30}" srcOrd="0" destOrd="0" presId="urn:microsoft.com/office/officeart/2016/7/layout/RepeatingBendingProcessNew"/>
    <dgm:cxn modelId="{03137ACC-8197-4418-A41B-282CC9488D5D}" type="presParOf" srcId="{41805969-4587-47BD-B3C2-A05E04014D64}" destId="{DED66163-0896-4DAF-8302-9E80B3EE7CC3}" srcOrd="8" destOrd="0" presId="urn:microsoft.com/office/officeart/2016/7/layout/RepeatingBendingProcessNew"/>
    <dgm:cxn modelId="{2A4EC9FA-7D65-4CD3-93DC-C0ECDC448BF6}" type="presParOf" srcId="{41805969-4587-47BD-B3C2-A05E04014D64}" destId="{2BA9B027-1487-4986-9542-011C268A9362}" srcOrd="9" destOrd="0" presId="urn:microsoft.com/office/officeart/2016/7/layout/RepeatingBendingProcessNew"/>
    <dgm:cxn modelId="{FAA1C861-A97C-4E84-8380-F6163EEB4CF7}" type="presParOf" srcId="{2BA9B027-1487-4986-9542-011C268A9362}" destId="{68409E67-47A8-4671-A40E-A2E1F024E8E7}" srcOrd="0" destOrd="0" presId="urn:microsoft.com/office/officeart/2016/7/layout/RepeatingBendingProcessNew"/>
    <dgm:cxn modelId="{9F80C3B1-8A60-4A63-99D8-28CC129E7231}" type="presParOf" srcId="{41805969-4587-47BD-B3C2-A05E04014D64}" destId="{CCCDA745-F379-4EA4-B443-903D2D7361AC}" srcOrd="10" destOrd="0" presId="urn:microsoft.com/office/officeart/2016/7/layout/RepeatingBendingProcessNew"/>
    <dgm:cxn modelId="{DE1740F5-4A2D-4907-AD45-BE0B202805DC}" type="presParOf" srcId="{41805969-4587-47BD-B3C2-A05E04014D64}" destId="{9B7F617D-DB8F-4CCD-B446-C935691119D1}" srcOrd="11" destOrd="0" presId="urn:microsoft.com/office/officeart/2016/7/layout/RepeatingBendingProcessNew"/>
    <dgm:cxn modelId="{A037C3D1-EB9F-4BCF-8613-55AB9C1023F1}" type="presParOf" srcId="{9B7F617D-DB8F-4CCD-B446-C935691119D1}" destId="{014365C2-9E8F-439D-97CF-CA8C6F4B0133}" srcOrd="0" destOrd="0" presId="urn:microsoft.com/office/officeart/2016/7/layout/RepeatingBendingProcessNew"/>
    <dgm:cxn modelId="{739578A9-1C64-4576-9E68-EBB88F9F5163}" type="presParOf" srcId="{41805969-4587-47BD-B3C2-A05E04014D64}" destId="{0E9122EA-85B7-4733-858C-E80481AB5B42}" srcOrd="12" destOrd="0" presId="urn:microsoft.com/office/officeart/2016/7/layout/RepeatingBendingProcessNew"/>
    <dgm:cxn modelId="{7360FA89-6FD6-4155-97D9-03A3CDCAAE49}" type="presParOf" srcId="{41805969-4587-47BD-B3C2-A05E04014D64}" destId="{7E73BBEF-9A18-4C1F-AB86-3CE02DB9B4A4}" srcOrd="13" destOrd="0" presId="urn:microsoft.com/office/officeart/2016/7/layout/RepeatingBendingProcessNew"/>
    <dgm:cxn modelId="{10EFA90A-822E-4939-995B-5248D07CDA2D}" type="presParOf" srcId="{7E73BBEF-9A18-4C1F-AB86-3CE02DB9B4A4}" destId="{A4E97108-D16B-481D-A492-88603F2AE0DE}" srcOrd="0" destOrd="0" presId="urn:microsoft.com/office/officeart/2016/7/layout/RepeatingBendingProcessNew"/>
    <dgm:cxn modelId="{E82D012A-6BE8-44E3-A1B3-6BF3DFA82889}" type="presParOf" srcId="{41805969-4587-47BD-B3C2-A05E04014D64}" destId="{7670E739-0C93-4B89-9BC4-6CBB11C83F39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8C0A4-CDB6-409E-8DF6-F002CF8143EC}">
      <dsp:nvSpPr>
        <dsp:cNvPr id="0" name=""/>
        <dsp:cNvSpPr/>
      </dsp:nvSpPr>
      <dsp:spPr>
        <a:xfrm>
          <a:off x="1800737" y="834254"/>
          <a:ext cx="380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039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0660" y="877919"/>
        <a:ext cx="20549" cy="4109"/>
      </dsp:txXfrm>
    </dsp:sp>
    <dsp:sp modelId="{24486862-8B72-481D-BD6F-019944B01B09}">
      <dsp:nvSpPr>
        <dsp:cNvPr id="0" name=""/>
        <dsp:cNvSpPr/>
      </dsp:nvSpPr>
      <dsp:spPr>
        <a:xfrm>
          <a:off x="15593" y="343891"/>
          <a:ext cx="1786943" cy="1072166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Introduction and Environment Setup</a:t>
          </a:r>
        </a:p>
      </dsp:txBody>
      <dsp:txXfrm>
        <a:off x="15593" y="343891"/>
        <a:ext cx="1786943" cy="1072166"/>
      </dsp:txXfrm>
    </dsp:sp>
    <dsp:sp modelId="{FFDE22AD-4DAC-4E98-8543-A1830F42F9D0}">
      <dsp:nvSpPr>
        <dsp:cNvPr id="0" name=""/>
        <dsp:cNvSpPr/>
      </dsp:nvSpPr>
      <dsp:spPr>
        <a:xfrm>
          <a:off x="3998678" y="834254"/>
          <a:ext cx="374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4297" y="45720"/>
              </a:lnTo>
            </a:path>
          </a:pathLst>
        </a:custGeom>
        <a:noFill/>
        <a:ln w="635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75704" y="877919"/>
        <a:ext cx="20244" cy="4109"/>
      </dsp:txXfrm>
    </dsp:sp>
    <dsp:sp modelId="{D8C2E31A-7146-494A-A9FB-A2DE0634FD2A}">
      <dsp:nvSpPr>
        <dsp:cNvPr id="0" name=""/>
        <dsp:cNvSpPr/>
      </dsp:nvSpPr>
      <dsp:spPr>
        <a:xfrm>
          <a:off x="2213534" y="343891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207909"/>
                <a:satOff val="-11990"/>
                <a:lumOff val="123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07909"/>
                <a:satOff val="-11990"/>
                <a:lumOff val="123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07909"/>
                <a:satOff val="-11990"/>
                <a:lumOff val="123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Univariate Analysis/Descriptive Analytics</a:t>
          </a:r>
        </a:p>
      </dsp:txBody>
      <dsp:txXfrm>
        <a:off x="2213534" y="343891"/>
        <a:ext cx="1786943" cy="1072166"/>
      </dsp:txXfrm>
    </dsp:sp>
    <dsp:sp modelId="{1676D500-3407-4775-B8D4-0B589B6A633B}">
      <dsp:nvSpPr>
        <dsp:cNvPr id="0" name=""/>
        <dsp:cNvSpPr/>
      </dsp:nvSpPr>
      <dsp:spPr>
        <a:xfrm>
          <a:off x="909065" y="1414257"/>
          <a:ext cx="4389781" cy="380397"/>
        </a:xfrm>
        <a:custGeom>
          <a:avLst/>
          <a:gdLst/>
          <a:ahLst/>
          <a:cxnLst/>
          <a:rect l="0" t="0" r="0" b="0"/>
          <a:pathLst>
            <a:path>
              <a:moveTo>
                <a:pt x="4389781" y="0"/>
              </a:moveTo>
              <a:lnTo>
                <a:pt x="4389781" y="207298"/>
              </a:lnTo>
              <a:lnTo>
                <a:pt x="0" y="207298"/>
              </a:lnTo>
              <a:lnTo>
                <a:pt x="0" y="380397"/>
              </a:lnTo>
            </a:path>
          </a:pathLst>
        </a:custGeom>
        <a:noFill/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3731" y="1602401"/>
        <a:ext cx="220448" cy="4109"/>
      </dsp:txXfrm>
    </dsp:sp>
    <dsp:sp modelId="{50CCF83E-03C3-4E3B-AC6A-ABF26BAB2CC8}">
      <dsp:nvSpPr>
        <dsp:cNvPr id="0" name=""/>
        <dsp:cNvSpPr/>
      </dsp:nvSpPr>
      <dsp:spPr>
        <a:xfrm>
          <a:off x="4405375" y="343891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415818"/>
                <a:satOff val="-23979"/>
                <a:lumOff val="24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15818"/>
                <a:satOff val="-23979"/>
                <a:lumOff val="24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15818"/>
                <a:satOff val="-23979"/>
                <a:lumOff val="24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Multivariate Analysis/Diagnostic Analytics</a:t>
          </a:r>
        </a:p>
      </dsp:txBody>
      <dsp:txXfrm>
        <a:off x="4405375" y="343891"/>
        <a:ext cx="1786943" cy="1072166"/>
      </dsp:txXfrm>
    </dsp:sp>
    <dsp:sp modelId="{3DDA95C1-0014-41BE-859B-AC738EBCFF49}">
      <dsp:nvSpPr>
        <dsp:cNvPr id="0" name=""/>
        <dsp:cNvSpPr/>
      </dsp:nvSpPr>
      <dsp:spPr>
        <a:xfrm>
          <a:off x="1800737" y="2317418"/>
          <a:ext cx="380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0397" y="45720"/>
              </a:lnTo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0660" y="2361083"/>
        <a:ext cx="20549" cy="4109"/>
      </dsp:txXfrm>
    </dsp:sp>
    <dsp:sp modelId="{4DFE5A2D-CFC4-40E9-A091-01DD3B7BE30E}">
      <dsp:nvSpPr>
        <dsp:cNvPr id="0" name=""/>
        <dsp:cNvSpPr/>
      </dsp:nvSpPr>
      <dsp:spPr>
        <a:xfrm>
          <a:off x="15593" y="1827054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623727"/>
                <a:satOff val="-35969"/>
                <a:lumOff val="369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23727"/>
                <a:satOff val="-35969"/>
                <a:lumOff val="369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23727"/>
                <a:satOff val="-35969"/>
                <a:lumOff val="369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Networks and Spatial Analytics/Descriptive + Diagnostic Analytics</a:t>
          </a:r>
        </a:p>
      </dsp:txBody>
      <dsp:txXfrm>
        <a:off x="15593" y="1827054"/>
        <a:ext cx="1786943" cy="1072166"/>
      </dsp:txXfrm>
    </dsp:sp>
    <dsp:sp modelId="{2BA9B027-1487-4986-9542-011C268A9362}">
      <dsp:nvSpPr>
        <dsp:cNvPr id="0" name=""/>
        <dsp:cNvSpPr/>
      </dsp:nvSpPr>
      <dsp:spPr>
        <a:xfrm>
          <a:off x="3998678" y="2317418"/>
          <a:ext cx="3695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9550" y="45720"/>
              </a:lnTo>
            </a:path>
          </a:pathLst>
        </a:custGeom>
        <a:noFill/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73449" y="2361083"/>
        <a:ext cx="20007" cy="4109"/>
      </dsp:txXfrm>
    </dsp:sp>
    <dsp:sp modelId="{DED66163-0896-4DAF-8302-9E80B3EE7CC3}">
      <dsp:nvSpPr>
        <dsp:cNvPr id="0" name=""/>
        <dsp:cNvSpPr/>
      </dsp:nvSpPr>
      <dsp:spPr>
        <a:xfrm>
          <a:off x="2213534" y="1827054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831636"/>
                <a:satOff val="-47959"/>
                <a:lumOff val="49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31636"/>
                <a:satOff val="-47959"/>
                <a:lumOff val="49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31636"/>
                <a:satOff val="-47959"/>
                <a:lumOff val="49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Time Series Analysis</a:t>
          </a:r>
        </a:p>
      </dsp:txBody>
      <dsp:txXfrm>
        <a:off x="2213534" y="1827054"/>
        <a:ext cx="1786943" cy="1072166"/>
      </dsp:txXfrm>
    </dsp:sp>
    <dsp:sp modelId="{9B7F617D-DB8F-4CCD-B446-C935691119D1}">
      <dsp:nvSpPr>
        <dsp:cNvPr id="0" name=""/>
        <dsp:cNvSpPr/>
      </dsp:nvSpPr>
      <dsp:spPr>
        <a:xfrm>
          <a:off x="898218" y="2897421"/>
          <a:ext cx="4395881" cy="380397"/>
        </a:xfrm>
        <a:custGeom>
          <a:avLst/>
          <a:gdLst/>
          <a:ahLst/>
          <a:cxnLst/>
          <a:rect l="0" t="0" r="0" b="0"/>
          <a:pathLst>
            <a:path>
              <a:moveTo>
                <a:pt x="4395881" y="0"/>
              </a:moveTo>
              <a:lnTo>
                <a:pt x="4395881" y="207298"/>
              </a:lnTo>
              <a:lnTo>
                <a:pt x="0" y="207298"/>
              </a:lnTo>
              <a:lnTo>
                <a:pt x="0" y="380397"/>
              </a:lnTo>
            </a:path>
          </a:pathLst>
        </a:custGeom>
        <a:noFill/>
        <a:ln w="635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5783" y="3085564"/>
        <a:ext cx="220752" cy="4109"/>
      </dsp:txXfrm>
    </dsp:sp>
    <dsp:sp modelId="{CCCDA745-F379-4EA4-B443-903D2D7361AC}">
      <dsp:nvSpPr>
        <dsp:cNvPr id="0" name=""/>
        <dsp:cNvSpPr/>
      </dsp:nvSpPr>
      <dsp:spPr>
        <a:xfrm>
          <a:off x="4400628" y="1827054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1039545"/>
                <a:satOff val="-59949"/>
                <a:lumOff val="61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39545"/>
                <a:satOff val="-59949"/>
                <a:lumOff val="61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39545"/>
                <a:satOff val="-59949"/>
                <a:lumOff val="61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Interactive Visual Analytics</a:t>
          </a:r>
        </a:p>
      </dsp:txBody>
      <dsp:txXfrm>
        <a:off x="4400628" y="1827054"/>
        <a:ext cx="1786943" cy="1072166"/>
      </dsp:txXfrm>
    </dsp:sp>
    <dsp:sp modelId="{7E73BBEF-9A18-4C1F-AB86-3CE02DB9B4A4}">
      <dsp:nvSpPr>
        <dsp:cNvPr id="0" name=""/>
        <dsp:cNvSpPr/>
      </dsp:nvSpPr>
      <dsp:spPr>
        <a:xfrm>
          <a:off x="1789890" y="3800581"/>
          <a:ext cx="380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0397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9814" y="3844246"/>
        <a:ext cx="20549" cy="4109"/>
      </dsp:txXfrm>
    </dsp:sp>
    <dsp:sp modelId="{0E9122EA-85B7-4733-858C-E80481AB5B42}">
      <dsp:nvSpPr>
        <dsp:cNvPr id="0" name=""/>
        <dsp:cNvSpPr/>
      </dsp:nvSpPr>
      <dsp:spPr>
        <a:xfrm>
          <a:off x="4747" y="3310218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1247454"/>
                <a:satOff val="-71938"/>
                <a:lumOff val="73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47454"/>
                <a:satOff val="-71938"/>
                <a:lumOff val="73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47454"/>
                <a:satOff val="-71938"/>
                <a:lumOff val="73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Storytelling + Prescriptive Analytics</a:t>
          </a:r>
        </a:p>
      </dsp:txBody>
      <dsp:txXfrm>
        <a:off x="4747" y="3310218"/>
        <a:ext cx="1786943" cy="1072166"/>
      </dsp:txXfrm>
    </dsp:sp>
    <dsp:sp modelId="{7670E739-0C93-4B89-9BC4-6CBB11C83F39}">
      <dsp:nvSpPr>
        <dsp:cNvPr id="0" name=""/>
        <dsp:cNvSpPr/>
      </dsp:nvSpPr>
      <dsp:spPr>
        <a:xfrm>
          <a:off x="2202687" y="3310218"/>
          <a:ext cx="1786943" cy="1072166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562" tIns="91911" rIns="87562" bIns="9191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Advanced Topics</a:t>
          </a:r>
        </a:p>
      </dsp:txBody>
      <dsp:txXfrm>
        <a:off x="2202687" y="3310218"/>
        <a:ext cx="1786943" cy="1072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2167A-84B9-B642-A771-8A7D52D7E3A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A15F8-E230-2748-9717-9FABC936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9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  <a:t>exchange traded funds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 (</a:t>
            </a:r>
            <a:r>
              <a:rPr lang="en-US" b="0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  <a:t>ETFs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)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A15F8-E230-2748-9717-9FABC9366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9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A15F8-E230-2748-9717-9FABC9366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82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A15F8-E230-2748-9717-9FABC9366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5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98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1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2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5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6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0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0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1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3B07F-4CD4-4317-8C4A-FB7719185DC8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5DAFC-158C-4D94-98A9-A33A23CF8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2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FF9C3F-042C-4258-ABF4-9A41C105F1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5000"/>
          </a:blip>
          <a:srcRect t="8537"/>
          <a:stretch/>
        </p:blipFill>
        <p:spPr>
          <a:xfrm>
            <a:off x="20" y="177431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07AD6C-4CB3-4DF9-9F2E-8BB724EB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Virtual Session </a:t>
            </a:r>
            <a:r>
              <a:rPr lang="en-US" sz="23900" dirty="0"/>
              <a:t>2</a:t>
            </a:r>
            <a:endParaRPr lang="en-US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282213-89C8-4113-B0E3-F0FE4A502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739772"/>
              </p:ext>
            </p:extLst>
          </p:nvPr>
        </p:nvGraphicFramePr>
        <p:xfrm>
          <a:off x="5155379" y="1065862"/>
          <a:ext cx="6192319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960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8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Digital financial graph">
            <a:extLst>
              <a:ext uri="{FF2B5EF4-FFF2-40B4-BE49-F238E27FC236}">
                <a16:creationId xmlns:a16="http://schemas.microsoft.com/office/drawing/2014/main" id="{01BFC4B5-CA93-4634-841C-CE691F9BCF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C0186-4825-447A-8285-7D7C8779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95" name="Straight Connector 91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B7EE-8226-47DB-AEA3-1B764683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Data explanation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Tableau topics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Univariate analysis assignment</a:t>
            </a: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385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8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Digital financial graph">
            <a:extLst>
              <a:ext uri="{FF2B5EF4-FFF2-40B4-BE49-F238E27FC236}">
                <a16:creationId xmlns:a16="http://schemas.microsoft.com/office/drawing/2014/main" id="{01BFC4B5-CA93-4634-841C-CE691F9BCF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C0186-4825-447A-8285-7D7C8779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95" name="Straight Connector 91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B7EE-8226-47DB-AEA3-1B764683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Data explanation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Tableau topics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Univariate analysis assignment</a:t>
            </a: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900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C2A4-C3B6-4847-B13C-FFD5BCB8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903BE-2DCD-461E-81F7-F5F0713E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SP500_sector_data.csv: </a:t>
            </a:r>
          </a:p>
          <a:p>
            <a:pPr lvl="1"/>
            <a:r>
              <a:rPr lang="en-US" dirty="0"/>
              <a:t>Flat file contains OHLC data for stock market sector ETF </a:t>
            </a:r>
            <a:r>
              <a:rPr lang="en-US"/>
              <a:t>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25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9E9E-425E-47E3-927E-31A7737E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 dirty="0"/>
              <a:t>Sectors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E9F4-6FBE-4FCD-B4AD-4EA529D8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 stock market sectors</a:t>
            </a:r>
          </a:p>
          <a:p>
            <a:r>
              <a:rPr lang="en-US" sz="2000" dirty="0"/>
              <a:t>ETF proxy for sectors as indices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B1D50C5-AB46-4FDD-A46F-D4798E5C9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6260" y="2742397"/>
            <a:ext cx="3884176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raphical user interface, chart, treemap chart&#10;&#10;Description automatically generated">
            <a:extLst>
              <a:ext uri="{FF2B5EF4-FFF2-40B4-BE49-F238E27FC236}">
                <a16:creationId xmlns:a16="http://schemas.microsoft.com/office/drawing/2014/main" id="{EFC88BF4-5362-45AF-A8E7-DB859A24A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6484" y="2927106"/>
            <a:ext cx="4974336" cy="29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26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885C-33E8-413E-8822-669770FA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 dirty="0"/>
              <a:t>Fields</a:t>
            </a:r>
          </a:p>
        </p:txBody>
      </p:sp>
      <p:sp>
        <p:nvSpPr>
          <p:cNvPr id="2056" name="Content Placeholder 2055">
            <a:extLst>
              <a:ext uri="{FF2B5EF4-FFF2-40B4-BE49-F238E27FC236}">
                <a16:creationId xmlns:a16="http://schemas.microsoft.com/office/drawing/2014/main" id="{F0718F23-AD73-43C3-A75D-DB1FD6AD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Symbol</a:t>
            </a:r>
          </a:p>
          <a:p>
            <a:r>
              <a:rPr lang="en-US" sz="2000" dirty="0"/>
              <a:t>Date (Trading day)</a:t>
            </a:r>
          </a:p>
          <a:p>
            <a:r>
              <a:rPr lang="en-US" sz="2000" dirty="0"/>
              <a:t>Open, High, Low, Close, Adjusted Close</a:t>
            </a:r>
          </a:p>
          <a:p>
            <a:r>
              <a:rPr lang="en-US" sz="2000" dirty="0"/>
              <a:t>Log Return (calculated from adjusted close)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EA028DC-43FF-45CF-87A9-11164926A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180" y="2920568"/>
            <a:ext cx="4974336" cy="293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OHLC (Open-High-Low-Close) – Tutorials for learning q/kdb+">
            <a:extLst>
              <a:ext uri="{FF2B5EF4-FFF2-40B4-BE49-F238E27FC236}">
                <a16:creationId xmlns:a16="http://schemas.microsoft.com/office/drawing/2014/main" id="{CE1CE96B-741C-4D8C-ACE9-2F331D807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6484" y="3373351"/>
            <a:ext cx="4974336" cy="202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45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63BA-12E5-B44A-A7A2-7F2702E5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returns?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3170-2D46-8843-9260-63FA4D777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  <a:p>
            <a:pPr lvl="1"/>
            <a:r>
              <a:rPr lang="en-US" dirty="0"/>
              <a:t>Required for comparative analysis</a:t>
            </a:r>
          </a:p>
          <a:p>
            <a:pPr lvl="1"/>
            <a:r>
              <a:rPr lang="en-US" dirty="0"/>
              <a:t>Required for multivariate analysis (next module)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4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2EE9-5B2E-CE46-95B5-8E22702A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log returns?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0B16-B488-1047-BC18-04314E6E0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returns:</a:t>
            </a:r>
          </a:p>
          <a:p>
            <a:pPr lvl="1"/>
            <a:r>
              <a:rPr lang="en-US" dirty="0"/>
              <a:t>Asymmetric range [-100%, ∞)</a:t>
            </a:r>
          </a:p>
          <a:p>
            <a:pPr lvl="1"/>
            <a:r>
              <a:rPr lang="en-US" dirty="0"/>
              <a:t>Easy to understand</a:t>
            </a:r>
          </a:p>
          <a:p>
            <a:r>
              <a:rPr lang="en-US" dirty="0"/>
              <a:t>Log returns:</a:t>
            </a:r>
          </a:p>
          <a:p>
            <a:pPr lvl="1"/>
            <a:r>
              <a:rPr lang="en-US" dirty="0"/>
              <a:t>Symmetric range (-∞, ∞) </a:t>
            </a:r>
          </a:p>
          <a:p>
            <a:pPr lvl="1"/>
            <a:r>
              <a:rPr lang="en-US" dirty="0"/>
              <a:t>For very short durations, log returns and simple returns are close to equal (approximate raw-log equality)</a:t>
            </a:r>
          </a:p>
          <a:p>
            <a:pPr lvl="1"/>
            <a:r>
              <a:rPr lang="en-US" dirty="0"/>
              <a:t>Easy to calculate aggregations over time periods (time-additivity)</a:t>
            </a:r>
          </a:p>
          <a:p>
            <a:pPr lvl="1"/>
            <a:r>
              <a:rPr lang="en-US" dirty="0"/>
              <a:t>Appear normally distributed which makes for easier modelling (sum of normally distributed variables is also normal)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75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A421-7D11-CA45-A873-7E628850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Reference: Simple vs Log Return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EFB64-C968-DE4D-B1D9-96C15818D3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Simple return: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Log return: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EFB64-C968-DE4D-B1D9-96C15818D3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32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5728-D534-4A72-A3B2-DBC64E9E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Reference: Total Log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DCCAD-AE8C-459B-AAF8-1C7C4D4AFB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Logarithmic rate of return (continuously compounded return):</a:t>
                </a:r>
              </a:p>
              <a:p>
                <a:r>
                  <a:rPr lang="en-US" b="0" dirty="0"/>
                  <a:t>One period return: </a:t>
                </a:r>
                <a:br>
                  <a:rPr lang="en-US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dirty="0"/>
              </a:p>
              <a:p>
                <a:r>
                  <a:rPr lang="en-US" b="0" dirty="0"/>
                  <a:t>Total return over periods 1 to n: 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DCCAD-AE8C-459B-AAF8-1C7C4D4AF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17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5728-D534-4A72-A3B2-DBC64E9E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Reference: Average Log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DCCAD-AE8C-459B-AAF8-1C7C4D4AFB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Average return</a:t>
                </a:r>
              </a:p>
              <a:p>
                <a:r>
                  <a:rPr lang="en-US" dirty="0"/>
                  <a:t>Arithmetic: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Geometric: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nary>
                            <m:naryPr>
                              <m:chr m:val="∏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−1 =</m:t>
                      </m:r>
                      <m:rad>
                        <m:ra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DCCAD-AE8C-459B-AAF8-1C7C4D4AF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8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99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5728-D534-4A72-A3B2-DBC64E9E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Reference: Log Returns to Simple Return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DCCAD-AE8C-459B-AAF8-1C7C4D4AFB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Converting log return to simple return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DCCAD-AE8C-459B-AAF8-1C7C4D4AF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52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8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Digital financial graph">
            <a:extLst>
              <a:ext uri="{FF2B5EF4-FFF2-40B4-BE49-F238E27FC236}">
                <a16:creationId xmlns:a16="http://schemas.microsoft.com/office/drawing/2014/main" id="{01BFC4B5-CA93-4634-841C-CE691F9BCF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C0186-4825-447A-8285-7D7C8779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95" name="Straight Connector 91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B7EE-8226-47DB-AEA3-1B764683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Data explanation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Tableau topics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Univariate analysis assignment</a:t>
            </a: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79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2083-D601-455D-A7BD-FF3E301A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8939-254D-4C8A-B912-058EAB4F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  <a:p>
            <a:r>
              <a:rPr lang="en-US" dirty="0"/>
              <a:t>Data Relationships</a:t>
            </a:r>
          </a:p>
          <a:p>
            <a:r>
              <a:rPr lang="en-US" dirty="0"/>
              <a:t>Visualization Parameters</a:t>
            </a:r>
          </a:p>
          <a:p>
            <a:pPr lvl="1"/>
            <a:r>
              <a:rPr lang="en-US" dirty="0"/>
              <a:t>Filters</a:t>
            </a:r>
          </a:p>
          <a:p>
            <a:pPr lvl="1"/>
            <a:r>
              <a:rPr lang="en-US" dirty="0"/>
              <a:t>Chart parameters</a:t>
            </a:r>
          </a:p>
          <a:p>
            <a:pPr lvl="1"/>
            <a:r>
              <a:rPr lang="en-US" dirty="0"/>
              <a:t>Formatting</a:t>
            </a:r>
          </a:p>
          <a:p>
            <a:pPr lvl="1"/>
            <a:r>
              <a:rPr lang="en-US" dirty="0"/>
              <a:t>Pages</a:t>
            </a:r>
          </a:p>
          <a:p>
            <a:pPr lvl="1"/>
            <a:r>
              <a:rPr lang="en-US" dirty="0"/>
              <a:t>Table calculations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168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8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Digital financial graph">
            <a:extLst>
              <a:ext uri="{FF2B5EF4-FFF2-40B4-BE49-F238E27FC236}">
                <a16:creationId xmlns:a16="http://schemas.microsoft.com/office/drawing/2014/main" id="{01BFC4B5-CA93-4634-841C-CE691F9BCF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C0186-4825-447A-8285-7D7C8779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95" name="Straight Connector 91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B7EE-8226-47DB-AEA3-1B764683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Data explanation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Tableau topics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Univariate analysis assignment</a:t>
            </a:r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2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30ED-51C3-48CC-8BA5-E6F394E3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 pre-analysis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9BE69-16B5-4585-825D-E067C9F02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the audience?</a:t>
            </a:r>
          </a:p>
          <a:p>
            <a:r>
              <a:rPr lang="en-US" dirty="0"/>
              <a:t>What are the assumptions?</a:t>
            </a:r>
          </a:p>
          <a:p>
            <a:r>
              <a:rPr lang="en-US" dirty="0"/>
              <a:t>What is the objective?</a:t>
            </a:r>
          </a:p>
        </p:txBody>
      </p:sp>
    </p:spTree>
    <p:extLst>
      <p:ext uri="{BB962C8B-B14F-4D97-AF65-F5344CB8AC3E}">
        <p14:creationId xmlns:p14="http://schemas.microsoft.com/office/powerpoint/2010/main" val="1037462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30ED-51C3-48CC-8BA5-E6F394E3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 pre-analysis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9BE69-16B5-4585-825D-E067C9F02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the audience?</a:t>
            </a:r>
          </a:p>
          <a:p>
            <a:pPr lvl="1"/>
            <a:r>
              <a:rPr lang="en-US" dirty="0"/>
              <a:t>Market analysts, reporters, economists, investment managers, quants, traders, or other? </a:t>
            </a:r>
          </a:p>
          <a:p>
            <a:r>
              <a:rPr lang="en-US" dirty="0"/>
              <a:t>What are the assumptions?</a:t>
            </a:r>
          </a:p>
          <a:p>
            <a:r>
              <a:rPr lang="en-US" dirty="0"/>
              <a:t>What is the objective?</a:t>
            </a:r>
          </a:p>
        </p:txBody>
      </p:sp>
    </p:spTree>
    <p:extLst>
      <p:ext uri="{BB962C8B-B14F-4D97-AF65-F5344CB8AC3E}">
        <p14:creationId xmlns:p14="http://schemas.microsoft.com/office/powerpoint/2010/main" val="235472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30ED-51C3-48CC-8BA5-E6F394E3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 pre-analysis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9BE69-16B5-4585-825D-E067C9F02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the audience?</a:t>
            </a:r>
          </a:p>
          <a:p>
            <a:r>
              <a:rPr lang="en-US" dirty="0"/>
              <a:t>What are the assumptions?</a:t>
            </a:r>
          </a:p>
          <a:p>
            <a:pPr lvl="1"/>
            <a:r>
              <a:rPr lang="en-US" dirty="0"/>
              <a:t>Clean, complete, and tidy data</a:t>
            </a:r>
          </a:p>
          <a:p>
            <a:pPr lvl="1"/>
            <a:r>
              <a:rPr lang="en-US" dirty="0"/>
              <a:t>Format</a:t>
            </a:r>
          </a:p>
          <a:p>
            <a:pPr lvl="1"/>
            <a:r>
              <a:rPr lang="en-US" dirty="0"/>
              <a:t>Frequency, granularity, date exceptions</a:t>
            </a:r>
          </a:p>
          <a:p>
            <a:pPr lvl="1"/>
            <a:r>
              <a:rPr lang="en-US" dirty="0"/>
              <a:t>Adjusted close and log returns are calculated correctly</a:t>
            </a:r>
          </a:p>
          <a:p>
            <a:r>
              <a:rPr lang="en-US" dirty="0"/>
              <a:t>What is the objective?</a:t>
            </a:r>
          </a:p>
        </p:txBody>
      </p:sp>
    </p:spTree>
    <p:extLst>
      <p:ext uri="{BB962C8B-B14F-4D97-AF65-F5344CB8AC3E}">
        <p14:creationId xmlns:p14="http://schemas.microsoft.com/office/powerpoint/2010/main" val="3613691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30ED-51C3-48CC-8BA5-E6F394E3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 pre-analysis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9BE69-16B5-4585-825D-E067C9F02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the audience?</a:t>
            </a:r>
          </a:p>
          <a:p>
            <a:r>
              <a:rPr lang="en-US" dirty="0"/>
              <a:t>What are the assumptions?</a:t>
            </a:r>
          </a:p>
          <a:p>
            <a:r>
              <a:rPr lang="en-US" dirty="0"/>
              <a:t>What is the objective?</a:t>
            </a:r>
          </a:p>
          <a:p>
            <a:pPr lvl="1"/>
            <a:r>
              <a:rPr lang="en-US" dirty="0"/>
              <a:t>Understand statistical properties</a:t>
            </a:r>
          </a:p>
          <a:p>
            <a:pPr lvl="1"/>
            <a:r>
              <a:rPr lang="en-US" dirty="0"/>
              <a:t>Hone feature space representation via transformations, data wrangling, etc.</a:t>
            </a:r>
          </a:p>
          <a:p>
            <a:pPr lvl="1"/>
            <a:r>
              <a:rPr lang="en-US" dirty="0"/>
              <a:t>Evaluate completeness of the dataset to capture ground truth</a:t>
            </a:r>
          </a:p>
          <a:p>
            <a:pPr lvl="1"/>
            <a:r>
              <a:rPr lang="en-US" dirty="0"/>
              <a:t>Consider potential modeling methods for diagnostic and predictive analysis</a:t>
            </a:r>
          </a:p>
        </p:txBody>
      </p:sp>
    </p:spTree>
    <p:extLst>
      <p:ext uri="{BB962C8B-B14F-4D97-AF65-F5344CB8AC3E}">
        <p14:creationId xmlns:p14="http://schemas.microsoft.com/office/powerpoint/2010/main" val="1164363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590-6417-4650-9CCA-B698E500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3E40-CF2E-4894-B7E5-D7522B3EC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Helvetica" panose="020B0604020202020204" pitchFamily="34" charset="0"/>
              </a:rPr>
              <a:t>Distribution </a:t>
            </a:r>
            <a:r>
              <a:rPr lang="en-US" sz="2000" b="0" i="0">
                <a:effectLst/>
                <a:latin typeface="Helvetica" panose="020B0604020202020204" pitchFamily="34" charset="0"/>
              </a:rPr>
              <a:t>of log returns</a:t>
            </a:r>
            <a:r>
              <a:rPr lang="en-US" sz="2000" b="0" i="0" dirty="0">
                <a:effectLst/>
                <a:latin typeface="Helvetica" panose="020B0604020202020204" pitchFamily="34" charset="0"/>
              </a:rPr>
              <a:t>. Create a filter that allows the user to view one or more distributions at the same time (e.g., one or more sectors and/or the SP500). This can be on the same graph or in faceted graphs. Add a page control to show how the distributions evolve year by year.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cal user interface, chart&#10;&#10;Description automatically generated with medium confidence">
            <a:extLst>
              <a:ext uri="{FF2B5EF4-FFF2-40B4-BE49-F238E27FC236}">
                <a16:creationId xmlns:a16="http://schemas.microsoft.com/office/drawing/2014/main" id="{CF4F027F-7B4F-4908-953E-610D639EF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966975"/>
            <a:ext cx="6019331" cy="492080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2013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24075-5535-446F-B5BB-1B0D26AC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B434-F492-4FA7-B16F-0801CA3E6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Bar graph rankings of the year-to-date sector returns (from start of 2022 to most recent data point) sorted from best to worst. Include the S&amp;P 500 index in the graph. </a:t>
            </a:r>
            <a:endParaRPr lang="en-US" sz="2000" b="0" i="0" dirty="0">
              <a:effectLst/>
              <a:latin typeface="Helvetica" panose="020B0604020202020204" pitchFamily="34" charset="0"/>
            </a:endParaRPr>
          </a:p>
          <a:p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timeline, bar chart&#10;&#10;Description automatically generated">
            <a:extLst>
              <a:ext uri="{FF2B5EF4-FFF2-40B4-BE49-F238E27FC236}">
                <a16:creationId xmlns:a16="http://schemas.microsoft.com/office/drawing/2014/main" id="{04FD6A67-F048-4E78-8A79-620C75B1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2246083"/>
            <a:ext cx="6019331" cy="236258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2567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7900-FEAC-4EA6-81E1-71EF218B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6210A-777A-4C98-874D-66097FD5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Heatmap table showing average returns grouped by month for all sectors and the S&amp;P 500. Use a dropdown to select the sector or index. Create a filter allowing the user to filter by years.</a:t>
            </a:r>
          </a:p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6C895769-F920-1245-809D-05F42E2FB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832" y="2354625"/>
            <a:ext cx="6091391" cy="214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67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93AD-5125-44EF-B2A4-8BC0B07D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38663-FCD5-4A80-8A35-5D8F7204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Heatmap table showing average standard deviation of returns grouped by month for any sectors and the S&amp;P 500 (use a dropdown to select the sector or index). Create a filter allowing the user to filter by years.</a:t>
            </a:r>
          </a:p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B90F3538-4F0F-C846-ACED-2B43834C4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605" y="2323124"/>
            <a:ext cx="6183845" cy="205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61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A6C6-B028-48E2-9115-949799F1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56F7-0CE5-4EB8-B916-990099D42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Create a proportions plot that expresses the percentage of trading volume by sector grouped by month (make sure to exclude the S&amp;P 500 index in the calculations). Create a filter allowing the user to filter by years.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47BA38F7-D3F2-F74C-A2AA-C51D6D6BC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2" y="1493667"/>
            <a:ext cx="6019331" cy="3867419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5E9099-0F8C-1670-C3A1-B501CEA2F95F}"/>
              </a:ext>
            </a:extLst>
          </p:cNvPr>
          <p:cNvSpPr txBox="1"/>
          <p:nvPr/>
        </p:nvSpPr>
        <p:spPr>
          <a:xfrm>
            <a:off x="481342" y="4899421"/>
            <a:ext cx="38406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generate the percentile bar chart: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 the total percentage.</a:t>
            </a:r>
          </a:p>
          <a:p>
            <a:pPr>
              <a:buFont typeface="+mj-lt"/>
              <a:buAutoNum type="arabicPeriod"/>
            </a:pPr>
            <a:r>
              <a:rPr lang="en-US" dirty="0"/>
              <a:t>Choose the table option (dropdown).</a:t>
            </a:r>
          </a:p>
        </p:txBody>
      </p:sp>
    </p:spTree>
    <p:extLst>
      <p:ext uri="{BB962C8B-B14F-4D97-AF65-F5344CB8AC3E}">
        <p14:creationId xmlns:p14="http://schemas.microsoft.com/office/powerpoint/2010/main" val="3325703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590-6417-4650-9CCA-B698E500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3E40-CF2E-4894-B7E5-D7522B3EC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Helvetica" panose="020B0604020202020204" pitchFamily="34" charset="0"/>
              </a:rPr>
              <a:t>Distribution of returns. Create a filter that allows the user to view one or more distributions at the same time (e.g., one or more sectors and/or the SP500). This can be on the same graph or in faceted graphs. Add a page control to show how the distributions evolve year by year.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C97E9-A572-467D-820B-96AC1E82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80804"/>
            <a:ext cx="6019331" cy="409314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89785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24075-5535-446F-B5BB-1B0D26AC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B434-F492-4FA7-B16F-0801CA3E6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Bar graph rankings of the year-to-date sector returns (from start of 2022 to most recent data point) sorted from best to worst. Include the S&amp;P 500 index in the graph. </a:t>
            </a:r>
            <a:endParaRPr lang="en-US" sz="2000" b="0" i="0" dirty="0">
              <a:effectLst/>
              <a:latin typeface="Helvetica" panose="020B0604020202020204" pitchFamily="34" charset="0"/>
            </a:endParaRPr>
          </a:p>
          <a:p>
            <a:endParaRPr lang="en-US" sz="2000" dirty="0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DDBB9B4D-86C9-4D03-B9E2-171187A6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2637340"/>
            <a:ext cx="6019331" cy="158007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96845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7900-FEAC-4EA6-81E1-71EF218B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6210A-777A-4C98-874D-66097FD5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Heatmap table showing average returns grouped by month for all sectors and the S&amp;P 500. Use a dropdown to select the sector or index. Create a filter allowing the user to filter by years.</a:t>
            </a:r>
          </a:p>
          <a:p>
            <a:endParaRPr lang="en-US" sz="200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6C895769-F920-1245-809D-05F42E2FB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2" y="2366470"/>
            <a:ext cx="6019331" cy="212181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87487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93AD-5125-44EF-B2A4-8BC0B07D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38663-FCD5-4A80-8A35-5D8F7204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Heatmap table showing average standard deviation of returns grouped by month for any sectors and the S&amp;P 500 (use a dropdown to select the sector or index). Create a filter allowing the user to filter by years.</a:t>
            </a:r>
          </a:p>
          <a:p>
            <a:endParaRPr lang="en-US" sz="200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B90F3538-4F0F-C846-ACED-2B43834C4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2" y="2426664"/>
            <a:ext cx="6019331" cy="20014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80726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A6C6-B028-48E2-9115-949799F1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56F7-0CE5-4EB8-B916-990099D42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Create a proportions plot that expresses the percentage of trading volume by sector grouped by month (make sure to exclude the S&amp;P 500 index in the calculations). Create a filter allowing the user to filter by years.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47BA38F7-D3F2-F74C-A2AA-C51D6D6BC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2" y="1493667"/>
            <a:ext cx="6019331" cy="386741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63580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11192</TotalTime>
  <Words>980</Words>
  <Application>Microsoft Macintosh PowerPoint</Application>
  <PresentationFormat>Widescreen</PresentationFormat>
  <Paragraphs>129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Helvetica</vt:lpstr>
      <vt:lpstr>Roboto</vt:lpstr>
      <vt:lpstr>Office Theme</vt:lpstr>
      <vt:lpstr>Virtual Session 2</vt:lpstr>
      <vt:lpstr>Agenda</vt:lpstr>
      <vt:lpstr>Agenda</vt:lpstr>
      <vt:lpstr>Data</vt:lpstr>
      <vt:lpstr>Sectors</vt:lpstr>
      <vt:lpstr>Fields</vt:lpstr>
      <vt:lpstr>Why use returns?</vt:lpstr>
      <vt:lpstr>Why use log returns?</vt:lpstr>
      <vt:lpstr>Reference: Simple vs Log Return</vt:lpstr>
      <vt:lpstr>Reference: Total Log Returns</vt:lpstr>
      <vt:lpstr>Reference: Average Log Returns</vt:lpstr>
      <vt:lpstr>Reference: Log Returns to Simple Return</vt:lpstr>
      <vt:lpstr>Agenda</vt:lpstr>
      <vt:lpstr>Tableau Topics</vt:lpstr>
      <vt:lpstr>Agenda</vt:lpstr>
      <vt:lpstr>Questions to ask pre-analysis</vt:lpstr>
      <vt:lpstr>Questions to ask pre-analysis</vt:lpstr>
      <vt:lpstr>Questions to ask pre-analysis</vt:lpstr>
      <vt:lpstr>Questions to ask pre-analysis</vt:lpstr>
      <vt:lpstr>Question 1</vt:lpstr>
      <vt:lpstr>Question 2</vt:lpstr>
      <vt:lpstr>Question 3</vt:lpstr>
      <vt:lpstr>Question 4</vt:lpstr>
      <vt:lpstr>Question 5</vt:lpstr>
      <vt:lpstr>Question 1</vt:lpstr>
      <vt:lpstr>Question 2</vt:lpstr>
      <vt:lpstr>Question 3</vt:lpstr>
      <vt:lpstr>Question 4</vt:lpstr>
      <vt:lpstr>Question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Visualization</dc:title>
  <dc:creator>James Yang</dc:creator>
  <cp:lastModifiedBy>Yu Zhang</cp:lastModifiedBy>
  <cp:revision>193</cp:revision>
  <dcterms:created xsi:type="dcterms:W3CDTF">2021-04-13T18:02:33Z</dcterms:created>
  <dcterms:modified xsi:type="dcterms:W3CDTF">2026-07-23T15:49:15Z</dcterms:modified>
</cp:coreProperties>
</file>